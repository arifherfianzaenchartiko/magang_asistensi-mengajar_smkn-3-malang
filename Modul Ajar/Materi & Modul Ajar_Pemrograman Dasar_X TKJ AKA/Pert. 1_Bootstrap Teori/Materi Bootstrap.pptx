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3"/>
    <p:sldId id="304" r:id="rId4"/>
    <p:sldId id="303" r:id="rId5"/>
    <p:sldId id="276" r:id="rId6"/>
    <p:sldId id="306" r:id="rId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Arial Rounded MT Bold" panose="020F0704030504030204" pitchFamily="34" charset="0"/>
      <p:regular r:id="rId10"/>
    </p:embeddedFont>
    <p:embeddedFont>
      <p:font typeface="Bahiana" panose="020B0604020202020204" charset="0"/>
      <p:regular r:id="rId11"/>
    </p:embeddedFont>
    <p:embeddedFont>
      <p:font typeface="Barlow" panose="00000500000000000000" pitchFamily="2" charset="0"/>
      <p:regular r:id="rId12"/>
      <p:bold r:id="rId13"/>
      <p:italic r:id="rId14"/>
      <p:boldItalic r:id="rId15"/>
    </p:embeddedFont>
    <p:embeddedFont>
      <p:font typeface="Fira Sans Extra Condensed Medium" panose="020B0604020202020204" charset="0"/>
      <p:regular r:id="rId16"/>
      <p:bold r:id="rId17"/>
      <p:italic r:id="rId18"/>
      <p:boldItalic r:id="rId19"/>
    </p:embeddedFont>
    <p:embeddedFont>
      <p:font typeface="Squada One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1591-AA42-4992-983C-6A254B0969B9}">
  <a:tblStyle styleId="{08AA1591-AA42-4992-983C-6A254B0969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8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81019570e5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81019570e5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96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2347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81019570e5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81019570e5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55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600" y="0"/>
            <a:ext cx="9138638" cy="5143500"/>
            <a:chOff x="2600" y="0"/>
            <a:chExt cx="9138638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2325975" y="325725"/>
              <a:ext cx="4491900" cy="4491900"/>
            </a:xfrm>
            <a:prstGeom prst="ellipse">
              <a:avLst/>
            </a:pr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600" y="0"/>
              <a:ext cx="9138638" cy="5143500"/>
              <a:chOff x="0" y="0"/>
              <a:chExt cx="9138638" cy="51435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5744400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0" y="0"/>
                <a:ext cx="4590109" cy="2185646"/>
              </a:xfrm>
              <a:custGeom>
                <a:avLst/>
                <a:gdLst/>
                <a:ahLst/>
                <a:cxnLst/>
                <a:rect l="l" t="t" r="r" b="b"/>
                <a:pathLst>
                  <a:path w="147426" h="70199" extrusionOk="0">
                    <a:moveTo>
                      <a:pt x="10785" y="1"/>
                    </a:moveTo>
                    <a:lnTo>
                      <a:pt x="1" y="12836"/>
                    </a:lnTo>
                    <a:lnTo>
                      <a:pt x="1" y="46342"/>
                    </a:lnTo>
                    <a:lnTo>
                      <a:pt x="133677" y="70027"/>
                    </a:lnTo>
                    <a:cubicBezTo>
                      <a:pt x="134325" y="70141"/>
                      <a:pt x="134974" y="70198"/>
                      <a:pt x="135619" y="70198"/>
                    </a:cubicBezTo>
                    <a:cubicBezTo>
                      <a:pt x="136144" y="70198"/>
                      <a:pt x="136671" y="70159"/>
                      <a:pt x="137192" y="70084"/>
                    </a:cubicBezTo>
                    <a:cubicBezTo>
                      <a:pt x="139859" y="69705"/>
                      <a:pt x="142342" y="68359"/>
                      <a:pt x="144128" y="66232"/>
                    </a:cubicBezTo>
                    <a:cubicBezTo>
                      <a:pt x="146687" y="63190"/>
                      <a:pt x="147426" y="59020"/>
                      <a:pt x="146071" y="55287"/>
                    </a:cubicBezTo>
                    <a:lnTo>
                      <a:pt x="125996" y="1"/>
                    </a:lnTo>
                    <a:lnTo>
                      <a:pt x="102340" y="1"/>
                    </a:lnTo>
                    <a:lnTo>
                      <a:pt x="118596" y="44769"/>
                    </a:lnTo>
                    <a:lnTo>
                      <a:pt x="17289" y="26822"/>
                    </a:lnTo>
                    <a:lnTo>
                      <a:pt x="39832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8357563" y="268825"/>
                <a:ext cx="781075" cy="995825"/>
              </a:xfrm>
              <a:custGeom>
                <a:avLst/>
                <a:gdLst/>
                <a:ahLst/>
                <a:cxnLst/>
                <a:rect l="l" t="t" r="r" b="b"/>
                <a:pathLst>
                  <a:path w="31243" h="39833" extrusionOk="0">
                    <a:moveTo>
                      <a:pt x="1" y="1"/>
                    </a:moveTo>
                    <a:lnTo>
                      <a:pt x="1" y="7491"/>
                    </a:lnTo>
                    <a:lnTo>
                      <a:pt x="21885" y="22311"/>
                    </a:lnTo>
                    <a:lnTo>
                      <a:pt x="1" y="32938"/>
                    </a:lnTo>
                    <a:lnTo>
                      <a:pt x="1" y="39832"/>
                    </a:lnTo>
                    <a:lnTo>
                      <a:pt x="29423" y="25547"/>
                    </a:lnTo>
                    <a:cubicBezTo>
                      <a:pt x="29727" y="25400"/>
                      <a:pt x="29996" y="25210"/>
                      <a:pt x="30229" y="24983"/>
                    </a:cubicBezTo>
                    <a:cubicBezTo>
                      <a:pt x="30769" y="24462"/>
                      <a:pt x="31110" y="23751"/>
                      <a:pt x="31167" y="22979"/>
                    </a:cubicBezTo>
                    <a:cubicBezTo>
                      <a:pt x="31242" y="21871"/>
                      <a:pt x="30726" y="20810"/>
                      <a:pt x="29812" y="2018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oogle Shape;16;p2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17" name="Google Shape;17;p2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2249525" y="1626825"/>
            <a:ext cx="4644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ctrTitle"/>
          </p:nvPr>
        </p:nvSpPr>
        <p:spPr>
          <a:xfrm>
            <a:off x="1891125" y="718225"/>
            <a:ext cx="5361600" cy="105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30" name="Google Shape;30;p3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" name="Google Shape;34;p3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3"/>
          <p:cNvGrpSpPr/>
          <p:nvPr/>
        </p:nvGrpSpPr>
        <p:grpSpPr>
          <a:xfrm>
            <a:off x="-12" y="-12"/>
            <a:ext cx="7545763" cy="5143513"/>
            <a:chOff x="-12" y="-12"/>
            <a:chExt cx="7545763" cy="5143513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5048975" y="0"/>
              <a:ext cx="2496775" cy="5143500"/>
              <a:chOff x="5046375" y="0"/>
              <a:chExt cx="2496775" cy="51435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046375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43;p3"/>
            <p:cNvSpPr/>
            <p:nvPr/>
          </p:nvSpPr>
          <p:spPr>
            <a:xfrm rot="-5400000">
              <a:off x="-332850" y="332825"/>
              <a:ext cx="3645950" cy="2980275"/>
            </a:xfrm>
            <a:custGeom>
              <a:avLst/>
              <a:gdLst/>
              <a:ahLst/>
              <a:cxnLst/>
              <a:rect l="l" t="t" r="r" b="b"/>
              <a:pathLst>
                <a:path w="145838" h="119211" extrusionOk="0">
                  <a:moveTo>
                    <a:pt x="0" y="1"/>
                  </a:moveTo>
                  <a:cubicBezTo>
                    <a:pt x="1292" y="31275"/>
                    <a:pt x="14076" y="60489"/>
                    <a:pt x="36342" y="82756"/>
                  </a:cubicBezTo>
                  <a:cubicBezTo>
                    <a:pt x="59851" y="106264"/>
                    <a:pt x="91108" y="119211"/>
                    <a:pt x="124355" y="119211"/>
                  </a:cubicBezTo>
                  <a:cubicBezTo>
                    <a:pt x="131628" y="119211"/>
                    <a:pt x="138812" y="118589"/>
                    <a:pt x="145838" y="117374"/>
                  </a:cubicBezTo>
                  <a:lnTo>
                    <a:pt x="145838" y="96140"/>
                  </a:lnTo>
                  <a:cubicBezTo>
                    <a:pt x="138849" y="97606"/>
                    <a:pt x="131661" y="98365"/>
                    <a:pt x="124355" y="98365"/>
                  </a:cubicBezTo>
                  <a:cubicBezTo>
                    <a:pt x="96676" y="98365"/>
                    <a:pt x="70653" y="87588"/>
                    <a:pt x="51080" y="68014"/>
                  </a:cubicBezTo>
                  <a:cubicBezTo>
                    <a:pt x="32752" y="49686"/>
                    <a:pt x="22137" y="25703"/>
                    <a:pt x="20861" y="1"/>
                  </a:cubicBezTo>
                  <a:close/>
                </a:path>
              </a:pathLst>
            </a:cu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725275" y="172320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subTitle" idx="1"/>
          </p:nvPr>
        </p:nvSpPr>
        <p:spPr>
          <a:xfrm>
            <a:off x="725275" y="3795910"/>
            <a:ext cx="60441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725275" y="952809"/>
            <a:ext cx="1176600" cy="85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9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133" name="Google Shape;133;p9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9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" name="Google Shape;140;p9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9"/>
          <p:cNvSpPr txBox="1">
            <a:spLocks noGrp="1"/>
          </p:cNvSpPr>
          <p:nvPr>
            <p:ph type="title"/>
          </p:nvPr>
        </p:nvSpPr>
        <p:spPr>
          <a:xfrm flipH="1">
            <a:off x="4555625" y="172320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60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subTitle" idx="1"/>
          </p:nvPr>
        </p:nvSpPr>
        <p:spPr>
          <a:xfrm flipH="1">
            <a:off x="2374625" y="3795910"/>
            <a:ext cx="60441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1600">
                <a:solidFill>
                  <a:srgbClr val="FFFFFF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242125" y="952809"/>
            <a:ext cx="1176600" cy="85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ong list">
  <p:cSld name="CUSTOM_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4"/>
          <p:cNvGrpSpPr/>
          <p:nvPr/>
        </p:nvGrpSpPr>
        <p:grpSpPr>
          <a:xfrm>
            <a:off x="2600" y="0"/>
            <a:ext cx="9141388" cy="5143500"/>
            <a:chOff x="2600" y="0"/>
            <a:chExt cx="9141388" cy="5143500"/>
          </a:xfrm>
        </p:grpSpPr>
        <p:sp>
          <p:nvSpPr>
            <p:cNvPr id="221" name="Google Shape;221;p14"/>
            <p:cNvSpPr/>
            <p:nvPr/>
          </p:nvSpPr>
          <p:spPr>
            <a:xfrm rot="5400000">
              <a:off x="5830875" y="1830375"/>
              <a:ext cx="3645950" cy="2980275"/>
            </a:xfrm>
            <a:custGeom>
              <a:avLst/>
              <a:gdLst/>
              <a:ahLst/>
              <a:cxnLst/>
              <a:rect l="l" t="t" r="r" b="b"/>
              <a:pathLst>
                <a:path w="145838" h="119211" extrusionOk="0">
                  <a:moveTo>
                    <a:pt x="0" y="1"/>
                  </a:moveTo>
                  <a:cubicBezTo>
                    <a:pt x="1292" y="31275"/>
                    <a:pt x="14076" y="60489"/>
                    <a:pt x="36342" y="82756"/>
                  </a:cubicBezTo>
                  <a:cubicBezTo>
                    <a:pt x="59851" y="106264"/>
                    <a:pt x="91108" y="119211"/>
                    <a:pt x="124355" y="119211"/>
                  </a:cubicBezTo>
                  <a:cubicBezTo>
                    <a:pt x="131628" y="119211"/>
                    <a:pt x="138812" y="118589"/>
                    <a:pt x="145838" y="117374"/>
                  </a:cubicBezTo>
                  <a:lnTo>
                    <a:pt x="145838" y="96140"/>
                  </a:lnTo>
                  <a:cubicBezTo>
                    <a:pt x="138849" y="97606"/>
                    <a:pt x="131661" y="98365"/>
                    <a:pt x="124355" y="98365"/>
                  </a:cubicBezTo>
                  <a:cubicBezTo>
                    <a:pt x="96676" y="98365"/>
                    <a:pt x="70653" y="87588"/>
                    <a:pt x="51080" y="68014"/>
                  </a:cubicBezTo>
                  <a:cubicBezTo>
                    <a:pt x="32752" y="49686"/>
                    <a:pt x="22137" y="25703"/>
                    <a:pt x="20861" y="1"/>
                  </a:cubicBezTo>
                  <a:close/>
                </a:path>
              </a:pathLst>
            </a:cu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222;p14"/>
            <p:cNvGrpSpPr/>
            <p:nvPr/>
          </p:nvGrpSpPr>
          <p:grpSpPr>
            <a:xfrm flipH="1">
              <a:off x="2600" y="0"/>
              <a:ext cx="3394238" cy="5143500"/>
              <a:chOff x="5744400" y="0"/>
              <a:chExt cx="3394238" cy="5143500"/>
            </a:xfrm>
          </p:grpSpPr>
          <p:sp>
            <p:nvSpPr>
              <p:cNvPr id="223" name="Google Shape;223;p14"/>
              <p:cNvSpPr/>
              <p:nvPr/>
            </p:nvSpPr>
            <p:spPr>
              <a:xfrm>
                <a:off x="5744400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 rot="10800000">
                <a:off x="8357563" y="268825"/>
                <a:ext cx="781075" cy="995825"/>
              </a:xfrm>
              <a:custGeom>
                <a:avLst/>
                <a:gdLst/>
                <a:ahLst/>
                <a:cxnLst/>
                <a:rect l="l" t="t" r="r" b="b"/>
                <a:pathLst>
                  <a:path w="31243" h="39833" extrusionOk="0">
                    <a:moveTo>
                      <a:pt x="1" y="1"/>
                    </a:moveTo>
                    <a:lnTo>
                      <a:pt x="1" y="7491"/>
                    </a:lnTo>
                    <a:lnTo>
                      <a:pt x="21885" y="22311"/>
                    </a:lnTo>
                    <a:lnTo>
                      <a:pt x="1" y="32938"/>
                    </a:lnTo>
                    <a:lnTo>
                      <a:pt x="1" y="39832"/>
                    </a:lnTo>
                    <a:lnTo>
                      <a:pt x="29423" y="25547"/>
                    </a:lnTo>
                    <a:cubicBezTo>
                      <a:pt x="29727" y="25400"/>
                      <a:pt x="29996" y="25210"/>
                      <a:pt x="30229" y="24983"/>
                    </a:cubicBezTo>
                    <a:cubicBezTo>
                      <a:pt x="30769" y="24462"/>
                      <a:pt x="31110" y="23751"/>
                      <a:pt x="31167" y="22979"/>
                    </a:cubicBezTo>
                    <a:cubicBezTo>
                      <a:pt x="31242" y="21871"/>
                      <a:pt x="30726" y="20810"/>
                      <a:pt x="29812" y="2018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6" name="Google Shape;226;p14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227" name="Google Shape;227;p14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14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232" name="Google Shape;232;p14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" name="Google Shape;234;p14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4"/>
          <p:cNvSpPr txBox="1">
            <a:spLocks noGrp="1"/>
          </p:cNvSpPr>
          <p:nvPr>
            <p:ph type="ctrTitle"/>
          </p:nvPr>
        </p:nvSpPr>
        <p:spPr>
          <a:xfrm>
            <a:off x="720050" y="349067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4"/>
          <p:cNvSpPr txBox="1">
            <a:spLocks noGrp="1"/>
          </p:cNvSpPr>
          <p:nvPr>
            <p:ph type="body" idx="1"/>
          </p:nvPr>
        </p:nvSpPr>
        <p:spPr>
          <a:xfrm>
            <a:off x="720050" y="1371600"/>
            <a:ext cx="77037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200"/>
            </a:lvl1pPr>
            <a:lvl2pPr marL="914400" lvl="1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2pPr>
            <a:lvl3pPr marL="1371600" lvl="2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romanLcPeriod"/>
              <a:defRPr/>
            </a:lvl3pPr>
            <a:lvl4pPr marL="1828800" lvl="3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rabicPeriod"/>
              <a:defRPr/>
            </a:lvl4pPr>
            <a:lvl5pPr marL="2286000" lvl="4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5pPr>
            <a:lvl6pPr marL="2743200" lvl="5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romanLcPeriod"/>
              <a:defRPr/>
            </a:lvl6pPr>
            <a:lvl7pPr marL="3200400" lvl="6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rabicPeriod"/>
              <a:defRPr/>
            </a:lvl7pPr>
            <a:lvl8pPr marL="3657600" lvl="7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8pPr>
            <a:lvl9pPr marL="4114800" lvl="8" indent="-2984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Muli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6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443" name="Google Shape;443;p26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26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448" name="Google Shape;448;p26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0" name="Google Shape;450;p26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60" r:id="rId4"/>
    <p:sldLayoutId id="2147483672" r:id="rId5"/>
    <p:sldLayoutId id="214748367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0"/>
          <p:cNvPicPr preferRelativeResize="0"/>
          <p:nvPr/>
        </p:nvPicPr>
        <p:blipFill rotWithShape="1">
          <a:blip r:embed="rId3">
            <a:alphaModFix/>
          </a:blip>
          <a:srcRect t="14712"/>
          <a:stretch/>
        </p:blipFill>
        <p:spPr>
          <a:xfrm>
            <a:off x="0" y="1265856"/>
            <a:ext cx="9144005" cy="4386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0"/>
          <p:cNvSpPr txBox="1">
            <a:spLocks noGrp="1"/>
          </p:cNvSpPr>
          <p:nvPr>
            <p:ph type="subTitle" idx="1"/>
          </p:nvPr>
        </p:nvSpPr>
        <p:spPr>
          <a:xfrm>
            <a:off x="318232" y="4397959"/>
            <a:ext cx="7500352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Arial Black" panose="020B0A04020102020204" pitchFamily="34" charset="0"/>
              </a:rPr>
              <a:t>OLEH : ARIF HERFIAN ZAEN CHARTIKO - 210533616009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463" name="Google Shape;463;p30"/>
          <p:cNvSpPr txBox="1">
            <a:spLocks noGrp="1"/>
          </p:cNvSpPr>
          <p:nvPr>
            <p:ph type="ctrTitle"/>
          </p:nvPr>
        </p:nvSpPr>
        <p:spPr>
          <a:xfrm>
            <a:off x="1104161" y="1819511"/>
            <a:ext cx="6935525" cy="10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latin typeface="Arial Black" panose="020B0A04020102020204" pitchFamily="34" charset="0"/>
              </a:rPr>
              <a:t>BOOTSTRAP</a:t>
            </a:r>
            <a:endParaRPr sz="6000" dirty="0">
              <a:latin typeface="Arial Black" panose="020B0A04020102020204" pitchFamily="34" charset="0"/>
            </a:endParaRPr>
          </a:p>
        </p:txBody>
      </p:sp>
      <p:grpSp>
        <p:nvGrpSpPr>
          <p:cNvPr id="464" name="Google Shape;464;p30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465" name="Google Shape;465;p30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9" name="Google Shape;469;p30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470" name="Google Shape;470;p30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30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2" name="Google Shape;472;p30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Google Shape;850;p50">
            <a:extLst>
              <a:ext uri="{FF2B5EF4-FFF2-40B4-BE49-F238E27FC236}">
                <a16:creationId xmlns:a16="http://schemas.microsoft.com/office/drawing/2014/main" id="{B24920D9-235A-6DC3-3DBA-27DA562385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6302" r="28050"/>
          <a:stretch/>
        </p:blipFill>
        <p:spPr>
          <a:xfrm rot="20383293" flipH="1">
            <a:off x="117356" y="-127736"/>
            <a:ext cx="1198022" cy="1462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C99BB40A-6C24-69D2-67E6-BEE2CC875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20383293" flipH="1">
            <a:off x="140616" y="3424780"/>
            <a:ext cx="2711086" cy="33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8B16721F-3E42-0613-D324-9030AEE118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/>
          <p:cNvSpPr txBox="1">
            <a:spLocks noGrp="1"/>
          </p:cNvSpPr>
          <p:nvPr>
            <p:ph type="body" idx="1"/>
          </p:nvPr>
        </p:nvSpPr>
        <p:spPr>
          <a:xfrm>
            <a:off x="720050" y="1690592"/>
            <a:ext cx="7703700" cy="1905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Bootstrap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adalah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sebuah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1" dirty="0">
                <a:solidFill>
                  <a:srgbClr val="ECECEC"/>
                </a:solidFill>
                <a:effectLst/>
                <a:latin typeface="Söhne"/>
              </a:rPr>
              <a:t>framework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CSS yang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dirancang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untuk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membantu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pengembang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dalam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membuat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aplikasi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dan situs web yang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responsif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dan mobile-first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dengan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cepat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mudah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Sebagai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sebuah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1" dirty="0">
                <a:solidFill>
                  <a:srgbClr val="ECECEC"/>
                </a:solidFill>
                <a:effectLst/>
                <a:latin typeface="Söhne"/>
              </a:rPr>
              <a:t>framework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front-end, Bootstrap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menyediakan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serangkaian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alat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yang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mencakup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template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desain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berbasis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HTML dan CSS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untuk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tipografi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formulir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tombol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navigasi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komponen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antarmuka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lainnya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serta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ekstensi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JavaScript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opsional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  <a:endParaRPr sz="1800" dirty="0">
              <a:latin typeface="Arial Rounded MT Bold" panose="020F0704030504030204" pitchFamily="34" charset="0"/>
            </a:endParaRPr>
          </a:p>
        </p:txBody>
      </p:sp>
      <p:sp>
        <p:nvSpPr>
          <p:cNvPr id="479" name="Google Shape;479;p31"/>
          <p:cNvSpPr txBox="1">
            <a:spLocks noGrp="1"/>
          </p:cNvSpPr>
          <p:nvPr>
            <p:ph type="ctrTitle"/>
          </p:nvPr>
        </p:nvSpPr>
        <p:spPr>
          <a:xfrm>
            <a:off x="720050" y="843339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Squada One" panose="020B0604020202020204" charset="0"/>
              </a:rPr>
              <a:t>APASI</a:t>
            </a:r>
            <a:r>
              <a:rPr lang="en-US" sz="4400" dirty="0">
                <a:solidFill>
                  <a:schemeClr val="tx2"/>
                </a:solidFill>
                <a:latin typeface="Squada One" panose="020B0604020202020204" charset="0"/>
              </a:rPr>
              <a:t> BOOTSTRAP 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/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18379263" flipH="1">
            <a:off x="2618865" y="-5155219"/>
            <a:ext cx="9096517" cy="11103608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 txBox="1">
            <a:spLocks noGrp="1"/>
          </p:cNvSpPr>
          <p:nvPr>
            <p:ph type="title"/>
          </p:nvPr>
        </p:nvSpPr>
        <p:spPr>
          <a:xfrm>
            <a:off x="502438" y="193385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KEUNTUNGAN </a:t>
            </a:r>
            <a:r>
              <a:rPr lang="en" dirty="0">
                <a:solidFill>
                  <a:schemeClr val="lt2"/>
                </a:solidFill>
              </a:rPr>
              <a:t>BOOTSTRAP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" name="Google Shape;478;p31">
            <a:extLst>
              <a:ext uri="{FF2B5EF4-FFF2-40B4-BE49-F238E27FC236}">
                <a16:creationId xmlns:a16="http://schemas.microsoft.com/office/drawing/2014/main" id="{9ACAA221-E274-9279-0D88-F637BC79E8F0}"/>
              </a:ext>
            </a:extLst>
          </p:cNvPr>
          <p:cNvSpPr txBox="1">
            <a:spLocks/>
          </p:cNvSpPr>
          <p:nvPr/>
        </p:nvSpPr>
        <p:spPr>
          <a:xfrm>
            <a:off x="1339188" y="2144170"/>
            <a:ext cx="4947312" cy="247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Desain </a:t>
            </a:r>
            <a:r>
              <a:rPr lang="en-US" sz="3000" b="1" i="0" dirty="0" err="1">
                <a:solidFill>
                  <a:srgbClr val="ECECEC"/>
                </a:solidFill>
                <a:effectLst/>
                <a:latin typeface="Söhne"/>
              </a:rPr>
              <a:t>Responsif</a:t>
            </a:r>
            <a:endParaRPr lang="en-US" sz="3000" b="1" i="0" dirty="0">
              <a:solidFill>
                <a:srgbClr val="ECECEC"/>
              </a:solidFill>
              <a:effectLst/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i="0" dirty="0">
              <a:solidFill>
                <a:srgbClr val="ECECEC"/>
              </a:solidFill>
              <a:effectLst/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Customizable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solidFill>
                <a:srgbClr val="ECECEC"/>
              </a:solidFill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 err="1">
                <a:solidFill>
                  <a:srgbClr val="ECECEC"/>
                </a:solidFill>
                <a:latin typeface="Söhne"/>
              </a:rPr>
              <a:t>Komunitas</a:t>
            </a:r>
            <a:r>
              <a:rPr lang="en-US" sz="3000" b="1" dirty="0">
                <a:solidFill>
                  <a:srgbClr val="ECECEC"/>
                </a:solidFill>
                <a:latin typeface="Söhne"/>
              </a:rPr>
              <a:t> </a:t>
            </a:r>
            <a:r>
              <a:rPr lang="en-US" sz="3000" b="1" dirty="0" err="1">
                <a:solidFill>
                  <a:srgbClr val="ECECEC"/>
                </a:solidFill>
                <a:latin typeface="Söhne"/>
              </a:rPr>
              <a:t>Besar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697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/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18379263" flipH="1">
            <a:off x="-3845070" y="-5040919"/>
            <a:ext cx="9096517" cy="11103608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 txBox="1">
            <a:spLocks noGrp="1"/>
          </p:cNvSpPr>
          <p:nvPr>
            <p:ph type="title"/>
          </p:nvPr>
        </p:nvSpPr>
        <p:spPr>
          <a:xfrm>
            <a:off x="3652038" y="38495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TOOLS </a:t>
            </a:r>
            <a:br>
              <a:rPr lang="en" dirty="0"/>
            </a:br>
            <a:r>
              <a:rPr lang="en" dirty="0">
                <a:solidFill>
                  <a:schemeClr val="lt2"/>
                </a:solidFill>
              </a:rPr>
              <a:t>DASAR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" name="Google Shape;478;p31">
            <a:extLst>
              <a:ext uri="{FF2B5EF4-FFF2-40B4-BE49-F238E27FC236}">
                <a16:creationId xmlns:a16="http://schemas.microsoft.com/office/drawing/2014/main" id="{9ACAA221-E274-9279-0D88-F637BC79E8F0}"/>
              </a:ext>
            </a:extLst>
          </p:cNvPr>
          <p:cNvSpPr txBox="1">
            <a:spLocks/>
          </p:cNvSpPr>
          <p:nvPr/>
        </p:nvSpPr>
        <p:spPr>
          <a:xfrm>
            <a:off x="1137139" y="2903537"/>
            <a:ext cx="3366587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3000" b="1" i="0" dirty="0" err="1">
                <a:solidFill>
                  <a:srgbClr val="ECECEC"/>
                </a:solidFill>
                <a:effectLst/>
                <a:latin typeface="Söhne"/>
              </a:rPr>
              <a:t>Sistem</a:t>
            </a: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 Grid</a:t>
            </a:r>
          </a:p>
          <a:p>
            <a:pPr marL="0" indent="0">
              <a:buClr>
                <a:schemeClr val="dk1"/>
              </a:buClr>
              <a:buSzPts val="1100"/>
            </a:pPr>
            <a:r>
              <a:rPr lang="en-US" sz="3000" b="1" i="0" dirty="0" err="1">
                <a:solidFill>
                  <a:srgbClr val="ECECEC"/>
                </a:solidFill>
                <a:effectLst/>
                <a:latin typeface="Söhne"/>
              </a:rPr>
              <a:t>Komponen</a:t>
            </a: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 UI</a:t>
            </a:r>
          </a:p>
          <a:p>
            <a:pPr marL="0" indent="0">
              <a:buClr>
                <a:schemeClr val="dk1"/>
              </a:buClr>
              <a:buSzPts val="1100"/>
            </a:pP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Utilities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dirty="0">
              <a:latin typeface="Arial Rounded MT Bold" panose="020F0704030504030204" pitchFamily="34" charset="0"/>
            </a:endParaRPr>
          </a:p>
        </p:txBody>
      </p:sp>
      <p:sp>
        <p:nvSpPr>
          <p:cNvPr id="2" name="Google Shape;478;p31">
            <a:extLst>
              <a:ext uri="{FF2B5EF4-FFF2-40B4-BE49-F238E27FC236}">
                <a16:creationId xmlns:a16="http://schemas.microsoft.com/office/drawing/2014/main" id="{1472A4F9-B1C4-6F07-3F64-C3F1C22209E3}"/>
              </a:ext>
            </a:extLst>
          </p:cNvPr>
          <p:cNvSpPr txBox="1">
            <a:spLocks/>
          </p:cNvSpPr>
          <p:nvPr/>
        </p:nvSpPr>
        <p:spPr>
          <a:xfrm>
            <a:off x="4640276" y="3070224"/>
            <a:ext cx="3863100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3000" b="1" i="0" dirty="0" err="1">
                <a:solidFill>
                  <a:srgbClr val="ECECEC"/>
                </a:solidFill>
                <a:effectLst/>
                <a:latin typeface="Söhne"/>
              </a:rPr>
              <a:t>Sistem</a:t>
            </a: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 Customization</a:t>
            </a:r>
          </a:p>
          <a:p>
            <a:pPr marL="0" indent="0">
              <a:buClr>
                <a:schemeClr val="dk1"/>
              </a:buClr>
              <a:buSzPts val="1100"/>
            </a:pPr>
            <a:r>
              <a:rPr lang="en-US" sz="3000" b="1" i="0" dirty="0">
                <a:solidFill>
                  <a:srgbClr val="ECECEC"/>
                </a:solidFill>
                <a:effectLst/>
                <a:latin typeface="Söhne"/>
              </a:rPr>
              <a:t>Responsive Utilities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189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/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15916128" flipH="1">
            <a:off x="-2976244" y="2962499"/>
            <a:ext cx="4603857" cy="561967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 txBox="1">
            <a:spLocks noGrp="1"/>
          </p:cNvSpPr>
          <p:nvPr>
            <p:ph type="title"/>
          </p:nvPr>
        </p:nvSpPr>
        <p:spPr>
          <a:xfrm>
            <a:off x="2751929" y="692579"/>
            <a:ext cx="3858938" cy="935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KOMPONEN </a:t>
            </a:r>
            <a:r>
              <a:rPr lang="en" dirty="0">
                <a:solidFill>
                  <a:schemeClr val="lt2"/>
                </a:solidFill>
              </a:rPr>
              <a:t>UI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" name="Google Shape;478;p31">
            <a:extLst>
              <a:ext uri="{FF2B5EF4-FFF2-40B4-BE49-F238E27FC236}">
                <a16:creationId xmlns:a16="http://schemas.microsoft.com/office/drawing/2014/main" id="{9ACAA221-E274-9279-0D88-F637BC79E8F0}"/>
              </a:ext>
            </a:extLst>
          </p:cNvPr>
          <p:cNvSpPr txBox="1">
            <a:spLocks/>
          </p:cNvSpPr>
          <p:nvPr/>
        </p:nvSpPr>
        <p:spPr>
          <a:xfrm>
            <a:off x="1646906" y="2036917"/>
            <a:ext cx="2925094" cy="241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latin typeface="Arial Rounded MT Bold" panose="020F0704030504030204" pitchFamily="34" charset="0"/>
              </a:rPr>
              <a:t>BUTTON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latin typeface="Arial Rounded MT Bold" panose="020F0704030504030204" pitchFamily="34" charset="0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latin typeface="Arial Rounded MT Bold" panose="020F0704030504030204" pitchFamily="34" charset="0"/>
              </a:rPr>
              <a:t>CARD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latin typeface="Arial Rounded MT Bold" panose="020F0704030504030204" pitchFamily="34" charset="0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latin typeface="Arial Rounded MT Bold" panose="020F0704030504030204" pitchFamily="34" charset="0"/>
              </a:rPr>
              <a:t>NAVIGATION</a:t>
            </a:r>
          </a:p>
        </p:txBody>
      </p:sp>
      <p:sp>
        <p:nvSpPr>
          <p:cNvPr id="2" name="Google Shape;478;p31">
            <a:extLst>
              <a:ext uri="{FF2B5EF4-FFF2-40B4-BE49-F238E27FC236}">
                <a16:creationId xmlns:a16="http://schemas.microsoft.com/office/drawing/2014/main" id="{466141B6-D9A5-3508-08A8-A1E373992CA1}"/>
              </a:ext>
            </a:extLst>
          </p:cNvPr>
          <p:cNvSpPr txBox="1">
            <a:spLocks/>
          </p:cNvSpPr>
          <p:nvPr/>
        </p:nvSpPr>
        <p:spPr>
          <a:xfrm>
            <a:off x="5333338" y="2364873"/>
            <a:ext cx="2925094" cy="93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latin typeface="Arial Rounded MT Bold" panose="020F0704030504030204" pitchFamily="34" charset="0"/>
              </a:rPr>
              <a:t>FORM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latin typeface="Arial Rounded MT Bold" panose="020F0704030504030204" pitchFamily="34" charset="0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latin typeface="Arial Rounded MT Bold" panose="020F0704030504030204" pitchFamily="34" charset="0"/>
              </a:rPr>
              <a:t>MODAL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43"/>
          <p:cNvGrpSpPr/>
          <p:nvPr/>
        </p:nvGrpSpPr>
        <p:grpSpPr>
          <a:xfrm>
            <a:off x="-1115885" y="-1327341"/>
            <a:ext cx="10835817" cy="7361836"/>
            <a:chOff x="-2354410" y="-1327341"/>
            <a:chExt cx="10835817" cy="7361836"/>
          </a:xfrm>
        </p:grpSpPr>
        <p:sp>
          <p:nvSpPr>
            <p:cNvPr id="698" name="Google Shape;698;p43"/>
            <p:cNvSpPr/>
            <p:nvPr/>
          </p:nvSpPr>
          <p:spPr>
            <a:xfrm rot="-1528096">
              <a:off x="5544546" y="3013188"/>
              <a:ext cx="2496710" cy="2611382"/>
            </a:xfrm>
            <a:custGeom>
              <a:avLst/>
              <a:gdLst/>
              <a:ahLst/>
              <a:cxnLst/>
              <a:rect l="l" t="t" r="r" b="b"/>
              <a:pathLst>
                <a:path w="99871" h="104458" extrusionOk="0">
                  <a:moveTo>
                    <a:pt x="20710" y="20753"/>
                  </a:moveTo>
                  <a:lnTo>
                    <a:pt x="77504" y="59211"/>
                  </a:lnTo>
                  <a:lnTo>
                    <a:pt x="15797" y="89169"/>
                  </a:lnTo>
                  <a:lnTo>
                    <a:pt x="20710" y="20753"/>
                  </a:lnTo>
                  <a:close/>
                  <a:moveTo>
                    <a:pt x="14233" y="1"/>
                  </a:moveTo>
                  <a:cubicBezTo>
                    <a:pt x="13129" y="1"/>
                    <a:pt x="12021" y="248"/>
                    <a:pt x="10997" y="750"/>
                  </a:cubicBezTo>
                  <a:cubicBezTo>
                    <a:pt x="8609" y="1905"/>
                    <a:pt x="7027" y="4241"/>
                    <a:pt x="6838" y="6885"/>
                  </a:cubicBezTo>
                  <a:lnTo>
                    <a:pt x="90" y="100914"/>
                  </a:lnTo>
                  <a:cubicBezTo>
                    <a:pt x="0" y="102151"/>
                    <a:pt x="228" y="103363"/>
                    <a:pt x="716" y="104458"/>
                  </a:cubicBezTo>
                  <a:lnTo>
                    <a:pt x="18242" y="104458"/>
                  </a:lnTo>
                  <a:lnTo>
                    <a:pt x="95527" y="66938"/>
                  </a:lnTo>
                  <a:cubicBezTo>
                    <a:pt x="96242" y="66593"/>
                    <a:pt x="96892" y="66138"/>
                    <a:pt x="97445" y="65598"/>
                  </a:cubicBezTo>
                  <a:cubicBezTo>
                    <a:pt x="98734" y="64347"/>
                    <a:pt x="99549" y="62650"/>
                    <a:pt x="99682" y="60803"/>
                  </a:cubicBezTo>
                  <a:cubicBezTo>
                    <a:pt x="99871" y="58159"/>
                    <a:pt x="98639" y="55620"/>
                    <a:pt x="96446" y="54137"/>
                  </a:cubicBezTo>
                  <a:lnTo>
                    <a:pt x="18388" y="1280"/>
                  </a:lnTo>
                  <a:cubicBezTo>
                    <a:pt x="17142" y="432"/>
                    <a:pt x="15688" y="1"/>
                    <a:pt x="14233" y="1"/>
                  </a:cubicBez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/>
            <p:cNvSpPr/>
            <p:nvPr/>
          </p:nvSpPr>
          <p:spPr>
            <a:xfrm rot="-1236723">
              <a:off x="-2116626" y="-589399"/>
              <a:ext cx="4589808" cy="2185503"/>
            </a:xfrm>
            <a:custGeom>
              <a:avLst/>
              <a:gdLst/>
              <a:ahLst/>
              <a:cxnLst/>
              <a:rect l="l" t="t" r="r" b="b"/>
              <a:pathLst>
                <a:path w="147426" h="70199" extrusionOk="0">
                  <a:moveTo>
                    <a:pt x="10785" y="1"/>
                  </a:moveTo>
                  <a:lnTo>
                    <a:pt x="1" y="12836"/>
                  </a:lnTo>
                  <a:lnTo>
                    <a:pt x="1" y="46342"/>
                  </a:lnTo>
                  <a:lnTo>
                    <a:pt x="133677" y="70027"/>
                  </a:lnTo>
                  <a:cubicBezTo>
                    <a:pt x="134325" y="70141"/>
                    <a:pt x="134974" y="70198"/>
                    <a:pt x="135619" y="70198"/>
                  </a:cubicBezTo>
                  <a:cubicBezTo>
                    <a:pt x="136144" y="70198"/>
                    <a:pt x="136671" y="70159"/>
                    <a:pt x="137192" y="70084"/>
                  </a:cubicBezTo>
                  <a:cubicBezTo>
                    <a:pt x="139859" y="69705"/>
                    <a:pt x="142342" y="68359"/>
                    <a:pt x="144128" y="66232"/>
                  </a:cubicBezTo>
                  <a:cubicBezTo>
                    <a:pt x="146687" y="63190"/>
                    <a:pt x="147426" y="59020"/>
                    <a:pt x="146071" y="55287"/>
                  </a:cubicBezTo>
                  <a:lnTo>
                    <a:pt x="125996" y="1"/>
                  </a:lnTo>
                  <a:lnTo>
                    <a:pt x="102340" y="1"/>
                  </a:lnTo>
                  <a:lnTo>
                    <a:pt x="118596" y="44769"/>
                  </a:lnTo>
                  <a:lnTo>
                    <a:pt x="17289" y="26822"/>
                  </a:lnTo>
                  <a:lnTo>
                    <a:pt x="39832" y="1"/>
                  </a:ln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>
              <a:off x="6583675" y="0"/>
              <a:ext cx="959475" cy="574975"/>
            </a:xfrm>
            <a:custGeom>
              <a:avLst/>
              <a:gdLst/>
              <a:ahLst/>
              <a:cxnLst/>
              <a:rect l="l" t="t" r="r" b="b"/>
              <a:pathLst>
                <a:path w="38379" h="22999" extrusionOk="0">
                  <a:moveTo>
                    <a:pt x="1" y="1"/>
                  </a:moveTo>
                  <a:lnTo>
                    <a:pt x="28154" y="21999"/>
                  </a:lnTo>
                  <a:cubicBezTo>
                    <a:pt x="28552" y="22312"/>
                    <a:pt x="28992" y="22554"/>
                    <a:pt x="29458" y="22719"/>
                  </a:cubicBezTo>
                  <a:cubicBezTo>
                    <a:pt x="29969" y="22904"/>
                    <a:pt x="30509" y="22998"/>
                    <a:pt x="31054" y="22998"/>
                  </a:cubicBezTo>
                  <a:cubicBezTo>
                    <a:pt x="31651" y="22998"/>
                    <a:pt x="32248" y="22885"/>
                    <a:pt x="32817" y="22657"/>
                  </a:cubicBezTo>
                  <a:cubicBezTo>
                    <a:pt x="34375" y="22023"/>
                    <a:pt x="35484" y="20610"/>
                    <a:pt x="35716" y="18943"/>
                  </a:cubicBezTo>
                  <a:lnTo>
                    <a:pt x="38378" y="1"/>
                  </a:lnTo>
                  <a:lnTo>
                    <a:pt x="28865" y="1"/>
                  </a:lnTo>
                  <a:lnTo>
                    <a:pt x="27524" y="9552"/>
                  </a:lnTo>
                  <a:lnTo>
                    <a:pt x="15301" y="1"/>
                  </a:ln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4" name="Google Shape;704;p43"/>
          <p:cNvSpPr/>
          <p:nvPr/>
        </p:nvSpPr>
        <p:spPr>
          <a:xfrm>
            <a:off x="3847567" y="4061536"/>
            <a:ext cx="708055" cy="134873"/>
          </a:xfrm>
          <a:custGeom>
            <a:avLst/>
            <a:gdLst/>
            <a:ahLst/>
            <a:cxnLst/>
            <a:rect l="l" t="t" r="r" b="b"/>
            <a:pathLst>
              <a:path w="20637" h="3931" extrusionOk="0">
                <a:moveTo>
                  <a:pt x="20636" y="3931"/>
                </a:move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5" name="Google Shape;705;p43"/>
          <p:cNvPicPr preferRelativeResize="0"/>
          <p:nvPr/>
        </p:nvPicPr>
        <p:blipFill rotWithShape="1">
          <a:blip r:embed="rId3">
            <a:alphaModFix/>
          </a:blip>
          <a:srcRect l="24651" t="16548" r="24646"/>
          <a:stretch/>
        </p:blipFill>
        <p:spPr>
          <a:xfrm>
            <a:off x="-161291" y="144722"/>
            <a:ext cx="5224866" cy="5049788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>
            <a:spLocks noGrp="1"/>
          </p:cNvSpPr>
          <p:nvPr>
            <p:ph type="title"/>
          </p:nvPr>
        </p:nvSpPr>
        <p:spPr>
          <a:xfrm flipH="1">
            <a:off x="4201594" y="2302464"/>
            <a:ext cx="5371058" cy="9356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TERIMA </a:t>
            </a:r>
            <a:r>
              <a:rPr lang="en" dirty="0">
                <a:solidFill>
                  <a:schemeClr val="lt2"/>
                </a:solidFill>
              </a:rPr>
              <a:t>KASIH</a:t>
            </a:r>
            <a:endParaRPr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900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ek Pride Day by Slidesgo">
  <a:themeElements>
    <a:clrScheme name="Simple Light">
      <a:dk1>
        <a:srgbClr val="6E3DCF"/>
      </a:dk1>
      <a:lt1>
        <a:srgbClr val="2EE6C4"/>
      </a:lt1>
      <a:dk2>
        <a:srgbClr val="FF0098"/>
      </a:dk2>
      <a:lt2>
        <a:srgbClr val="2D0066"/>
      </a:lt2>
      <a:accent1>
        <a:srgbClr val="20124D"/>
      </a:accent1>
      <a:accent2>
        <a:srgbClr val="FFFFFF"/>
      </a:accent2>
      <a:accent3>
        <a:srgbClr val="20124D"/>
      </a:accent3>
      <a:accent4>
        <a:srgbClr val="6E3DCF"/>
      </a:accent4>
      <a:accent5>
        <a:srgbClr val="2EE6C4"/>
      </a:accent5>
      <a:accent6>
        <a:srgbClr val="FF009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101</Words>
  <Application>Microsoft Office PowerPoint</Application>
  <PresentationFormat>On-screen Show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Fira Sans Extra Condensed Medium</vt:lpstr>
      <vt:lpstr>Arial Black</vt:lpstr>
      <vt:lpstr>Barlow</vt:lpstr>
      <vt:lpstr>Arial</vt:lpstr>
      <vt:lpstr>Squada One</vt:lpstr>
      <vt:lpstr>Muli</vt:lpstr>
      <vt:lpstr>Bahiana</vt:lpstr>
      <vt:lpstr>Söhne</vt:lpstr>
      <vt:lpstr>Arial Rounded MT Bold</vt:lpstr>
      <vt:lpstr>Geek Pride Day by Slidesgo</vt:lpstr>
      <vt:lpstr>BOOTSTRAP</vt:lpstr>
      <vt:lpstr>APASI BOOTSTRAP ?</vt:lpstr>
      <vt:lpstr>KEUNTUNGAN BOOTSTRAP</vt:lpstr>
      <vt:lpstr>TOOLS  DASAR</vt:lpstr>
      <vt:lpstr>KOMPONEN UI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Pengaruh Penggunaan Game Edukasi sebagai Pendukung Pembelajaran Pemrograman: Studi Eksperimental pada Mahasiswa Pendidikan Teknik Informatika</dc:title>
  <cp:lastModifiedBy>arif herfian</cp:lastModifiedBy>
  <cp:revision>5</cp:revision>
  <dcterms:modified xsi:type="dcterms:W3CDTF">2024-02-27T03:38:24Z</dcterms:modified>
</cp:coreProperties>
</file>