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Pemrograman Dasar · X TKJ AKA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1874519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400" b="1">
                <a:solidFill>
                  <a:srgbClr val="F8FAFC"/>
                </a:solidFill>
                <a:latin typeface="Segoe UI Semibold"/>
              </a:rPr>
              <a:t>Bootstrap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731520" y="370332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Pertemuan 2: membuat tampilan web rapi dan responsif dengan cepat</a:t>
            </a:r>
          </a:p>
        </p:txBody>
      </p:sp>
      <p:sp>
        <p:nvSpPr>
          <p:cNvPr id="16" name="!!by"/>
          <p:cNvSpPr txBox="1"/>
          <p:nvPr/>
        </p:nvSpPr>
        <p:spPr>
          <a:xfrm>
            <a:off x="731520" y="50749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Arif Herfian Zaen Chartiko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NIM 210533616009 · Asistensi Mengajar UM</a:t>
            </a:r>
          </a:p>
        </p:txBody>
      </p:sp>
      <p:sp>
        <p:nvSpPr>
          <p:cNvPr id="17" name="!!editor"/>
          <p:cNvSpPr/>
          <p:nvPr/>
        </p:nvSpPr>
        <p:spPr>
          <a:xfrm>
            <a:off x="7086600" y="1417320"/>
            <a:ext cx="4343400" cy="384048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editorBar"/>
          <p:cNvSpPr/>
          <p:nvPr/>
        </p:nvSpPr>
        <p:spPr>
          <a:xfrm>
            <a:off x="7086600" y="1417320"/>
            <a:ext cx="43434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0"/>
          <p:cNvSpPr/>
          <p:nvPr/>
        </p:nvSpPr>
        <p:spPr>
          <a:xfrm>
            <a:off x="7315200" y="157276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1"/>
          <p:cNvSpPr/>
          <p:nvPr/>
        </p:nvSpPr>
        <p:spPr>
          <a:xfrm>
            <a:off x="7571231" y="15727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dot2"/>
          <p:cNvSpPr/>
          <p:nvPr/>
        </p:nvSpPr>
        <p:spPr>
          <a:xfrm>
            <a:off x="7827264" y="15727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fileName"/>
          <p:cNvSpPr txBox="1"/>
          <p:nvPr/>
        </p:nvSpPr>
        <p:spPr>
          <a:xfrm>
            <a:off x="8229600" y="15179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3" name="!!ln0"/>
          <p:cNvSpPr/>
          <p:nvPr/>
        </p:nvSpPr>
        <p:spPr>
          <a:xfrm>
            <a:off x="7406640" y="2194560"/>
            <a:ext cx="188595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1"/>
          <p:cNvSpPr/>
          <p:nvPr/>
        </p:nvSpPr>
        <p:spPr>
          <a:xfrm>
            <a:off x="7406640" y="2578608"/>
            <a:ext cx="257175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2"/>
          <p:cNvSpPr/>
          <p:nvPr/>
        </p:nvSpPr>
        <p:spPr>
          <a:xfrm>
            <a:off x="7680960" y="296265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3"/>
          <p:cNvSpPr/>
          <p:nvPr/>
        </p:nvSpPr>
        <p:spPr>
          <a:xfrm>
            <a:off x="7680960" y="334670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4"/>
          <p:cNvSpPr/>
          <p:nvPr/>
        </p:nvSpPr>
        <p:spPr>
          <a:xfrm>
            <a:off x="7680960" y="3730752"/>
            <a:ext cx="17145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5"/>
          <p:cNvSpPr/>
          <p:nvPr/>
        </p:nvSpPr>
        <p:spPr>
          <a:xfrm>
            <a:off x="7406640" y="411480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ln6"/>
          <p:cNvSpPr/>
          <p:nvPr/>
        </p:nvSpPr>
        <p:spPr>
          <a:xfrm>
            <a:off x="7406640" y="4498848"/>
            <a:ext cx="120015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 · pengenalan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Apa itu Bootstrap?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Framework CSS untuk membuat website responsif dan mobile-first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Menyediakan kelas CSS siap pakai: tombol, navbar, card, form, dan lainnya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Analogi: perabot rakitan, tinggal pilih, susun, lalu sesuaikan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02 · keuntungan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Kenapa pakai Bootstrap?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Responsif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Tampilan menyesuaikan HP, tablet, dan laptop.</a:t>
            </a:r>
          </a:p>
        </p:txBody>
      </p:sp>
      <p:sp>
        <p:nvSpPr>
          <p:cNvPr id="20" name="!!card1"/>
          <p:cNvSpPr/>
          <p:nvPr/>
        </p:nvSpPr>
        <p:spPr>
          <a:xfrm>
            <a:off x="3482263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3756583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3756583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3756583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Cepat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3756583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Komponen siap pakai mempercepat pembuatan web.</a:t>
            </a:r>
          </a:p>
        </p:txBody>
      </p:sp>
      <p:sp>
        <p:nvSpPr>
          <p:cNvPr id="25" name="!!card2"/>
          <p:cNvSpPr/>
          <p:nvPr/>
        </p:nvSpPr>
        <p:spPr>
          <a:xfrm>
            <a:off x="6233007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6507327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Customizable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6507327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Bisa diubah dengan CSS sendiri.</a:t>
            </a:r>
          </a:p>
        </p:txBody>
      </p:sp>
      <p:sp>
        <p:nvSpPr>
          <p:cNvPr id="30" name="!!card3"/>
          <p:cNvSpPr/>
          <p:nvPr/>
        </p:nvSpPr>
        <p:spPr>
          <a:xfrm>
            <a:off x="8983751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chip3"/>
          <p:cNvSpPr/>
          <p:nvPr/>
        </p:nvSpPr>
        <p:spPr>
          <a:xfrm>
            <a:off x="9258071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Txt3"/>
          <p:cNvSpPr txBox="1"/>
          <p:nvPr/>
        </p:nvSpPr>
        <p:spPr>
          <a:xfrm>
            <a:off x="9258071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3" name="!!cardH3"/>
          <p:cNvSpPr txBox="1"/>
          <p:nvPr/>
        </p:nvSpPr>
        <p:spPr>
          <a:xfrm>
            <a:off x="9258071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Komunitas besar</a:t>
            </a:r>
          </a:p>
        </p:txBody>
      </p:sp>
      <p:sp>
        <p:nvSpPr>
          <p:cNvPr id="34" name="!!cardD3"/>
          <p:cNvSpPr txBox="1"/>
          <p:nvPr/>
        </p:nvSpPr>
        <p:spPr>
          <a:xfrm>
            <a:off x="9258071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Dokumentasi lengkap, banyak contoh.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03 · pemasangan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Pasang lewat CDN</a:t>
            </a:r>
          </a:p>
        </p:txBody>
      </p:sp>
      <p:sp>
        <p:nvSpPr>
          <p:cNvPr id="15" name="!!editor"/>
          <p:cNvSpPr/>
          <p:nvPr/>
        </p:nvSpPr>
        <p:spPr>
          <a:xfrm>
            <a:off x="731520" y="1965960"/>
            <a:ext cx="7680960" cy="40233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editorBar"/>
          <p:cNvSpPr/>
          <p:nvPr/>
        </p:nvSpPr>
        <p:spPr>
          <a:xfrm>
            <a:off x="731520" y="1965960"/>
            <a:ext cx="768096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dot0"/>
          <p:cNvSpPr/>
          <p:nvPr/>
        </p:nvSpPr>
        <p:spPr>
          <a:xfrm>
            <a:off x="960120" y="212140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1"/>
          <p:cNvSpPr/>
          <p:nvPr/>
        </p:nvSpPr>
        <p:spPr>
          <a:xfrm>
            <a:off x="1216152" y="212140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2"/>
          <p:cNvSpPr/>
          <p:nvPr/>
        </p:nvSpPr>
        <p:spPr>
          <a:xfrm>
            <a:off x="1472184" y="212140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fileName"/>
          <p:cNvSpPr txBox="1"/>
          <p:nvPr/>
        </p:nvSpPr>
        <p:spPr>
          <a:xfrm>
            <a:off x="1874519" y="206654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1" name="!!code"/>
          <p:cNvSpPr txBox="1"/>
          <p:nvPr/>
        </p:nvSpPr>
        <p:spPr>
          <a:xfrm>
            <a:off x="1051560" y="2651760"/>
            <a:ext cx="7132320" cy="315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&lt;head&gt;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  &lt;link rel="stylesheet"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    href=".../bootstrap@5.3.3/dist/css/bootstrap.min.css"&gt;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&lt;/head&gt;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&lt;body&gt;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  ... isi halaman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  &lt;script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    src=".../bootstrap@5.3.3/dist/js/bootstrap.bundle.min.js"&gt;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  &lt;/script&gt;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&lt;/body&gt;</a:t>
            </a:r>
          </a:p>
        </p:txBody>
      </p:sp>
      <p:sp>
        <p:nvSpPr>
          <p:cNvPr id="22" name="!!body"/>
          <p:cNvSpPr txBox="1"/>
          <p:nvPr/>
        </p:nvSpPr>
        <p:spPr>
          <a:xfrm>
            <a:off x="8778240" y="2148840"/>
            <a:ext cx="274320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CSS di dalam &lt;head&gt;.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Script JS sebelum &lt;/body&gt;.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Kita tidak menulis JavaScript sendiri.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grid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Sistem grid 12 kolom</a:t>
            </a:r>
          </a:p>
        </p:txBody>
      </p:sp>
      <p:sp>
        <p:nvSpPr>
          <p:cNvPr id="15" name="!!editor"/>
          <p:cNvSpPr/>
          <p:nvPr/>
        </p:nvSpPr>
        <p:spPr>
          <a:xfrm>
            <a:off x="731520" y="1965960"/>
            <a:ext cx="7680960" cy="40233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editorBar"/>
          <p:cNvSpPr/>
          <p:nvPr/>
        </p:nvSpPr>
        <p:spPr>
          <a:xfrm>
            <a:off x="731520" y="1965960"/>
            <a:ext cx="768096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dot0"/>
          <p:cNvSpPr/>
          <p:nvPr/>
        </p:nvSpPr>
        <p:spPr>
          <a:xfrm>
            <a:off x="960120" y="212140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1"/>
          <p:cNvSpPr/>
          <p:nvPr/>
        </p:nvSpPr>
        <p:spPr>
          <a:xfrm>
            <a:off x="1216152" y="212140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2"/>
          <p:cNvSpPr/>
          <p:nvPr/>
        </p:nvSpPr>
        <p:spPr>
          <a:xfrm>
            <a:off x="1472184" y="212140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fileName"/>
          <p:cNvSpPr txBox="1"/>
          <p:nvPr/>
        </p:nvSpPr>
        <p:spPr>
          <a:xfrm>
            <a:off x="1874519" y="206654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1" name="!!code"/>
          <p:cNvSpPr txBox="1"/>
          <p:nvPr/>
        </p:nvSpPr>
        <p:spPr>
          <a:xfrm>
            <a:off x="1051560" y="2651760"/>
            <a:ext cx="7132320" cy="315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&lt;div class="container"&gt;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&lt;div class="row"&gt;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  &lt;div class="col-12 col-md-4"&gt;1&lt;/div&gt;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  &lt;div class="col-12 col-md-4"&gt;2&lt;/div&gt;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  &lt;div class="col-12 col-md-4"&gt;3&lt;/div&gt;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&lt;/div&gt;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&lt;/div&gt;</a:t>
            </a:r>
          </a:p>
        </p:txBody>
      </p:sp>
      <p:sp>
        <p:nvSpPr>
          <p:cNvPr id="22" name="!!body"/>
          <p:cNvSpPr txBox="1"/>
          <p:nvPr/>
        </p:nvSpPr>
        <p:spPr>
          <a:xfrm>
            <a:off x="8778240" y="2148840"/>
            <a:ext cx="274320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HP: tersusun ke bawah (col-12).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Laptop: berjajar 3 kolom (col-md-4).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498079" y="-21945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548640" y="4206240"/>
            <a:ext cx="3840480" cy="38404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486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87000" y="25603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64240" y="57607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07040" y="11247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30000" y="121615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60152" y="329184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60152" y="329184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37392" y="649224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80192" y="1197864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 · komponen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Komponen UI Bootstrap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691640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Button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10896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class="btn btn-primary"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5359298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Navbar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10896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Menu navigasi di atas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9026956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Card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10896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Kotak gambar + teks</a:t>
            </a:r>
          </a:p>
        </p:txBody>
      </p:sp>
      <p:sp>
        <p:nvSpPr>
          <p:cNvPr id="30" name="!!card3"/>
          <p:cNvSpPr/>
          <p:nvPr/>
        </p:nvSpPr>
        <p:spPr>
          <a:xfrm>
            <a:off x="731520" y="425196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chip3"/>
          <p:cNvSpPr/>
          <p:nvPr/>
        </p:nvSpPr>
        <p:spPr>
          <a:xfrm>
            <a:off x="1005840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Txt3"/>
          <p:cNvSpPr txBox="1"/>
          <p:nvPr/>
        </p:nvSpPr>
        <p:spPr>
          <a:xfrm>
            <a:off x="1005840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3" name="!!cardH3"/>
          <p:cNvSpPr txBox="1"/>
          <p:nvPr/>
        </p:nvSpPr>
        <p:spPr>
          <a:xfrm>
            <a:off x="1691640" y="452628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Form</a:t>
            </a:r>
          </a:p>
        </p:txBody>
      </p:sp>
      <p:sp>
        <p:nvSpPr>
          <p:cNvPr id="34" name="!!cardD3"/>
          <p:cNvSpPr txBox="1"/>
          <p:nvPr/>
        </p:nvSpPr>
        <p:spPr>
          <a:xfrm>
            <a:off x="1005840" y="521208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Formulir isian</a:t>
            </a:r>
          </a:p>
        </p:txBody>
      </p:sp>
      <p:sp>
        <p:nvSpPr>
          <p:cNvPr id="35" name="!!card4"/>
          <p:cNvSpPr/>
          <p:nvPr/>
        </p:nvSpPr>
        <p:spPr>
          <a:xfrm>
            <a:off x="4399178" y="425196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!!chip4"/>
          <p:cNvSpPr/>
          <p:nvPr/>
        </p:nvSpPr>
        <p:spPr>
          <a:xfrm>
            <a:off x="4673498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!!chipTxt4"/>
          <p:cNvSpPr txBox="1"/>
          <p:nvPr/>
        </p:nvSpPr>
        <p:spPr>
          <a:xfrm>
            <a:off x="4673498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38" name="!!cardH4"/>
          <p:cNvSpPr txBox="1"/>
          <p:nvPr/>
        </p:nvSpPr>
        <p:spPr>
          <a:xfrm>
            <a:off x="5359298" y="452628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Modal</a:t>
            </a:r>
          </a:p>
        </p:txBody>
      </p:sp>
      <p:sp>
        <p:nvSpPr>
          <p:cNvPr id="39" name="!!cardD4"/>
          <p:cNvSpPr txBox="1"/>
          <p:nvPr/>
        </p:nvSpPr>
        <p:spPr>
          <a:xfrm>
            <a:off x="4673498" y="521208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Jendela pop-up</a:t>
            </a:r>
          </a:p>
        </p:txBody>
      </p:sp>
      <p:sp>
        <p:nvSpPr>
          <p:cNvPr id="40" name="!!card5"/>
          <p:cNvSpPr/>
          <p:nvPr/>
        </p:nvSpPr>
        <p:spPr>
          <a:xfrm>
            <a:off x="8066836" y="425196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!!chip5"/>
          <p:cNvSpPr/>
          <p:nvPr/>
        </p:nvSpPr>
        <p:spPr>
          <a:xfrm>
            <a:off x="8341156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!!chipTxt5"/>
          <p:cNvSpPr txBox="1"/>
          <p:nvPr/>
        </p:nvSpPr>
        <p:spPr>
          <a:xfrm>
            <a:off x="8341156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06</a:t>
            </a:r>
          </a:p>
        </p:txBody>
      </p:sp>
      <p:sp>
        <p:nvSpPr>
          <p:cNvPr id="43" name="!!cardH5"/>
          <p:cNvSpPr txBox="1"/>
          <p:nvPr/>
        </p:nvSpPr>
        <p:spPr>
          <a:xfrm>
            <a:off x="9026956" y="452628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Utilities</a:t>
            </a:r>
          </a:p>
        </p:txBody>
      </p:sp>
      <p:sp>
        <p:nvSpPr>
          <p:cNvPr id="44" name="!!cardD5"/>
          <p:cNvSpPr txBox="1"/>
          <p:nvPr/>
        </p:nvSpPr>
        <p:spPr>
          <a:xfrm>
            <a:off x="8341156" y="521208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mt-3, text-center, bg-dark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06 · proyek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Yang dipakai di Web Profil Sekolah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Navbar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Menu dan nama sekolah</a:t>
            </a:r>
          </a:p>
        </p:txBody>
      </p:sp>
      <p:sp>
        <p:nvSpPr>
          <p:cNvPr id="20" name="!!card1"/>
          <p:cNvSpPr/>
          <p:nvPr/>
        </p:nvSpPr>
        <p:spPr>
          <a:xfrm>
            <a:off x="3482263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3756583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3756583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3756583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Header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3756583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Judul dan sambutan</a:t>
            </a:r>
          </a:p>
        </p:txBody>
      </p:sp>
      <p:sp>
        <p:nvSpPr>
          <p:cNvPr id="25" name="!!card2"/>
          <p:cNvSpPr/>
          <p:nvPr/>
        </p:nvSpPr>
        <p:spPr>
          <a:xfrm>
            <a:off x="6233007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6507327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Card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6507327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Info jurusan/fasilitas</a:t>
            </a:r>
          </a:p>
        </p:txBody>
      </p:sp>
      <p:sp>
        <p:nvSpPr>
          <p:cNvPr id="30" name="!!card3"/>
          <p:cNvSpPr/>
          <p:nvPr/>
        </p:nvSpPr>
        <p:spPr>
          <a:xfrm>
            <a:off x="8983751" y="2148840"/>
            <a:ext cx="2476423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chip3"/>
          <p:cNvSpPr/>
          <p:nvPr/>
        </p:nvSpPr>
        <p:spPr>
          <a:xfrm>
            <a:off x="9258071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Txt3"/>
          <p:cNvSpPr txBox="1"/>
          <p:nvPr/>
        </p:nvSpPr>
        <p:spPr>
          <a:xfrm>
            <a:off x="9258071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3" name="!!cardH3"/>
          <p:cNvSpPr txBox="1"/>
          <p:nvPr/>
        </p:nvSpPr>
        <p:spPr>
          <a:xfrm>
            <a:off x="9258071" y="3063240"/>
            <a:ext cx="192778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Footer</a:t>
            </a:r>
          </a:p>
        </p:txBody>
      </p:sp>
      <p:sp>
        <p:nvSpPr>
          <p:cNvPr id="34" name="!!cardD3"/>
          <p:cNvSpPr txBox="1"/>
          <p:nvPr/>
        </p:nvSpPr>
        <p:spPr>
          <a:xfrm>
            <a:off x="9258071" y="3566160"/>
            <a:ext cx="1927783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Alamat dan kontak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07 · kuis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Quizizz time!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840480" cy="39319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igTxt"/>
          <p:cNvSpPr txBox="1"/>
          <p:nvPr/>
        </p:nvSpPr>
        <p:spPr>
          <a:xfrm>
            <a:off x="731520" y="2514600"/>
            <a:ext cx="3840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22D3EE"/>
                </a:solidFill>
                <a:latin typeface="Segoe UI Semibold"/>
              </a:rPr>
              <a:t>10</a:t>
            </a:r>
          </a:p>
        </p:txBody>
      </p:sp>
      <p:sp>
        <p:nvSpPr>
          <p:cNvPr id="17" name="!!bigCap"/>
          <p:cNvSpPr txBox="1"/>
          <p:nvPr/>
        </p:nvSpPr>
        <p:spPr>
          <a:xfrm>
            <a:off x="1005840" y="44348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soal · 20 detik per soal</a:t>
            </a:r>
          </a:p>
        </p:txBody>
      </p:sp>
      <p:sp>
        <p:nvSpPr>
          <p:cNvPr id="18" name="!!body"/>
          <p:cNvSpPr txBox="1"/>
          <p:nvPr/>
        </p:nvSpPr>
        <p:spPr>
          <a:xfrm>
            <a:off x="5120640" y="2331720"/>
            <a:ext cx="6309360" cy="365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1.  </a:t>
            </a:r>
            <a:r>
              <a:rPr sz="2000" b="0">
                <a:solidFill>
                  <a:srgbClr val="F8FAFC"/>
                </a:solidFill>
                <a:latin typeface="Segoe UI"/>
              </a:rPr>
              <a:t>Buka joinmyquiz.com di HP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2.  </a:t>
            </a:r>
            <a:r>
              <a:rPr sz="2000" b="0">
                <a:solidFill>
                  <a:srgbClr val="F8FAFC"/>
                </a:solidFill>
                <a:latin typeface="Segoe UI"/>
              </a:rPr>
              <a:t>Masukkan kode permainan dan nama lengkap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3.  </a:t>
            </a:r>
            <a:r>
              <a:rPr sz="2000" b="0">
                <a:solidFill>
                  <a:srgbClr val="F8FAFC"/>
                </a:solidFill>
                <a:latin typeface="Segoe UI"/>
              </a:rPr>
              <a:t>Jawab "Evaluasi Bootstrap" dengan cepat dan tepat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4.  </a:t>
            </a:r>
            <a:r>
              <a:rPr sz="2000" b="0">
                <a:solidFill>
                  <a:srgbClr val="F8FAFC"/>
                </a:solidFill>
                <a:latin typeface="Segoe UI"/>
              </a:rPr>
              <a:t>Peringkat 1–3 dapat snack!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selesai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8FAFC"/>
                </a:solidFill>
                <a:latin typeface="Segoe UI Semibold"/>
              </a:rPr>
              <a:t>Terima Kasih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Pertemuan berikutnya: Live Code Test (tidak dinilai) dan pembentukan kelompok proyek.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