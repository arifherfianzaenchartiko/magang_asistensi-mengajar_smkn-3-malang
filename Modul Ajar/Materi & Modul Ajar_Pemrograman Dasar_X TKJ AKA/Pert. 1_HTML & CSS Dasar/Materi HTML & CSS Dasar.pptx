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A"/>
          <p:cNvSpPr/>
          <p:nvPr/>
        </p:nvSpPr>
        <p:spPr>
          <a:xfrm>
            <a:off x="7863840" y="-2011680"/>
            <a:ext cx="5852160" cy="585216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>
            <a:softEdge rad="1143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!!glowB"/>
          <p:cNvSpPr/>
          <p:nvPr/>
        </p:nvSpPr>
        <p:spPr>
          <a:xfrm>
            <a:off x="182880" y="3291840"/>
            <a:ext cx="4572000" cy="4572000"/>
          </a:xfrm>
          <a:prstGeom prst="ellipse">
            <a:avLst/>
          </a:prstGeom>
          <a:solidFill>
            <a:srgbClr val="818CF8">
              <a:alpha val="18000"/>
            </a:srgbClr>
          </a:solidFill>
          <a:ln>
            <a:noFill/>
          </a:ln>
          <a:effectLst>
            <a:softEdge rad="1143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bracket"/>
          <p:cNvSpPr txBox="1"/>
          <p:nvPr/>
        </p:nvSpPr>
        <p:spPr>
          <a:xfrm>
            <a:off x="10378440" y="6217920"/>
            <a:ext cx="12801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22D3EE"/>
                </a:solidFill>
                <a:latin typeface="Consolas"/>
              </a:rPr>
              <a:t>&lt;/&gt;</a:t>
            </a:r>
          </a:p>
        </p:txBody>
      </p:sp>
      <p:sp>
        <p:nvSpPr>
          <p:cNvPr id="5" name="!!node0"/>
          <p:cNvSpPr/>
          <p:nvPr/>
        </p:nvSpPr>
        <p:spPr>
          <a:xfrm>
            <a:off x="10469880" y="274320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node1"/>
          <p:cNvSpPr/>
          <p:nvPr/>
        </p:nvSpPr>
        <p:spPr>
          <a:xfrm>
            <a:off x="11247119" y="594359"/>
            <a:ext cx="146304" cy="146304"/>
          </a:xfrm>
          <a:prstGeom prst="ellipse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!!node2"/>
          <p:cNvSpPr/>
          <p:nvPr/>
        </p:nvSpPr>
        <p:spPr>
          <a:xfrm>
            <a:off x="10789919" y="1143000"/>
            <a:ext cx="146304" cy="14630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node3"/>
          <p:cNvSpPr/>
          <p:nvPr/>
        </p:nvSpPr>
        <p:spPr>
          <a:xfrm>
            <a:off x="11612880" y="1234440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9" name="!!link0"/>
          <p:cNvCxnSpPr/>
          <p:nvPr/>
        </p:nvCxnSpPr>
        <p:spPr>
          <a:xfrm>
            <a:off x="10543032" y="347472"/>
            <a:ext cx="777240" cy="320039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!!link1"/>
          <p:cNvCxnSpPr/>
          <p:nvPr/>
        </p:nvCxnSpPr>
        <p:spPr>
          <a:xfrm>
            <a:off x="10543032" y="347472"/>
            <a:ext cx="320040" cy="86868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!!link2"/>
          <p:cNvCxnSpPr/>
          <p:nvPr/>
        </p:nvCxnSpPr>
        <p:spPr>
          <a:xfrm>
            <a:off x="11320272" y="667511"/>
            <a:ext cx="365760" cy="640081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!!link3"/>
          <p:cNvCxnSpPr/>
          <p:nvPr/>
        </p:nvCxnSpPr>
        <p:spPr>
          <a:xfrm>
            <a:off x="10863072" y="1216152"/>
            <a:ext cx="822960" cy="9144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!!kicker"/>
          <p:cNvSpPr txBox="1"/>
          <p:nvPr/>
        </p:nvSpPr>
        <p:spPr>
          <a:xfrm>
            <a:off x="731520" y="14173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22D3EE"/>
                </a:solidFill>
                <a:latin typeface="Consolas"/>
              </a:rPr>
              <a:t>// Pemrograman Dasar · X TKJ AKA</a:t>
            </a:r>
          </a:p>
        </p:txBody>
      </p:sp>
      <p:sp>
        <p:nvSpPr>
          <p:cNvPr id="14" name="!!title"/>
          <p:cNvSpPr txBox="1"/>
          <p:nvPr/>
        </p:nvSpPr>
        <p:spPr>
          <a:xfrm>
            <a:off x="731520" y="1874519"/>
            <a:ext cx="6035040" cy="1737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5400" b="1">
                <a:solidFill>
                  <a:srgbClr val="F8FAFC"/>
                </a:solidFill>
                <a:latin typeface="Segoe UI Semibold"/>
              </a:rPr>
              <a:t>HTML &amp; CSS Dasar</a:t>
            </a:r>
          </a:p>
        </p:txBody>
      </p:sp>
      <p:sp>
        <p:nvSpPr>
          <p:cNvPr id="15" name="!!sub"/>
          <p:cNvSpPr txBox="1"/>
          <p:nvPr/>
        </p:nvSpPr>
        <p:spPr>
          <a:xfrm>
            <a:off x="731520" y="3703320"/>
            <a:ext cx="566928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94A3B8"/>
                </a:solidFill>
                <a:latin typeface="Segoe UI"/>
              </a:rPr>
              <a:t>Pertemuan 1: membangun kerangka dan tampilan halaman web pertamamu</a:t>
            </a:r>
          </a:p>
        </p:txBody>
      </p:sp>
      <p:sp>
        <p:nvSpPr>
          <p:cNvPr id="16" name="!!by"/>
          <p:cNvSpPr txBox="1"/>
          <p:nvPr/>
        </p:nvSpPr>
        <p:spPr>
          <a:xfrm>
            <a:off x="731520" y="5074920"/>
            <a:ext cx="58521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>
                <a:solidFill>
                  <a:srgbClr val="F8FAFC"/>
                </a:solidFill>
                <a:latin typeface="Segoe UI"/>
              </a:rPr>
              <a:t>Arif Herfian Zaen Chartiko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0">
                <a:solidFill>
                  <a:srgbClr val="94A3B8"/>
                </a:solidFill>
                <a:latin typeface="Segoe UI"/>
              </a:rPr>
              <a:t>NIM 210533616009 · Asistensi Mengajar UM</a:t>
            </a:r>
          </a:p>
        </p:txBody>
      </p:sp>
      <p:sp>
        <p:nvSpPr>
          <p:cNvPr id="17" name="!!editor"/>
          <p:cNvSpPr/>
          <p:nvPr/>
        </p:nvSpPr>
        <p:spPr>
          <a:xfrm>
            <a:off x="7086600" y="1417320"/>
            <a:ext cx="4343400" cy="3840480"/>
          </a:xfrm>
          <a:prstGeom prst="roundRect">
            <a:avLst>
              <a:gd name="adj" fmla="val 4000"/>
            </a:avLst>
          </a:prstGeom>
          <a:solidFill>
            <a:srgbClr val="151F33"/>
          </a:solidFill>
          <a:ln w="15875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!!editorBar"/>
          <p:cNvSpPr/>
          <p:nvPr/>
        </p:nvSpPr>
        <p:spPr>
          <a:xfrm>
            <a:off x="7086600" y="1417320"/>
            <a:ext cx="4343400" cy="457200"/>
          </a:xfrm>
          <a:prstGeom prst="roundRect">
            <a:avLst>
              <a:gd name="adj" fmla="val 30000"/>
            </a:avLst>
          </a:prstGeom>
          <a:solidFill>
            <a:srgbClr val="1C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!!dot0"/>
          <p:cNvSpPr/>
          <p:nvPr/>
        </p:nvSpPr>
        <p:spPr>
          <a:xfrm>
            <a:off x="7315200" y="1572768"/>
            <a:ext cx="146304" cy="146304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!!dot1"/>
          <p:cNvSpPr/>
          <p:nvPr/>
        </p:nvSpPr>
        <p:spPr>
          <a:xfrm>
            <a:off x="7571231" y="1572768"/>
            <a:ext cx="146304" cy="146304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!!dot2"/>
          <p:cNvSpPr/>
          <p:nvPr/>
        </p:nvSpPr>
        <p:spPr>
          <a:xfrm>
            <a:off x="7827264" y="1572768"/>
            <a:ext cx="146304" cy="14630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!!fileName"/>
          <p:cNvSpPr txBox="1"/>
          <p:nvPr/>
        </p:nvSpPr>
        <p:spPr>
          <a:xfrm>
            <a:off x="8229600" y="1517904"/>
            <a:ext cx="2971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Consolas"/>
              </a:rPr>
              <a:t>index.html</a:t>
            </a:r>
          </a:p>
        </p:txBody>
      </p:sp>
      <p:sp>
        <p:nvSpPr>
          <p:cNvPr id="23" name="!!ln0"/>
          <p:cNvSpPr/>
          <p:nvPr/>
        </p:nvSpPr>
        <p:spPr>
          <a:xfrm>
            <a:off x="7406640" y="2194560"/>
            <a:ext cx="1885950" cy="146304"/>
          </a:xfrm>
          <a:prstGeom prst="roundRect">
            <a:avLst>
              <a:gd name="adj" fmla="val 50000"/>
            </a:avLst>
          </a:prstGeom>
          <a:solidFill>
            <a:srgbClr val="22D3EE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!!ln1"/>
          <p:cNvSpPr/>
          <p:nvPr/>
        </p:nvSpPr>
        <p:spPr>
          <a:xfrm>
            <a:off x="7406640" y="2578608"/>
            <a:ext cx="2571750" cy="146304"/>
          </a:xfrm>
          <a:prstGeom prst="roundRect">
            <a:avLst>
              <a:gd name="adj" fmla="val 50000"/>
            </a:avLst>
          </a:prstGeom>
          <a:solidFill>
            <a:srgbClr val="818CF8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!!ln2"/>
          <p:cNvSpPr/>
          <p:nvPr/>
        </p:nvSpPr>
        <p:spPr>
          <a:xfrm>
            <a:off x="7680960" y="2962656"/>
            <a:ext cx="1371600" cy="146304"/>
          </a:xfrm>
          <a:prstGeom prst="roundRect">
            <a:avLst>
              <a:gd name="adj" fmla="val 50000"/>
            </a:avLst>
          </a:prstGeom>
          <a:solidFill>
            <a:srgbClr val="34D399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!!ln3"/>
          <p:cNvSpPr/>
          <p:nvPr/>
        </p:nvSpPr>
        <p:spPr>
          <a:xfrm>
            <a:off x="7680960" y="3346704"/>
            <a:ext cx="2331720" cy="146304"/>
          </a:xfrm>
          <a:prstGeom prst="roundRect">
            <a:avLst>
              <a:gd name="adj" fmla="val 50000"/>
            </a:avLst>
          </a:prstGeom>
          <a:solidFill>
            <a:srgbClr val="22D3EE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!!ln4"/>
          <p:cNvSpPr/>
          <p:nvPr/>
        </p:nvSpPr>
        <p:spPr>
          <a:xfrm>
            <a:off x="7680960" y="3730752"/>
            <a:ext cx="1714500" cy="146304"/>
          </a:xfrm>
          <a:prstGeom prst="roundRect">
            <a:avLst>
              <a:gd name="adj" fmla="val 50000"/>
            </a:avLst>
          </a:prstGeom>
          <a:solidFill>
            <a:srgbClr val="FBBF24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!!ln5"/>
          <p:cNvSpPr/>
          <p:nvPr/>
        </p:nvSpPr>
        <p:spPr>
          <a:xfrm>
            <a:off x="7406640" y="4114800"/>
            <a:ext cx="2743200" cy="146304"/>
          </a:xfrm>
          <a:prstGeom prst="roundRect">
            <a:avLst>
              <a:gd name="adj" fmla="val 50000"/>
            </a:avLst>
          </a:prstGeom>
          <a:solidFill>
            <a:srgbClr val="818CF8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!!ln6"/>
          <p:cNvSpPr/>
          <p:nvPr/>
        </p:nvSpPr>
        <p:spPr>
          <a:xfrm>
            <a:off x="7406640" y="4498848"/>
            <a:ext cx="1200150" cy="146304"/>
          </a:xfrm>
          <a:prstGeom prst="roundRect">
            <a:avLst>
              <a:gd name="adj" fmla="val 50000"/>
            </a:avLst>
          </a:prstGeom>
          <a:solidFill>
            <a:srgbClr val="34D399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A"/>
          <p:cNvSpPr/>
          <p:nvPr/>
        </p:nvSpPr>
        <p:spPr>
          <a:xfrm>
            <a:off x="8778240" y="-1463040"/>
            <a:ext cx="5120640" cy="512064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>
            <a:softEdge rad="1143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!!glowB"/>
          <p:cNvSpPr/>
          <p:nvPr/>
        </p:nvSpPr>
        <p:spPr>
          <a:xfrm>
            <a:off x="-1280160" y="4023360"/>
            <a:ext cx="4206240" cy="4206240"/>
          </a:xfrm>
          <a:prstGeom prst="ellipse">
            <a:avLst/>
          </a:prstGeom>
          <a:solidFill>
            <a:srgbClr val="818CF8">
              <a:alpha val="18000"/>
            </a:srgbClr>
          </a:solidFill>
          <a:ln>
            <a:noFill/>
          </a:ln>
          <a:effectLst>
            <a:softEdge rad="1143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bracket"/>
          <p:cNvSpPr txBox="1"/>
          <p:nvPr/>
        </p:nvSpPr>
        <p:spPr>
          <a:xfrm>
            <a:off x="502920" y="6217920"/>
            <a:ext cx="12801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22D3EE"/>
                </a:solidFill>
                <a:latin typeface="Consolas"/>
              </a:rPr>
              <a:t>&lt;/&gt;</a:t>
            </a:r>
          </a:p>
        </p:txBody>
      </p:sp>
      <p:sp>
        <p:nvSpPr>
          <p:cNvPr id="5" name="!!node0"/>
          <p:cNvSpPr/>
          <p:nvPr/>
        </p:nvSpPr>
        <p:spPr>
          <a:xfrm>
            <a:off x="10241280" y="365760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node1"/>
          <p:cNvSpPr/>
          <p:nvPr/>
        </p:nvSpPr>
        <p:spPr>
          <a:xfrm>
            <a:off x="11018519" y="685800"/>
            <a:ext cx="146304" cy="146304"/>
          </a:xfrm>
          <a:prstGeom prst="ellipse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!!node2"/>
          <p:cNvSpPr/>
          <p:nvPr/>
        </p:nvSpPr>
        <p:spPr>
          <a:xfrm>
            <a:off x="10561319" y="1234440"/>
            <a:ext cx="146304" cy="14630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node3"/>
          <p:cNvSpPr/>
          <p:nvPr/>
        </p:nvSpPr>
        <p:spPr>
          <a:xfrm>
            <a:off x="11384280" y="1325880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9" name="!!link0"/>
          <p:cNvCxnSpPr/>
          <p:nvPr/>
        </p:nvCxnSpPr>
        <p:spPr>
          <a:xfrm>
            <a:off x="10314432" y="438912"/>
            <a:ext cx="777240" cy="32004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!!link1"/>
          <p:cNvCxnSpPr/>
          <p:nvPr/>
        </p:nvCxnSpPr>
        <p:spPr>
          <a:xfrm>
            <a:off x="10314432" y="438912"/>
            <a:ext cx="320040" cy="86868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!!link2"/>
          <p:cNvCxnSpPr/>
          <p:nvPr/>
        </p:nvCxnSpPr>
        <p:spPr>
          <a:xfrm>
            <a:off x="11091672" y="758952"/>
            <a:ext cx="365760" cy="64008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!!link3"/>
          <p:cNvCxnSpPr/>
          <p:nvPr/>
        </p:nvCxnSpPr>
        <p:spPr>
          <a:xfrm>
            <a:off x="10634472" y="1307592"/>
            <a:ext cx="822960" cy="9144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!!kicker"/>
          <p:cNvSpPr txBox="1"/>
          <p:nvPr/>
        </p:nvSpPr>
        <p:spPr>
          <a:xfrm>
            <a:off x="731520" y="56692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Consolas"/>
              </a:rPr>
              <a:t>01 · pengenalan</a:t>
            </a:r>
          </a:p>
        </p:txBody>
      </p:sp>
      <p:sp>
        <p:nvSpPr>
          <p:cNvPr id="14" name="!!title"/>
          <p:cNvSpPr txBox="1"/>
          <p:nvPr/>
        </p:nvSpPr>
        <p:spPr>
          <a:xfrm>
            <a:off x="731520" y="9144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600" b="1">
                <a:solidFill>
                  <a:srgbClr val="F8FAFC"/>
                </a:solidFill>
                <a:latin typeface="Segoe UI Semibold"/>
              </a:rPr>
              <a:t>Website itu apa?</a:t>
            </a:r>
          </a:p>
        </p:txBody>
      </p:sp>
      <p:sp>
        <p:nvSpPr>
          <p:cNvPr id="15" name="!!body"/>
          <p:cNvSpPr txBox="1"/>
          <p:nvPr/>
        </p:nvSpPr>
        <p:spPr>
          <a:xfrm>
            <a:off x="731520" y="2057400"/>
            <a:ext cx="6035040" cy="3840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2000" b="1">
                <a:solidFill>
                  <a:srgbClr val="22D3EE"/>
                </a:solidFill>
                <a:latin typeface="Segoe UI"/>
              </a:rPr>
              <a:t>▸  </a:t>
            </a:r>
            <a:r>
              <a:rPr sz="2000" b="0">
                <a:solidFill>
                  <a:srgbClr val="F8FAFC"/>
                </a:solidFill>
                <a:latin typeface="Segoe UI"/>
              </a:rPr>
              <a:t>Kumpulan halaman yang dibuka lewat peramban (browser)</a:t>
            </a:r>
          </a:p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2000" b="1">
                <a:solidFill>
                  <a:srgbClr val="22D3EE"/>
                </a:solidFill>
                <a:latin typeface="Segoe UI"/>
              </a:rPr>
              <a:t>▸  </a:t>
            </a:r>
            <a:r>
              <a:rPr sz="2000" b="0">
                <a:solidFill>
                  <a:srgbClr val="F8FAFC"/>
                </a:solidFill>
                <a:latin typeface="Segoe UI"/>
              </a:rPr>
              <a:t>Peramban mengambil file dari server, lalu menampilkannya</a:t>
            </a:r>
          </a:p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2000" b="1">
                <a:solidFill>
                  <a:srgbClr val="22D3EE"/>
                </a:solidFill>
                <a:latin typeface="Segoe UI"/>
              </a:rPr>
              <a:t>▸  </a:t>
            </a:r>
            <a:r>
              <a:rPr sz="2000" b="0">
                <a:solidFill>
                  <a:srgbClr val="F8FAFC"/>
                </a:solidFill>
                <a:latin typeface="Segoe UI"/>
              </a:rPr>
              <a:t>Bagian yang kita lihat disebut front-end, dan itulah yang kita bangun</a:t>
            </a:r>
          </a:p>
        </p:txBody>
      </p:sp>
      <p:sp>
        <p:nvSpPr>
          <p:cNvPr id="16" name="!!editor"/>
          <p:cNvSpPr/>
          <p:nvPr/>
        </p:nvSpPr>
        <p:spPr>
          <a:xfrm>
            <a:off x="7315200" y="1920240"/>
            <a:ext cx="4114800" cy="3566160"/>
          </a:xfrm>
          <a:prstGeom prst="roundRect">
            <a:avLst>
              <a:gd name="adj" fmla="val 4000"/>
            </a:avLst>
          </a:prstGeom>
          <a:solidFill>
            <a:srgbClr val="151F33"/>
          </a:solidFill>
          <a:ln w="15875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!!editorBar"/>
          <p:cNvSpPr/>
          <p:nvPr/>
        </p:nvSpPr>
        <p:spPr>
          <a:xfrm>
            <a:off x="7315200" y="1920240"/>
            <a:ext cx="4114800" cy="457200"/>
          </a:xfrm>
          <a:prstGeom prst="roundRect">
            <a:avLst>
              <a:gd name="adj" fmla="val 30000"/>
            </a:avLst>
          </a:prstGeom>
          <a:solidFill>
            <a:srgbClr val="1C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!!dot0"/>
          <p:cNvSpPr/>
          <p:nvPr/>
        </p:nvSpPr>
        <p:spPr>
          <a:xfrm>
            <a:off x="7543800" y="2075688"/>
            <a:ext cx="146304" cy="146304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!!dot1"/>
          <p:cNvSpPr/>
          <p:nvPr/>
        </p:nvSpPr>
        <p:spPr>
          <a:xfrm>
            <a:off x="7799831" y="2075688"/>
            <a:ext cx="146304" cy="146304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!!dot2"/>
          <p:cNvSpPr/>
          <p:nvPr/>
        </p:nvSpPr>
        <p:spPr>
          <a:xfrm>
            <a:off x="8055864" y="2075688"/>
            <a:ext cx="146304" cy="14630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!!fileName"/>
          <p:cNvSpPr txBox="1"/>
          <p:nvPr/>
        </p:nvSpPr>
        <p:spPr>
          <a:xfrm>
            <a:off x="8458200" y="202082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Consolas"/>
              </a:rPr>
              <a:t>index.html</a:t>
            </a:r>
          </a:p>
        </p:txBody>
      </p:sp>
      <p:sp>
        <p:nvSpPr>
          <p:cNvPr id="22" name="!!ln0"/>
          <p:cNvSpPr/>
          <p:nvPr/>
        </p:nvSpPr>
        <p:spPr>
          <a:xfrm>
            <a:off x="7635240" y="2697480"/>
            <a:ext cx="1760220" cy="146304"/>
          </a:xfrm>
          <a:prstGeom prst="roundRect">
            <a:avLst>
              <a:gd name="adj" fmla="val 50000"/>
            </a:avLst>
          </a:prstGeom>
          <a:solidFill>
            <a:srgbClr val="22D3EE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!!ln1"/>
          <p:cNvSpPr/>
          <p:nvPr/>
        </p:nvSpPr>
        <p:spPr>
          <a:xfrm>
            <a:off x="7635240" y="3081528"/>
            <a:ext cx="2400300" cy="146304"/>
          </a:xfrm>
          <a:prstGeom prst="roundRect">
            <a:avLst>
              <a:gd name="adj" fmla="val 50000"/>
            </a:avLst>
          </a:prstGeom>
          <a:solidFill>
            <a:srgbClr val="818CF8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!!ln2"/>
          <p:cNvSpPr/>
          <p:nvPr/>
        </p:nvSpPr>
        <p:spPr>
          <a:xfrm>
            <a:off x="7909560" y="3465576"/>
            <a:ext cx="1280160" cy="146304"/>
          </a:xfrm>
          <a:prstGeom prst="roundRect">
            <a:avLst>
              <a:gd name="adj" fmla="val 50000"/>
            </a:avLst>
          </a:prstGeom>
          <a:solidFill>
            <a:srgbClr val="34D399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!!ln3"/>
          <p:cNvSpPr/>
          <p:nvPr/>
        </p:nvSpPr>
        <p:spPr>
          <a:xfrm>
            <a:off x="7909560" y="3849624"/>
            <a:ext cx="2176272" cy="146304"/>
          </a:xfrm>
          <a:prstGeom prst="roundRect">
            <a:avLst>
              <a:gd name="adj" fmla="val 50000"/>
            </a:avLst>
          </a:prstGeom>
          <a:solidFill>
            <a:srgbClr val="22D3EE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!!ln4"/>
          <p:cNvSpPr/>
          <p:nvPr/>
        </p:nvSpPr>
        <p:spPr>
          <a:xfrm>
            <a:off x="7909560" y="4233672"/>
            <a:ext cx="1600200" cy="146304"/>
          </a:xfrm>
          <a:prstGeom prst="roundRect">
            <a:avLst>
              <a:gd name="adj" fmla="val 50000"/>
            </a:avLst>
          </a:prstGeom>
          <a:solidFill>
            <a:srgbClr val="FBBF24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!!ln5"/>
          <p:cNvSpPr/>
          <p:nvPr/>
        </p:nvSpPr>
        <p:spPr>
          <a:xfrm>
            <a:off x="7635240" y="4617720"/>
            <a:ext cx="2560320" cy="146304"/>
          </a:xfrm>
          <a:prstGeom prst="roundRect">
            <a:avLst>
              <a:gd name="adj" fmla="val 50000"/>
            </a:avLst>
          </a:prstGeom>
          <a:solidFill>
            <a:srgbClr val="818CF8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!!ln6"/>
          <p:cNvSpPr/>
          <p:nvPr/>
        </p:nvSpPr>
        <p:spPr>
          <a:xfrm>
            <a:off x="7635240" y="5001768"/>
            <a:ext cx="1120139" cy="146304"/>
          </a:xfrm>
          <a:prstGeom prst="roundRect">
            <a:avLst>
              <a:gd name="adj" fmla="val 50000"/>
            </a:avLst>
          </a:prstGeom>
          <a:solidFill>
            <a:srgbClr val="34D399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A"/>
          <p:cNvSpPr/>
          <p:nvPr/>
        </p:nvSpPr>
        <p:spPr>
          <a:xfrm>
            <a:off x="9509760" y="3108960"/>
            <a:ext cx="4754880" cy="475488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>
            <a:softEdge rad="1143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!!glowB"/>
          <p:cNvSpPr/>
          <p:nvPr/>
        </p:nvSpPr>
        <p:spPr>
          <a:xfrm>
            <a:off x="-1645920" y="-1463040"/>
            <a:ext cx="4389120" cy="4389120"/>
          </a:xfrm>
          <a:prstGeom prst="ellipse">
            <a:avLst/>
          </a:prstGeom>
          <a:solidFill>
            <a:srgbClr val="818CF8">
              <a:alpha val="18000"/>
            </a:srgbClr>
          </a:solidFill>
          <a:ln>
            <a:noFill/>
          </a:ln>
          <a:effectLst>
            <a:softEdge rad="1143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bracket"/>
          <p:cNvSpPr txBox="1"/>
          <p:nvPr/>
        </p:nvSpPr>
        <p:spPr>
          <a:xfrm>
            <a:off x="10515600" y="6217920"/>
            <a:ext cx="12801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22D3EE"/>
                </a:solidFill>
                <a:latin typeface="Consolas"/>
              </a:rPr>
              <a:t>&lt;/&gt;</a:t>
            </a:r>
          </a:p>
        </p:txBody>
      </p:sp>
      <p:sp>
        <p:nvSpPr>
          <p:cNvPr id="5" name="!!node0"/>
          <p:cNvSpPr/>
          <p:nvPr/>
        </p:nvSpPr>
        <p:spPr>
          <a:xfrm>
            <a:off x="10561320" y="228600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node1"/>
          <p:cNvSpPr/>
          <p:nvPr/>
        </p:nvSpPr>
        <p:spPr>
          <a:xfrm>
            <a:off x="11338560" y="548640"/>
            <a:ext cx="146304" cy="146304"/>
          </a:xfrm>
          <a:prstGeom prst="ellipse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!!node2"/>
          <p:cNvSpPr/>
          <p:nvPr/>
        </p:nvSpPr>
        <p:spPr>
          <a:xfrm>
            <a:off x="10881360" y="1097280"/>
            <a:ext cx="146304" cy="14630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node3"/>
          <p:cNvSpPr/>
          <p:nvPr/>
        </p:nvSpPr>
        <p:spPr>
          <a:xfrm>
            <a:off x="11704320" y="1188720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9" name="!!link0"/>
          <p:cNvCxnSpPr/>
          <p:nvPr/>
        </p:nvCxnSpPr>
        <p:spPr>
          <a:xfrm>
            <a:off x="10634472" y="301752"/>
            <a:ext cx="777240" cy="32004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!!link1"/>
          <p:cNvCxnSpPr/>
          <p:nvPr/>
        </p:nvCxnSpPr>
        <p:spPr>
          <a:xfrm>
            <a:off x="10634472" y="301752"/>
            <a:ext cx="320040" cy="86868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!!link2"/>
          <p:cNvCxnSpPr/>
          <p:nvPr/>
        </p:nvCxnSpPr>
        <p:spPr>
          <a:xfrm>
            <a:off x="11411712" y="621792"/>
            <a:ext cx="365760" cy="64008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!!link3"/>
          <p:cNvCxnSpPr/>
          <p:nvPr/>
        </p:nvCxnSpPr>
        <p:spPr>
          <a:xfrm>
            <a:off x="10954512" y="1170432"/>
            <a:ext cx="822960" cy="9144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!!kicker"/>
          <p:cNvSpPr txBox="1"/>
          <p:nvPr/>
        </p:nvSpPr>
        <p:spPr>
          <a:xfrm>
            <a:off x="731520" y="56692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Consolas"/>
              </a:rPr>
              <a:t>02 · analogi</a:t>
            </a:r>
          </a:p>
        </p:txBody>
      </p:sp>
      <p:sp>
        <p:nvSpPr>
          <p:cNvPr id="14" name="!!title"/>
          <p:cNvSpPr txBox="1"/>
          <p:nvPr/>
        </p:nvSpPr>
        <p:spPr>
          <a:xfrm>
            <a:off x="731520" y="9144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600" b="1">
                <a:solidFill>
                  <a:srgbClr val="F8FAFC"/>
                </a:solidFill>
                <a:latin typeface="Segoe UI Semibold"/>
              </a:rPr>
              <a:t>Website itu seperti rumah</a:t>
            </a:r>
          </a:p>
        </p:txBody>
      </p:sp>
      <p:sp>
        <p:nvSpPr>
          <p:cNvPr id="15" name="!!card0"/>
          <p:cNvSpPr/>
          <p:nvPr/>
        </p:nvSpPr>
        <p:spPr>
          <a:xfrm>
            <a:off x="731520" y="2148840"/>
            <a:ext cx="3393338" cy="292608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!!chip0"/>
          <p:cNvSpPr/>
          <p:nvPr/>
        </p:nvSpPr>
        <p:spPr>
          <a:xfrm>
            <a:off x="1005840" y="242316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22D3EE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!!chipTxt0"/>
          <p:cNvSpPr txBox="1"/>
          <p:nvPr/>
        </p:nvSpPr>
        <p:spPr>
          <a:xfrm>
            <a:off x="1005840" y="242316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Consolas"/>
              </a:rPr>
              <a:t>01</a:t>
            </a:r>
          </a:p>
        </p:txBody>
      </p:sp>
      <p:sp>
        <p:nvSpPr>
          <p:cNvPr id="18" name="!!cardH0"/>
          <p:cNvSpPr txBox="1"/>
          <p:nvPr/>
        </p:nvSpPr>
        <p:spPr>
          <a:xfrm>
            <a:off x="1005840" y="3063240"/>
            <a:ext cx="2844698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F8FAFC"/>
                </a:solidFill>
                <a:latin typeface="Segoe UI Semibold"/>
              </a:rPr>
              <a:t>HTML</a:t>
            </a:r>
          </a:p>
        </p:txBody>
      </p:sp>
      <p:sp>
        <p:nvSpPr>
          <p:cNvPr id="19" name="!!cardD0"/>
          <p:cNvSpPr txBox="1"/>
          <p:nvPr/>
        </p:nvSpPr>
        <p:spPr>
          <a:xfrm>
            <a:off x="1005840" y="3566160"/>
            <a:ext cx="2844698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Kerangka rumah: struktur dan isi halaman seperti judul, paragraf, gambar, dan menu.</a:t>
            </a:r>
          </a:p>
        </p:txBody>
      </p:sp>
      <p:sp>
        <p:nvSpPr>
          <p:cNvPr id="20" name="!!card1"/>
          <p:cNvSpPr/>
          <p:nvPr/>
        </p:nvSpPr>
        <p:spPr>
          <a:xfrm>
            <a:off x="4399178" y="2148840"/>
            <a:ext cx="3393338" cy="292608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!!chip1"/>
          <p:cNvSpPr/>
          <p:nvPr/>
        </p:nvSpPr>
        <p:spPr>
          <a:xfrm>
            <a:off x="4673498" y="242316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818CF8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!!chipTxt1"/>
          <p:cNvSpPr txBox="1"/>
          <p:nvPr/>
        </p:nvSpPr>
        <p:spPr>
          <a:xfrm>
            <a:off x="4673498" y="242316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818CF8"/>
                </a:solidFill>
                <a:latin typeface="Consolas"/>
              </a:rPr>
              <a:t>02</a:t>
            </a:r>
          </a:p>
        </p:txBody>
      </p:sp>
      <p:sp>
        <p:nvSpPr>
          <p:cNvPr id="23" name="!!cardH1"/>
          <p:cNvSpPr txBox="1"/>
          <p:nvPr/>
        </p:nvSpPr>
        <p:spPr>
          <a:xfrm>
            <a:off x="4673498" y="3063240"/>
            <a:ext cx="2844698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F8FAFC"/>
                </a:solidFill>
                <a:latin typeface="Segoe UI Semibold"/>
              </a:rPr>
              <a:t>CSS</a:t>
            </a:r>
          </a:p>
        </p:txBody>
      </p:sp>
      <p:sp>
        <p:nvSpPr>
          <p:cNvPr id="24" name="!!cardD1"/>
          <p:cNvSpPr txBox="1"/>
          <p:nvPr/>
        </p:nvSpPr>
        <p:spPr>
          <a:xfrm>
            <a:off x="4673498" y="3566160"/>
            <a:ext cx="2844698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Cat dan dekorasi: warna, ukuran huruf, jarak, dan tata letak.</a:t>
            </a:r>
          </a:p>
        </p:txBody>
      </p:sp>
      <p:sp>
        <p:nvSpPr>
          <p:cNvPr id="25" name="!!card2"/>
          <p:cNvSpPr/>
          <p:nvPr/>
        </p:nvSpPr>
        <p:spPr>
          <a:xfrm>
            <a:off x="8066836" y="2148840"/>
            <a:ext cx="3393338" cy="292608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!!chip2"/>
          <p:cNvSpPr/>
          <p:nvPr/>
        </p:nvSpPr>
        <p:spPr>
          <a:xfrm>
            <a:off x="8341156" y="242316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34D399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!!chipTxt2"/>
          <p:cNvSpPr txBox="1"/>
          <p:nvPr/>
        </p:nvSpPr>
        <p:spPr>
          <a:xfrm>
            <a:off x="8341156" y="242316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34D399"/>
                </a:solidFill>
                <a:latin typeface="Consolas"/>
              </a:rPr>
              <a:t>03</a:t>
            </a:r>
          </a:p>
        </p:txBody>
      </p:sp>
      <p:sp>
        <p:nvSpPr>
          <p:cNvPr id="28" name="!!cardH2"/>
          <p:cNvSpPr txBox="1"/>
          <p:nvPr/>
        </p:nvSpPr>
        <p:spPr>
          <a:xfrm>
            <a:off x="8341156" y="3063240"/>
            <a:ext cx="2844698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F8FAFC"/>
                </a:solidFill>
                <a:latin typeface="Segoe UI Semibold"/>
              </a:rPr>
              <a:t>Bootstrap</a:t>
            </a:r>
          </a:p>
        </p:txBody>
      </p:sp>
      <p:sp>
        <p:nvSpPr>
          <p:cNvPr id="29" name="!!cardD2"/>
          <p:cNvSpPr txBox="1"/>
          <p:nvPr/>
        </p:nvSpPr>
        <p:spPr>
          <a:xfrm>
            <a:off x="8341156" y="3566160"/>
            <a:ext cx="2844698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Perabot rakitan siap pakai. Kita pelajari di Pertemuan 2.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A"/>
          <p:cNvSpPr/>
          <p:nvPr/>
        </p:nvSpPr>
        <p:spPr>
          <a:xfrm>
            <a:off x="-1645920" y="3840480"/>
            <a:ext cx="4937760" cy="493776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>
            <a:softEdge rad="1143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!!glowB"/>
          <p:cNvSpPr/>
          <p:nvPr/>
        </p:nvSpPr>
        <p:spPr>
          <a:xfrm>
            <a:off x="8961120" y="-1828800"/>
            <a:ext cx="4754880" cy="4754880"/>
          </a:xfrm>
          <a:prstGeom prst="ellipse">
            <a:avLst/>
          </a:prstGeom>
          <a:solidFill>
            <a:srgbClr val="818CF8">
              <a:alpha val="18000"/>
            </a:srgbClr>
          </a:solidFill>
          <a:ln>
            <a:noFill/>
          </a:ln>
          <a:effectLst>
            <a:softEdge rad="1143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bracket"/>
          <p:cNvSpPr txBox="1"/>
          <p:nvPr/>
        </p:nvSpPr>
        <p:spPr>
          <a:xfrm>
            <a:off x="640080" y="6217920"/>
            <a:ext cx="12801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22D3EE"/>
                </a:solidFill>
                <a:latin typeface="Consolas"/>
              </a:rPr>
              <a:t>&lt;/&gt;</a:t>
            </a:r>
          </a:p>
        </p:txBody>
      </p:sp>
      <p:sp>
        <p:nvSpPr>
          <p:cNvPr id="5" name="!!node0"/>
          <p:cNvSpPr/>
          <p:nvPr/>
        </p:nvSpPr>
        <p:spPr>
          <a:xfrm>
            <a:off x="10332720" y="320040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node1"/>
          <p:cNvSpPr/>
          <p:nvPr/>
        </p:nvSpPr>
        <p:spPr>
          <a:xfrm>
            <a:off x="11109960" y="640080"/>
            <a:ext cx="146304" cy="146304"/>
          </a:xfrm>
          <a:prstGeom prst="ellipse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!!node2"/>
          <p:cNvSpPr/>
          <p:nvPr/>
        </p:nvSpPr>
        <p:spPr>
          <a:xfrm>
            <a:off x="10652760" y="1188719"/>
            <a:ext cx="146304" cy="14630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node3"/>
          <p:cNvSpPr/>
          <p:nvPr/>
        </p:nvSpPr>
        <p:spPr>
          <a:xfrm>
            <a:off x="11475720" y="1280160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9" name="!!link0"/>
          <p:cNvCxnSpPr/>
          <p:nvPr/>
        </p:nvCxnSpPr>
        <p:spPr>
          <a:xfrm>
            <a:off x="10405872" y="393192"/>
            <a:ext cx="777240" cy="320039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!!link1"/>
          <p:cNvCxnSpPr/>
          <p:nvPr/>
        </p:nvCxnSpPr>
        <p:spPr>
          <a:xfrm>
            <a:off x="10405872" y="393192"/>
            <a:ext cx="320040" cy="86868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!!link2"/>
          <p:cNvCxnSpPr/>
          <p:nvPr/>
        </p:nvCxnSpPr>
        <p:spPr>
          <a:xfrm>
            <a:off x="11183112" y="713231"/>
            <a:ext cx="365760" cy="640081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!!link3"/>
          <p:cNvCxnSpPr/>
          <p:nvPr/>
        </p:nvCxnSpPr>
        <p:spPr>
          <a:xfrm>
            <a:off x="10725912" y="1261872"/>
            <a:ext cx="822960" cy="9144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!!kicker"/>
          <p:cNvSpPr txBox="1"/>
          <p:nvPr/>
        </p:nvSpPr>
        <p:spPr>
          <a:xfrm>
            <a:off x="731520" y="56692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Consolas"/>
              </a:rPr>
              <a:t>03 · persiapan</a:t>
            </a:r>
          </a:p>
        </p:txBody>
      </p:sp>
      <p:sp>
        <p:nvSpPr>
          <p:cNvPr id="14" name="!!title"/>
          <p:cNvSpPr txBox="1"/>
          <p:nvPr/>
        </p:nvSpPr>
        <p:spPr>
          <a:xfrm>
            <a:off x="731520" y="9144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600" b="1">
                <a:solidFill>
                  <a:srgbClr val="F8FAFC"/>
                </a:solidFill>
                <a:latin typeface="Segoe UI Semibold"/>
              </a:rPr>
              <a:t>Alat yang kita pakai</a:t>
            </a:r>
          </a:p>
        </p:txBody>
      </p:sp>
      <p:sp>
        <p:nvSpPr>
          <p:cNvPr id="15" name="!!card0"/>
          <p:cNvSpPr/>
          <p:nvPr/>
        </p:nvSpPr>
        <p:spPr>
          <a:xfrm>
            <a:off x="731520" y="2148840"/>
            <a:ext cx="3393338" cy="292608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!!chip0"/>
          <p:cNvSpPr/>
          <p:nvPr/>
        </p:nvSpPr>
        <p:spPr>
          <a:xfrm>
            <a:off x="1005840" y="242316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22D3EE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!!chipTxt0"/>
          <p:cNvSpPr txBox="1"/>
          <p:nvPr/>
        </p:nvSpPr>
        <p:spPr>
          <a:xfrm>
            <a:off x="1005840" y="242316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Consolas"/>
              </a:rPr>
              <a:t>01</a:t>
            </a:r>
          </a:p>
        </p:txBody>
      </p:sp>
      <p:sp>
        <p:nvSpPr>
          <p:cNvPr id="18" name="!!cardH0"/>
          <p:cNvSpPr txBox="1"/>
          <p:nvPr/>
        </p:nvSpPr>
        <p:spPr>
          <a:xfrm>
            <a:off x="1005840" y="3063240"/>
            <a:ext cx="2844698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F8FAFC"/>
                </a:solidFill>
                <a:latin typeface="Segoe UI Semibold"/>
              </a:rPr>
              <a:t>VS Code</a:t>
            </a:r>
          </a:p>
        </p:txBody>
      </p:sp>
      <p:sp>
        <p:nvSpPr>
          <p:cNvPr id="19" name="!!cardD0"/>
          <p:cNvSpPr txBox="1"/>
          <p:nvPr/>
        </p:nvSpPr>
        <p:spPr>
          <a:xfrm>
            <a:off x="1005840" y="3566160"/>
            <a:ext cx="2844698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Teks editor untuk menulis kode HTML dan CSS.</a:t>
            </a:r>
          </a:p>
        </p:txBody>
      </p:sp>
      <p:sp>
        <p:nvSpPr>
          <p:cNvPr id="20" name="!!card1"/>
          <p:cNvSpPr/>
          <p:nvPr/>
        </p:nvSpPr>
        <p:spPr>
          <a:xfrm>
            <a:off x="4399178" y="2148840"/>
            <a:ext cx="3393338" cy="292608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!!chip1"/>
          <p:cNvSpPr/>
          <p:nvPr/>
        </p:nvSpPr>
        <p:spPr>
          <a:xfrm>
            <a:off x="4673498" y="242316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818CF8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!!chipTxt1"/>
          <p:cNvSpPr txBox="1"/>
          <p:nvPr/>
        </p:nvSpPr>
        <p:spPr>
          <a:xfrm>
            <a:off x="4673498" y="242316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818CF8"/>
                </a:solidFill>
                <a:latin typeface="Consolas"/>
              </a:rPr>
              <a:t>02</a:t>
            </a:r>
          </a:p>
        </p:txBody>
      </p:sp>
      <p:sp>
        <p:nvSpPr>
          <p:cNvPr id="23" name="!!cardH1"/>
          <p:cNvSpPr txBox="1"/>
          <p:nvPr/>
        </p:nvSpPr>
        <p:spPr>
          <a:xfrm>
            <a:off x="4673498" y="3063240"/>
            <a:ext cx="2844698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F8FAFC"/>
                </a:solidFill>
                <a:latin typeface="Segoe UI Semibold"/>
              </a:rPr>
              <a:t>Live Server</a:t>
            </a:r>
          </a:p>
        </p:txBody>
      </p:sp>
      <p:sp>
        <p:nvSpPr>
          <p:cNvPr id="24" name="!!cardD1"/>
          <p:cNvSpPr txBox="1"/>
          <p:nvPr/>
        </p:nvSpPr>
        <p:spPr>
          <a:xfrm>
            <a:off x="4673498" y="3566160"/>
            <a:ext cx="2844698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Ekstensi VS Code: hasil langsung tampil dan ter-update saat disimpan.</a:t>
            </a:r>
          </a:p>
        </p:txBody>
      </p:sp>
      <p:sp>
        <p:nvSpPr>
          <p:cNvPr id="25" name="!!card2"/>
          <p:cNvSpPr/>
          <p:nvPr/>
        </p:nvSpPr>
        <p:spPr>
          <a:xfrm>
            <a:off x="8066836" y="2148840"/>
            <a:ext cx="3393338" cy="292608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!!chip2"/>
          <p:cNvSpPr/>
          <p:nvPr/>
        </p:nvSpPr>
        <p:spPr>
          <a:xfrm>
            <a:off x="8341156" y="242316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34D399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!!chipTxt2"/>
          <p:cNvSpPr txBox="1"/>
          <p:nvPr/>
        </p:nvSpPr>
        <p:spPr>
          <a:xfrm>
            <a:off x="8341156" y="242316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34D399"/>
                </a:solidFill>
                <a:latin typeface="Consolas"/>
              </a:rPr>
              <a:t>03</a:t>
            </a:r>
          </a:p>
        </p:txBody>
      </p:sp>
      <p:sp>
        <p:nvSpPr>
          <p:cNvPr id="28" name="!!cardH2"/>
          <p:cNvSpPr txBox="1"/>
          <p:nvPr/>
        </p:nvSpPr>
        <p:spPr>
          <a:xfrm>
            <a:off x="8341156" y="3063240"/>
            <a:ext cx="2844698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F8FAFC"/>
                </a:solidFill>
                <a:latin typeface="Segoe UI Semibold"/>
              </a:rPr>
              <a:t>Google Chrome</a:t>
            </a:r>
          </a:p>
        </p:txBody>
      </p:sp>
      <p:sp>
        <p:nvSpPr>
          <p:cNvPr id="29" name="!!cardD2"/>
          <p:cNvSpPr txBox="1"/>
          <p:nvPr/>
        </p:nvSpPr>
        <p:spPr>
          <a:xfrm>
            <a:off x="8341156" y="3566160"/>
            <a:ext cx="2844698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Peramban untuk melihat hasil dan memeriksa tampilan (Inspect).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A"/>
          <p:cNvSpPr/>
          <p:nvPr/>
        </p:nvSpPr>
        <p:spPr>
          <a:xfrm>
            <a:off x="8961120" y="3291840"/>
            <a:ext cx="5303520" cy="530352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>
            <a:softEdge rad="1143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!!glowB"/>
          <p:cNvSpPr/>
          <p:nvPr/>
        </p:nvSpPr>
        <p:spPr>
          <a:xfrm>
            <a:off x="-1097280" y="-2011680"/>
            <a:ext cx="4023360" cy="4023360"/>
          </a:xfrm>
          <a:prstGeom prst="ellipse">
            <a:avLst/>
          </a:prstGeom>
          <a:solidFill>
            <a:srgbClr val="818CF8">
              <a:alpha val="18000"/>
            </a:srgbClr>
          </a:solidFill>
          <a:ln>
            <a:noFill/>
          </a:ln>
          <a:effectLst>
            <a:softEdge rad="1143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bracket"/>
          <p:cNvSpPr txBox="1"/>
          <p:nvPr/>
        </p:nvSpPr>
        <p:spPr>
          <a:xfrm>
            <a:off x="10241280" y="6217920"/>
            <a:ext cx="12801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22D3EE"/>
                </a:solidFill>
                <a:latin typeface="Consolas"/>
              </a:rPr>
              <a:t>&lt;/&gt;</a:t>
            </a:r>
          </a:p>
        </p:txBody>
      </p:sp>
      <p:sp>
        <p:nvSpPr>
          <p:cNvPr id="5" name="!!node0"/>
          <p:cNvSpPr/>
          <p:nvPr/>
        </p:nvSpPr>
        <p:spPr>
          <a:xfrm>
            <a:off x="10515600" y="365760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node1"/>
          <p:cNvSpPr/>
          <p:nvPr/>
        </p:nvSpPr>
        <p:spPr>
          <a:xfrm>
            <a:off x="11292840" y="685800"/>
            <a:ext cx="146304" cy="146304"/>
          </a:xfrm>
          <a:prstGeom prst="ellipse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!!node2"/>
          <p:cNvSpPr/>
          <p:nvPr/>
        </p:nvSpPr>
        <p:spPr>
          <a:xfrm>
            <a:off x="10835640" y="1234440"/>
            <a:ext cx="146304" cy="14630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node3"/>
          <p:cNvSpPr/>
          <p:nvPr/>
        </p:nvSpPr>
        <p:spPr>
          <a:xfrm>
            <a:off x="11658600" y="1325880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9" name="!!link0"/>
          <p:cNvCxnSpPr/>
          <p:nvPr/>
        </p:nvCxnSpPr>
        <p:spPr>
          <a:xfrm>
            <a:off x="10588752" y="438912"/>
            <a:ext cx="777240" cy="32004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!!link1"/>
          <p:cNvCxnSpPr/>
          <p:nvPr/>
        </p:nvCxnSpPr>
        <p:spPr>
          <a:xfrm>
            <a:off x="10588752" y="438912"/>
            <a:ext cx="320040" cy="86868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!!link2"/>
          <p:cNvCxnSpPr/>
          <p:nvPr/>
        </p:nvCxnSpPr>
        <p:spPr>
          <a:xfrm>
            <a:off x="11365992" y="758952"/>
            <a:ext cx="365760" cy="64008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!!link3"/>
          <p:cNvCxnSpPr/>
          <p:nvPr/>
        </p:nvCxnSpPr>
        <p:spPr>
          <a:xfrm>
            <a:off x="10908792" y="1307592"/>
            <a:ext cx="822960" cy="9144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!!kicker"/>
          <p:cNvSpPr txBox="1"/>
          <p:nvPr/>
        </p:nvSpPr>
        <p:spPr>
          <a:xfrm>
            <a:off x="731520" y="56692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Consolas"/>
              </a:rPr>
              <a:t>04 · html</a:t>
            </a:r>
          </a:p>
        </p:txBody>
      </p:sp>
      <p:sp>
        <p:nvSpPr>
          <p:cNvPr id="14" name="!!title"/>
          <p:cNvSpPr txBox="1"/>
          <p:nvPr/>
        </p:nvSpPr>
        <p:spPr>
          <a:xfrm>
            <a:off x="731520" y="9144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600" b="1">
                <a:solidFill>
                  <a:srgbClr val="F8FAFC"/>
                </a:solidFill>
                <a:latin typeface="Segoe UI Semibold"/>
              </a:rPr>
              <a:t>Struktur dasar HTML</a:t>
            </a:r>
          </a:p>
        </p:txBody>
      </p:sp>
      <p:sp>
        <p:nvSpPr>
          <p:cNvPr id="15" name="!!editor"/>
          <p:cNvSpPr/>
          <p:nvPr/>
        </p:nvSpPr>
        <p:spPr>
          <a:xfrm>
            <a:off x="731520" y="1965960"/>
            <a:ext cx="7680960" cy="4023360"/>
          </a:xfrm>
          <a:prstGeom prst="roundRect">
            <a:avLst>
              <a:gd name="adj" fmla="val 4000"/>
            </a:avLst>
          </a:prstGeom>
          <a:solidFill>
            <a:srgbClr val="151F33"/>
          </a:solidFill>
          <a:ln w="15875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!!editorBar"/>
          <p:cNvSpPr/>
          <p:nvPr/>
        </p:nvSpPr>
        <p:spPr>
          <a:xfrm>
            <a:off x="731520" y="1965960"/>
            <a:ext cx="7680960" cy="457200"/>
          </a:xfrm>
          <a:prstGeom prst="roundRect">
            <a:avLst>
              <a:gd name="adj" fmla="val 30000"/>
            </a:avLst>
          </a:prstGeom>
          <a:solidFill>
            <a:srgbClr val="1C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!!dot0"/>
          <p:cNvSpPr/>
          <p:nvPr/>
        </p:nvSpPr>
        <p:spPr>
          <a:xfrm>
            <a:off x="960120" y="2121408"/>
            <a:ext cx="146304" cy="146304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!!dot1"/>
          <p:cNvSpPr/>
          <p:nvPr/>
        </p:nvSpPr>
        <p:spPr>
          <a:xfrm>
            <a:off x="1216152" y="2121408"/>
            <a:ext cx="146304" cy="146304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!!dot2"/>
          <p:cNvSpPr/>
          <p:nvPr/>
        </p:nvSpPr>
        <p:spPr>
          <a:xfrm>
            <a:off x="1472184" y="2121408"/>
            <a:ext cx="146304" cy="14630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!!fileName"/>
          <p:cNvSpPr txBox="1"/>
          <p:nvPr/>
        </p:nvSpPr>
        <p:spPr>
          <a:xfrm>
            <a:off x="1874519" y="2066543"/>
            <a:ext cx="63093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Consolas"/>
              </a:rPr>
              <a:t>index.html</a:t>
            </a:r>
          </a:p>
        </p:txBody>
      </p:sp>
      <p:sp>
        <p:nvSpPr>
          <p:cNvPr id="21" name="!!code"/>
          <p:cNvSpPr txBox="1"/>
          <p:nvPr/>
        </p:nvSpPr>
        <p:spPr>
          <a:xfrm>
            <a:off x="1051560" y="2651760"/>
            <a:ext cx="7132320" cy="3154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>
                <a:solidFill>
                  <a:srgbClr val="F8FAFC"/>
                </a:solidFill>
                <a:latin typeface="Consolas"/>
              </a:rPr>
              <a:t>&lt;!DOCTYPE html&gt;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>
                <a:solidFill>
                  <a:srgbClr val="F8FAFC"/>
                </a:solidFill>
                <a:latin typeface="Consolas"/>
              </a:rPr>
              <a:t>&lt;html lang="id"&gt;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>
                <a:solidFill>
                  <a:srgbClr val="F8FAFC"/>
                </a:solidFill>
                <a:latin typeface="Consolas"/>
              </a:rPr>
              <a:t>&lt;head&gt;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>
                <a:solidFill>
                  <a:srgbClr val="F8FAFC"/>
                </a:solidFill>
                <a:latin typeface="Consolas"/>
              </a:rPr>
              <a:t>  &lt;meta charset="UTF-8"&gt;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>
                <a:solidFill>
                  <a:srgbClr val="F8FAFC"/>
                </a:solidFill>
                <a:latin typeface="Consolas"/>
              </a:rPr>
              <a:t>  &lt;title&gt;Judul di Tab&lt;/title&gt;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>
                <a:solidFill>
                  <a:srgbClr val="F8FAFC"/>
                </a:solidFill>
                <a:latin typeface="Consolas"/>
              </a:rPr>
              <a:t>&lt;/head&gt;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>
                <a:solidFill>
                  <a:srgbClr val="F8FAFC"/>
                </a:solidFill>
                <a:latin typeface="Consolas"/>
              </a:rPr>
              <a:t>&lt;body&gt;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>
                <a:solidFill>
                  <a:srgbClr val="F8FAFC"/>
                </a:solidFill>
                <a:latin typeface="Consolas"/>
              </a:rPr>
              <a:t>  &lt;h1&gt;Halo, web pertamaku!&lt;/h1&gt;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>
                <a:solidFill>
                  <a:srgbClr val="F8FAFC"/>
                </a:solidFill>
                <a:latin typeface="Consolas"/>
              </a:rPr>
              <a:t>  &lt;p&gt;Isi halaman ada di body.&lt;/p&gt;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>
                <a:solidFill>
                  <a:srgbClr val="F8FAFC"/>
                </a:solidFill>
                <a:latin typeface="Consolas"/>
              </a:rPr>
              <a:t>&lt;/body&gt;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>
                <a:solidFill>
                  <a:srgbClr val="F8FAFC"/>
                </a:solidFill>
                <a:latin typeface="Consolas"/>
              </a:rPr>
              <a:t>&lt;/html&gt;</a:t>
            </a:r>
          </a:p>
        </p:txBody>
      </p:sp>
      <p:sp>
        <p:nvSpPr>
          <p:cNvPr id="22" name="!!body"/>
          <p:cNvSpPr txBox="1"/>
          <p:nvPr/>
        </p:nvSpPr>
        <p:spPr>
          <a:xfrm>
            <a:off x="8778240" y="2148840"/>
            <a:ext cx="2743200" cy="3840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600" b="0">
                <a:solidFill>
                  <a:srgbClr val="F8FAFC"/>
                </a:solidFill>
                <a:latin typeface="Segoe UI"/>
              </a:rPr>
              <a:t>&lt;head&gt; berisi info halaman yang tidak tampil.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600" b="0">
                <a:solidFill>
                  <a:srgbClr val="F8FAFC"/>
                </a:solidFill>
                <a:latin typeface="Segoe UI"/>
              </a:rPr>
              <a:t>&lt;body&gt; berisi semua yang tampil di layar.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A"/>
          <p:cNvSpPr/>
          <p:nvPr/>
        </p:nvSpPr>
        <p:spPr>
          <a:xfrm>
            <a:off x="7498079" y="-2194560"/>
            <a:ext cx="5486400" cy="548640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>
            <a:softEdge rad="1143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!!glowB"/>
          <p:cNvSpPr/>
          <p:nvPr/>
        </p:nvSpPr>
        <p:spPr>
          <a:xfrm>
            <a:off x="548640" y="4206240"/>
            <a:ext cx="3840480" cy="3840480"/>
          </a:xfrm>
          <a:prstGeom prst="ellipse">
            <a:avLst/>
          </a:prstGeom>
          <a:solidFill>
            <a:srgbClr val="818CF8">
              <a:alpha val="18000"/>
            </a:srgbClr>
          </a:solidFill>
          <a:ln>
            <a:noFill/>
          </a:ln>
          <a:effectLst>
            <a:softEdge rad="1143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bracket"/>
          <p:cNvSpPr txBox="1"/>
          <p:nvPr/>
        </p:nvSpPr>
        <p:spPr>
          <a:xfrm>
            <a:off x="548640" y="6217920"/>
            <a:ext cx="12801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22D3EE"/>
                </a:solidFill>
                <a:latin typeface="Consolas"/>
              </a:rPr>
              <a:t>&lt;/&gt;</a:t>
            </a:r>
          </a:p>
        </p:txBody>
      </p:sp>
      <p:sp>
        <p:nvSpPr>
          <p:cNvPr id="5" name="!!node0"/>
          <p:cNvSpPr/>
          <p:nvPr/>
        </p:nvSpPr>
        <p:spPr>
          <a:xfrm>
            <a:off x="10287000" y="256032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node1"/>
          <p:cNvSpPr/>
          <p:nvPr/>
        </p:nvSpPr>
        <p:spPr>
          <a:xfrm>
            <a:off x="11064240" y="576072"/>
            <a:ext cx="146304" cy="146304"/>
          </a:xfrm>
          <a:prstGeom prst="ellipse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!!node2"/>
          <p:cNvSpPr/>
          <p:nvPr/>
        </p:nvSpPr>
        <p:spPr>
          <a:xfrm>
            <a:off x="10607040" y="1124712"/>
            <a:ext cx="146304" cy="14630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node3"/>
          <p:cNvSpPr/>
          <p:nvPr/>
        </p:nvSpPr>
        <p:spPr>
          <a:xfrm>
            <a:off x="11430000" y="1216152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9" name="!!link0"/>
          <p:cNvCxnSpPr/>
          <p:nvPr/>
        </p:nvCxnSpPr>
        <p:spPr>
          <a:xfrm>
            <a:off x="10360152" y="329184"/>
            <a:ext cx="777240" cy="32004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!!link1"/>
          <p:cNvCxnSpPr/>
          <p:nvPr/>
        </p:nvCxnSpPr>
        <p:spPr>
          <a:xfrm>
            <a:off x="10360152" y="329184"/>
            <a:ext cx="320040" cy="86868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!!link2"/>
          <p:cNvCxnSpPr/>
          <p:nvPr/>
        </p:nvCxnSpPr>
        <p:spPr>
          <a:xfrm>
            <a:off x="11137392" y="649224"/>
            <a:ext cx="365760" cy="64008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!!link3"/>
          <p:cNvCxnSpPr/>
          <p:nvPr/>
        </p:nvCxnSpPr>
        <p:spPr>
          <a:xfrm>
            <a:off x="10680192" y="1197864"/>
            <a:ext cx="822960" cy="9144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!!kicker"/>
          <p:cNvSpPr txBox="1"/>
          <p:nvPr/>
        </p:nvSpPr>
        <p:spPr>
          <a:xfrm>
            <a:off x="731520" y="56692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Consolas"/>
              </a:rPr>
              <a:t>05 · html</a:t>
            </a:r>
          </a:p>
        </p:txBody>
      </p:sp>
      <p:sp>
        <p:nvSpPr>
          <p:cNvPr id="14" name="!!title"/>
          <p:cNvSpPr txBox="1"/>
          <p:nvPr/>
        </p:nvSpPr>
        <p:spPr>
          <a:xfrm>
            <a:off x="731520" y="9144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600" b="1">
                <a:solidFill>
                  <a:srgbClr val="F8FAFC"/>
                </a:solidFill>
                <a:latin typeface="Segoe UI Semibold"/>
              </a:rPr>
              <a:t>Tag dasar HTML</a:t>
            </a:r>
          </a:p>
        </p:txBody>
      </p:sp>
      <p:sp>
        <p:nvSpPr>
          <p:cNvPr id="15" name="!!card0"/>
          <p:cNvSpPr/>
          <p:nvPr/>
        </p:nvSpPr>
        <p:spPr>
          <a:xfrm>
            <a:off x="731520" y="2148840"/>
            <a:ext cx="3393338" cy="182880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!!chip0"/>
          <p:cNvSpPr/>
          <p:nvPr/>
        </p:nvSpPr>
        <p:spPr>
          <a:xfrm>
            <a:off x="1005840" y="242316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22D3EE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!!chipTxt0"/>
          <p:cNvSpPr txBox="1"/>
          <p:nvPr/>
        </p:nvSpPr>
        <p:spPr>
          <a:xfrm>
            <a:off x="1005840" y="242316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Consolas"/>
              </a:rPr>
              <a:t>01</a:t>
            </a:r>
          </a:p>
        </p:txBody>
      </p:sp>
      <p:sp>
        <p:nvSpPr>
          <p:cNvPr id="18" name="!!cardH0"/>
          <p:cNvSpPr txBox="1"/>
          <p:nvPr/>
        </p:nvSpPr>
        <p:spPr>
          <a:xfrm>
            <a:off x="1691640" y="2423160"/>
            <a:ext cx="2204618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F8FAFC"/>
                </a:solidFill>
                <a:latin typeface="Segoe UI Semibold"/>
              </a:rPr>
              <a:t>&lt;h1&gt; – &lt;h6&gt;</a:t>
            </a:r>
          </a:p>
        </p:txBody>
      </p:sp>
      <p:sp>
        <p:nvSpPr>
          <p:cNvPr id="19" name="!!cardD0"/>
          <p:cNvSpPr txBox="1"/>
          <p:nvPr/>
        </p:nvSpPr>
        <p:spPr>
          <a:xfrm>
            <a:off x="1005840" y="3108960"/>
            <a:ext cx="2844698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Judul; h1 paling besar.</a:t>
            </a:r>
          </a:p>
        </p:txBody>
      </p:sp>
      <p:sp>
        <p:nvSpPr>
          <p:cNvPr id="20" name="!!card1"/>
          <p:cNvSpPr/>
          <p:nvPr/>
        </p:nvSpPr>
        <p:spPr>
          <a:xfrm>
            <a:off x="4399178" y="2148840"/>
            <a:ext cx="3393338" cy="182880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!!chip1"/>
          <p:cNvSpPr/>
          <p:nvPr/>
        </p:nvSpPr>
        <p:spPr>
          <a:xfrm>
            <a:off x="4673498" y="242316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818CF8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!!chipTxt1"/>
          <p:cNvSpPr txBox="1"/>
          <p:nvPr/>
        </p:nvSpPr>
        <p:spPr>
          <a:xfrm>
            <a:off x="4673498" y="242316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818CF8"/>
                </a:solidFill>
                <a:latin typeface="Consolas"/>
              </a:rPr>
              <a:t>02</a:t>
            </a:r>
          </a:p>
        </p:txBody>
      </p:sp>
      <p:sp>
        <p:nvSpPr>
          <p:cNvPr id="23" name="!!cardH1"/>
          <p:cNvSpPr txBox="1"/>
          <p:nvPr/>
        </p:nvSpPr>
        <p:spPr>
          <a:xfrm>
            <a:off x="5359298" y="2423160"/>
            <a:ext cx="2204618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F8FAFC"/>
                </a:solidFill>
                <a:latin typeface="Segoe UI Semibold"/>
              </a:rPr>
              <a:t>&lt;p&gt;</a:t>
            </a:r>
          </a:p>
        </p:txBody>
      </p:sp>
      <p:sp>
        <p:nvSpPr>
          <p:cNvPr id="24" name="!!cardD1"/>
          <p:cNvSpPr txBox="1"/>
          <p:nvPr/>
        </p:nvSpPr>
        <p:spPr>
          <a:xfrm>
            <a:off x="4673498" y="3108960"/>
            <a:ext cx="2844698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Paragraf teks.</a:t>
            </a:r>
          </a:p>
        </p:txBody>
      </p:sp>
      <p:sp>
        <p:nvSpPr>
          <p:cNvPr id="25" name="!!card2"/>
          <p:cNvSpPr/>
          <p:nvPr/>
        </p:nvSpPr>
        <p:spPr>
          <a:xfrm>
            <a:off x="8066836" y="2148840"/>
            <a:ext cx="3393338" cy="182880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!!chip2"/>
          <p:cNvSpPr/>
          <p:nvPr/>
        </p:nvSpPr>
        <p:spPr>
          <a:xfrm>
            <a:off x="8341156" y="242316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34D399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!!chipTxt2"/>
          <p:cNvSpPr txBox="1"/>
          <p:nvPr/>
        </p:nvSpPr>
        <p:spPr>
          <a:xfrm>
            <a:off x="8341156" y="242316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34D399"/>
                </a:solidFill>
                <a:latin typeface="Consolas"/>
              </a:rPr>
              <a:t>03</a:t>
            </a:r>
          </a:p>
        </p:txBody>
      </p:sp>
      <p:sp>
        <p:nvSpPr>
          <p:cNvPr id="28" name="!!cardH2"/>
          <p:cNvSpPr txBox="1"/>
          <p:nvPr/>
        </p:nvSpPr>
        <p:spPr>
          <a:xfrm>
            <a:off x="9026956" y="2423160"/>
            <a:ext cx="2204618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F8FAFC"/>
                </a:solidFill>
                <a:latin typeface="Segoe UI Semibold"/>
              </a:rPr>
              <a:t>&lt;a href&gt;</a:t>
            </a:r>
          </a:p>
        </p:txBody>
      </p:sp>
      <p:sp>
        <p:nvSpPr>
          <p:cNvPr id="29" name="!!cardD2"/>
          <p:cNvSpPr txBox="1"/>
          <p:nvPr/>
        </p:nvSpPr>
        <p:spPr>
          <a:xfrm>
            <a:off x="8341156" y="3108960"/>
            <a:ext cx="2844698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Tautan ke halaman lain.</a:t>
            </a:r>
          </a:p>
        </p:txBody>
      </p:sp>
      <p:sp>
        <p:nvSpPr>
          <p:cNvPr id="30" name="!!card3"/>
          <p:cNvSpPr/>
          <p:nvPr/>
        </p:nvSpPr>
        <p:spPr>
          <a:xfrm>
            <a:off x="731520" y="4251960"/>
            <a:ext cx="3393338" cy="182880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!!chip3"/>
          <p:cNvSpPr/>
          <p:nvPr/>
        </p:nvSpPr>
        <p:spPr>
          <a:xfrm>
            <a:off x="1005840" y="452628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BBF2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!!chipTxt3"/>
          <p:cNvSpPr txBox="1"/>
          <p:nvPr/>
        </p:nvSpPr>
        <p:spPr>
          <a:xfrm>
            <a:off x="1005840" y="452628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BBF24"/>
                </a:solidFill>
                <a:latin typeface="Consolas"/>
              </a:rPr>
              <a:t>04</a:t>
            </a:r>
          </a:p>
        </p:txBody>
      </p:sp>
      <p:sp>
        <p:nvSpPr>
          <p:cNvPr id="33" name="!!cardH3"/>
          <p:cNvSpPr txBox="1"/>
          <p:nvPr/>
        </p:nvSpPr>
        <p:spPr>
          <a:xfrm>
            <a:off x="1691640" y="4526280"/>
            <a:ext cx="2204618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F8FAFC"/>
                </a:solidFill>
                <a:latin typeface="Segoe UI Semibold"/>
              </a:rPr>
              <a:t>&lt;img src alt&gt;</a:t>
            </a:r>
          </a:p>
        </p:txBody>
      </p:sp>
      <p:sp>
        <p:nvSpPr>
          <p:cNvPr id="34" name="!!cardD3"/>
          <p:cNvSpPr txBox="1"/>
          <p:nvPr/>
        </p:nvSpPr>
        <p:spPr>
          <a:xfrm>
            <a:off x="1005840" y="5212080"/>
            <a:ext cx="2844698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Menampilkan gambar.</a:t>
            </a:r>
          </a:p>
        </p:txBody>
      </p:sp>
      <p:sp>
        <p:nvSpPr>
          <p:cNvPr id="35" name="!!card4"/>
          <p:cNvSpPr/>
          <p:nvPr/>
        </p:nvSpPr>
        <p:spPr>
          <a:xfrm>
            <a:off x="4399178" y="4251960"/>
            <a:ext cx="3393338" cy="182880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!!chip4"/>
          <p:cNvSpPr/>
          <p:nvPr/>
        </p:nvSpPr>
        <p:spPr>
          <a:xfrm>
            <a:off x="4673498" y="452628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22D3EE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!!chipTxt4"/>
          <p:cNvSpPr txBox="1"/>
          <p:nvPr/>
        </p:nvSpPr>
        <p:spPr>
          <a:xfrm>
            <a:off x="4673498" y="452628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Consolas"/>
              </a:rPr>
              <a:t>05</a:t>
            </a:r>
          </a:p>
        </p:txBody>
      </p:sp>
      <p:sp>
        <p:nvSpPr>
          <p:cNvPr id="38" name="!!cardH4"/>
          <p:cNvSpPr txBox="1"/>
          <p:nvPr/>
        </p:nvSpPr>
        <p:spPr>
          <a:xfrm>
            <a:off x="5359298" y="4526280"/>
            <a:ext cx="2204618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F8FAFC"/>
                </a:solidFill>
                <a:latin typeface="Segoe UI Semibold"/>
              </a:rPr>
              <a:t>&lt;ul&gt; &lt;li&gt;</a:t>
            </a:r>
          </a:p>
        </p:txBody>
      </p:sp>
      <p:sp>
        <p:nvSpPr>
          <p:cNvPr id="39" name="!!cardD4"/>
          <p:cNvSpPr txBox="1"/>
          <p:nvPr/>
        </p:nvSpPr>
        <p:spPr>
          <a:xfrm>
            <a:off x="4673498" y="5212080"/>
            <a:ext cx="2844698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Daftar berbutir.</a:t>
            </a:r>
          </a:p>
        </p:txBody>
      </p:sp>
      <p:sp>
        <p:nvSpPr>
          <p:cNvPr id="40" name="!!card5"/>
          <p:cNvSpPr/>
          <p:nvPr/>
        </p:nvSpPr>
        <p:spPr>
          <a:xfrm>
            <a:off x="8066836" y="4251960"/>
            <a:ext cx="3393338" cy="182880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!!chip5"/>
          <p:cNvSpPr/>
          <p:nvPr/>
        </p:nvSpPr>
        <p:spPr>
          <a:xfrm>
            <a:off x="8341156" y="452628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818CF8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!!chipTxt5"/>
          <p:cNvSpPr txBox="1"/>
          <p:nvPr/>
        </p:nvSpPr>
        <p:spPr>
          <a:xfrm>
            <a:off x="8341156" y="452628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818CF8"/>
                </a:solidFill>
                <a:latin typeface="Consolas"/>
              </a:rPr>
              <a:t>06</a:t>
            </a:r>
          </a:p>
        </p:txBody>
      </p:sp>
      <p:sp>
        <p:nvSpPr>
          <p:cNvPr id="43" name="!!cardH5"/>
          <p:cNvSpPr txBox="1"/>
          <p:nvPr/>
        </p:nvSpPr>
        <p:spPr>
          <a:xfrm>
            <a:off x="9026956" y="4526280"/>
            <a:ext cx="2204618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F8FAFC"/>
                </a:solidFill>
                <a:latin typeface="Segoe UI Semibold"/>
              </a:rPr>
              <a:t>&lt;div&gt;</a:t>
            </a:r>
          </a:p>
        </p:txBody>
      </p:sp>
      <p:sp>
        <p:nvSpPr>
          <p:cNvPr id="44" name="!!cardD5"/>
          <p:cNvSpPr txBox="1"/>
          <p:nvPr/>
        </p:nvSpPr>
        <p:spPr>
          <a:xfrm>
            <a:off x="8341156" y="5212080"/>
            <a:ext cx="2844698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Wadah untuk mengelompokkan elemen.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A"/>
          <p:cNvSpPr/>
          <p:nvPr/>
        </p:nvSpPr>
        <p:spPr>
          <a:xfrm>
            <a:off x="7863840" y="-2011680"/>
            <a:ext cx="5852160" cy="585216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>
            <a:softEdge rad="1143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!!glowB"/>
          <p:cNvSpPr/>
          <p:nvPr/>
        </p:nvSpPr>
        <p:spPr>
          <a:xfrm>
            <a:off x="182880" y="3291840"/>
            <a:ext cx="4572000" cy="4572000"/>
          </a:xfrm>
          <a:prstGeom prst="ellipse">
            <a:avLst/>
          </a:prstGeom>
          <a:solidFill>
            <a:srgbClr val="818CF8">
              <a:alpha val="18000"/>
            </a:srgbClr>
          </a:solidFill>
          <a:ln>
            <a:noFill/>
          </a:ln>
          <a:effectLst>
            <a:softEdge rad="1143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bracket"/>
          <p:cNvSpPr txBox="1"/>
          <p:nvPr/>
        </p:nvSpPr>
        <p:spPr>
          <a:xfrm>
            <a:off x="10378440" y="6217920"/>
            <a:ext cx="12801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22D3EE"/>
                </a:solidFill>
                <a:latin typeface="Consolas"/>
              </a:rPr>
              <a:t>&lt;/&gt;</a:t>
            </a:r>
          </a:p>
        </p:txBody>
      </p:sp>
      <p:sp>
        <p:nvSpPr>
          <p:cNvPr id="5" name="!!node0"/>
          <p:cNvSpPr/>
          <p:nvPr/>
        </p:nvSpPr>
        <p:spPr>
          <a:xfrm>
            <a:off x="10469880" y="274320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node1"/>
          <p:cNvSpPr/>
          <p:nvPr/>
        </p:nvSpPr>
        <p:spPr>
          <a:xfrm>
            <a:off x="11247119" y="594359"/>
            <a:ext cx="146304" cy="146304"/>
          </a:xfrm>
          <a:prstGeom prst="ellipse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!!node2"/>
          <p:cNvSpPr/>
          <p:nvPr/>
        </p:nvSpPr>
        <p:spPr>
          <a:xfrm>
            <a:off x="10789919" y="1143000"/>
            <a:ext cx="146304" cy="14630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node3"/>
          <p:cNvSpPr/>
          <p:nvPr/>
        </p:nvSpPr>
        <p:spPr>
          <a:xfrm>
            <a:off x="11612880" y="1234440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9" name="!!link0"/>
          <p:cNvCxnSpPr/>
          <p:nvPr/>
        </p:nvCxnSpPr>
        <p:spPr>
          <a:xfrm>
            <a:off x="10543032" y="347472"/>
            <a:ext cx="777240" cy="320039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!!link1"/>
          <p:cNvCxnSpPr/>
          <p:nvPr/>
        </p:nvCxnSpPr>
        <p:spPr>
          <a:xfrm>
            <a:off x="10543032" y="347472"/>
            <a:ext cx="320040" cy="86868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!!link2"/>
          <p:cNvCxnSpPr/>
          <p:nvPr/>
        </p:nvCxnSpPr>
        <p:spPr>
          <a:xfrm>
            <a:off x="11320272" y="667511"/>
            <a:ext cx="365760" cy="640081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!!link3"/>
          <p:cNvCxnSpPr/>
          <p:nvPr/>
        </p:nvCxnSpPr>
        <p:spPr>
          <a:xfrm>
            <a:off x="10863072" y="1216152"/>
            <a:ext cx="822960" cy="9144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!!kicker"/>
          <p:cNvSpPr txBox="1"/>
          <p:nvPr/>
        </p:nvSpPr>
        <p:spPr>
          <a:xfrm>
            <a:off x="731520" y="56692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Consolas"/>
              </a:rPr>
              <a:t>06 · css</a:t>
            </a:r>
          </a:p>
        </p:txBody>
      </p:sp>
      <p:sp>
        <p:nvSpPr>
          <p:cNvPr id="14" name="!!title"/>
          <p:cNvSpPr txBox="1"/>
          <p:nvPr/>
        </p:nvSpPr>
        <p:spPr>
          <a:xfrm>
            <a:off x="731520" y="9144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600" b="1">
                <a:solidFill>
                  <a:srgbClr val="F8FAFC"/>
                </a:solidFill>
                <a:latin typeface="Segoe UI Semibold"/>
              </a:rPr>
              <a:t>Apa itu CSS?</a:t>
            </a:r>
          </a:p>
        </p:txBody>
      </p:sp>
      <p:sp>
        <p:nvSpPr>
          <p:cNvPr id="15" name="!!editor"/>
          <p:cNvSpPr/>
          <p:nvPr/>
        </p:nvSpPr>
        <p:spPr>
          <a:xfrm>
            <a:off x="731520" y="1965960"/>
            <a:ext cx="7680960" cy="4023360"/>
          </a:xfrm>
          <a:prstGeom prst="roundRect">
            <a:avLst>
              <a:gd name="adj" fmla="val 4000"/>
            </a:avLst>
          </a:prstGeom>
          <a:solidFill>
            <a:srgbClr val="151F33"/>
          </a:solidFill>
          <a:ln w="15875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!!editorBar"/>
          <p:cNvSpPr/>
          <p:nvPr/>
        </p:nvSpPr>
        <p:spPr>
          <a:xfrm>
            <a:off x="731520" y="1965960"/>
            <a:ext cx="7680960" cy="457200"/>
          </a:xfrm>
          <a:prstGeom prst="roundRect">
            <a:avLst>
              <a:gd name="adj" fmla="val 30000"/>
            </a:avLst>
          </a:prstGeom>
          <a:solidFill>
            <a:srgbClr val="1C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!!dot0"/>
          <p:cNvSpPr/>
          <p:nvPr/>
        </p:nvSpPr>
        <p:spPr>
          <a:xfrm>
            <a:off x="960120" y="2121408"/>
            <a:ext cx="146304" cy="146304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!!dot1"/>
          <p:cNvSpPr/>
          <p:nvPr/>
        </p:nvSpPr>
        <p:spPr>
          <a:xfrm>
            <a:off x="1216152" y="2121408"/>
            <a:ext cx="146304" cy="146304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!!dot2"/>
          <p:cNvSpPr/>
          <p:nvPr/>
        </p:nvSpPr>
        <p:spPr>
          <a:xfrm>
            <a:off x="1472184" y="2121408"/>
            <a:ext cx="146304" cy="14630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!!fileName"/>
          <p:cNvSpPr txBox="1"/>
          <p:nvPr/>
        </p:nvSpPr>
        <p:spPr>
          <a:xfrm>
            <a:off x="1874519" y="2066543"/>
            <a:ext cx="63093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Consolas"/>
              </a:rPr>
              <a:t>style.css</a:t>
            </a:r>
          </a:p>
        </p:txBody>
      </p:sp>
      <p:sp>
        <p:nvSpPr>
          <p:cNvPr id="21" name="!!code"/>
          <p:cNvSpPr txBox="1"/>
          <p:nvPr/>
        </p:nvSpPr>
        <p:spPr>
          <a:xfrm>
            <a:off x="1051560" y="2651760"/>
            <a:ext cx="7132320" cy="3154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>
                <a:solidFill>
                  <a:srgbClr val="F8FAFC"/>
                </a:solidFill>
                <a:latin typeface="Consolas"/>
              </a:rPr>
              <a:t>selector 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>
                <a:solidFill>
                  <a:srgbClr val="F8FAFC"/>
                </a:solidFill>
                <a:latin typeface="Consolas"/>
              </a:rPr>
              <a:t>  properti: nilai;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>
                <a:solidFill>
                  <a:srgbClr val="F8FAFC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>
                <a:solidFill>
                  <a:srgbClr val="F8FAFC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>
                <a:solidFill>
                  <a:srgbClr val="F8FAFC"/>
                </a:solidFill>
                <a:latin typeface="Consolas"/>
              </a:rPr>
              <a:t>h1 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>
                <a:solidFill>
                  <a:srgbClr val="F8FAFC"/>
                </a:solidFill>
                <a:latin typeface="Consolas"/>
              </a:rPr>
              <a:t>  color: navy;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>
                <a:solidFill>
                  <a:srgbClr val="F8FAFC"/>
                </a:solidFill>
                <a:latin typeface="Consolas"/>
              </a:rPr>
              <a:t>  text-align: center;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>
                <a:solidFill>
                  <a:srgbClr val="F8FAFC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>
                <a:solidFill>
                  <a:srgbClr val="F8FAFC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>
                <a:solidFill>
                  <a:srgbClr val="F8FAFC"/>
                </a:solidFill>
                <a:latin typeface="Consolas"/>
              </a:rPr>
              <a:t>.kartu 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>
                <a:solidFill>
                  <a:srgbClr val="F8FAFC"/>
                </a:solidFill>
                <a:latin typeface="Consolas"/>
              </a:rPr>
              <a:t>  padding: 20px;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>
                <a:solidFill>
                  <a:srgbClr val="F8FAFC"/>
                </a:solidFill>
                <a:latin typeface="Consolas"/>
              </a:rPr>
              <a:t>  border-radius: 10px;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>
                <a:solidFill>
                  <a:srgbClr val="F8FAFC"/>
                </a:solidFill>
                <a:latin typeface="Consolas"/>
              </a:rPr>
              <a:t>}</a:t>
            </a:r>
          </a:p>
        </p:txBody>
      </p:sp>
      <p:sp>
        <p:nvSpPr>
          <p:cNvPr id="22" name="!!body"/>
          <p:cNvSpPr txBox="1"/>
          <p:nvPr/>
        </p:nvSpPr>
        <p:spPr>
          <a:xfrm>
            <a:off x="8778240" y="2148840"/>
            <a:ext cx="2743200" cy="3840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600" b="0">
                <a:solidFill>
                  <a:srgbClr val="F8FAFC"/>
                </a:solidFill>
                <a:latin typeface="Segoe UI"/>
              </a:rPr>
              <a:t>Selector menunjuk elemen yang diberi gaya.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600" b="0">
                <a:solidFill>
                  <a:srgbClr val="F8FAFC"/>
                </a:solidFill>
                <a:latin typeface="Segoe UI"/>
              </a:rPr>
              <a:t>Class diawali titik: .kartu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A"/>
          <p:cNvSpPr/>
          <p:nvPr/>
        </p:nvSpPr>
        <p:spPr>
          <a:xfrm>
            <a:off x="8778240" y="-1463040"/>
            <a:ext cx="5120640" cy="512064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>
            <a:softEdge rad="1143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!!glowB"/>
          <p:cNvSpPr/>
          <p:nvPr/>
        </p:nvSpPr>
        <p:spPr>
          <a:xfrm>
            <a:off x="-1280160" y="4023360"/>
            <a:ext cx="4206240" cy="4206240"/>
          </a:xfrm>
          <a:prstGeom prst="ellipse">
            <a:avLst/>
          </a:prstGeom>
          <a:solidFill>
            <a:srgbClr val="818CF8">
              <a:alpha val="18000"/>
            </a:srgbClr>
          </a:solidFill>
          <a:ln>
            <a:noFill/>
          </a:ln>
          <a:effectLst>
            <a:softEdge rad="1143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bracket"/>
          <p:cNvSpPr txBox="1"/>
          <p:nvPr/>
        </p:nvSpPr>
        <p:spPr>
          <a:xfrm>
            <a:off x="502920" y="6217920"/>
            <a:ext cx="12801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22D3EE"/>
                </a:solidFill>
                <a:latin typeface="Consolas"/>
              </a:rPr>
              <a:t>&lt;/&gt;</a:t>
            </a:r>
          </a:p>
        </p:txBody>
      </p:sp>
      <p:sp>
        <p:nvSpPr>
          <p:cNvPr id="5" name="!!node0"/>
          <p:cNvSpPr/>
          <p:nvPr/>
        </p:nvSpPr>
        <p:spPr>
          <a:xfrm>
            <a:off x="10241280" y="365760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node1"/>
          <p:cNvSpPr/>
          <p:nvPr/>
        </p:nvSpPr>
        <p:spPr>
          <a:xfrm>
            <a:off x="11018519" y="685800"/>
            <a:ext cx="146304" cy="146304"/>
          </a:xfrm>
          <a:prstGeom prst="ellipse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!!node2"/>
          <p:cNvSpPr/>
          <p:nvPr/>
        </p:nvSpPr>
        <p:spPr>
          <a:xfrm>
            <a:off x="10561319" y="1234440"/>
            <a:ext cx="146304" cy="14630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node3"/>
          <p:cNvSpPr/>
          <p:nvPr/>
        </p:nvSpPr>
        <p:spPr>
          <a:xfrm>
            <a:off x="11384280" y="1325880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9" name="!!link0"/>
          <p:cNvCxnSpPr/>
          <p:nvPr/>
        </p:nvCxnSpPr>
        <p:spPr>
          <a:xfrm>
            <a:off x="10314432" y="438912"/>
            <a:ext cx="777240" cy="32004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!!link1"/>
          <p:cNvCxnSpPr/>
          <p:nvPr/>
        </p:nvCxnSpPr>
        <p:spPr>
          <a:xfrm>
            <a:off x="10314432" y="438912"/>
            <a:ext cx="320040" cy="86868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!!link2"/>
          <p:cNvCxnSpPr/>
          <p:nvPr/>
        </p:nvCxnSpPr>
        <p:spPr>
          <a:xfrm>
            <a:off x="11091672" y="758952"/>
            <a:ext cx="365760" cy="64008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!!link3"/>
          <p:cNvCxnSpPr/>
          <p:nvPr/>
        </p:nvCxnSpPr>
        <p:spPr>
          <a:xfrm>
            <a:off x="10634472" y="1307592"/>
            <a:ext cx="822960" cy="9144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!!kicker"/>
          <p:cNvSpPr txBox="1"/>
          <p:nvPr/>
        </p:nvSpPr>
        <p:spPr>
          <a:xfrm>
            <a:off x="731520" y="56692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Consolas"/>
              </a:rPr>
              <a:t>07 · css</a:t>
            </a:r>
          </a:p>
        </p:txBody>
      </p:sp>
      <p:sp>
        <p:nvSpPr>
          <p:cNvPr id="14" name="!!title"/>
          <p:cNvSpPr txBox="1"/>
          <p:nvPr/>
        </p:nvSpPr>
        <p:spPr>
          <a:xfrm>
            <a:off x="731520" y="9144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600" b="1">
                <a:solidFill>
                  <a:srgbClr val="F8FAFC"/>
                </a:solidFill>
                <a:latin typeface="Segoe UI Semibold"/>
              </a:rPr>
              <a:t>3 cara memasang CSS</a:t>
            </a:r>
          </a:p>
        </p:txBody>
      </p:sp>
      <p:sp>
        <p:nvSpPr>
          <p:cNvPr id="15" name="!!card0"/>
          <p:cNvSpPr/>
          <p:nvPr/>
        </p:nvSpPr>
        <p:spPr>
          <a:xfrm>
            <a:off x="731520" y="2148840"/>
            <a:ext cx="3393338" cy="292608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!!chip0"/>
          <p:cNvSpPr/>
          <p:nvPr/>
        </p:nvSpPr>
        <p:spPr>
          <a:xfrm>
            <a:off x="1005840" y="242316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22D3EE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!!chipTxt0"/>
          <p:cNvSpPr txBox="1"/>
          <p:nvPr/>
        </p:nvSpPr>
        <p:spPr>
          <a:xfrm>
            <a:off x="1005840" y="242316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Consolas"/>
              </a:rPr>
              <a:t>01</a:t>
            </a:r>
          </a:p>
        </p:txBody>
      </p:sp>
      <p:sp>
        <p:nvSpPr>
          <p:cNvPr id="18" name="!!cardH0"/>
          <p:cNvSpPr txBox="1"/>
          <p:nvPr/>
        </p:nvSpPr>
        <p:spPr>
          <a:xfrm>
            <a:off x="1005840" y="3063240"/>
            <a:ext cx="2844698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F8FAFC"/>
                </a:solidFill>
                <a:latin typeface="Segoe UI Semibold"/>
              </a:rPr>
              <a:t>Inline</a:t>
            </a:r>
          </a:p>
        </p:txBody>
      </p:sp>
      <p:sp>
        <p:nvSpPr>
          <p:cNvPr id="19" name="!!cardD0"/>
          <p:cNvSpPr txBox="1"/>
          <p:nvPr/>
        </p:nvSpPr>
        <p:spPr>
          <a:xfrm>
            <a:off x="1005840" y="3566160"/>
            <a:ext cx="2844698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Langsung di tag lewat atribut style="...". Hanya untuk satu elemen.</a:t>
            </a:r>
          </a:p>
        </p:txBody>
      </p:sp>
      <p:sp>
        <p:nvSpPr>
          <p:cNvPr id="20" name="!!card1"/>
          <p:cNvSpPr/>
          <p:nvPr/>
        </p:nvSpPr>
        <p:spPr>
          <a:xfrm>
            <a:off x="4399178" y="2148840"/>
            <a:ext cx="3393338" cy="292608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!!chip1"/>
          <p:cNvSpPr/>
          <p:nvPr/>
        </p:nvSpPr>
        <p:spPr>
          <a:xfrm>
            <a:off x="4673498" y="242316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818CF8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!!chipTxt1"/>
          <p:cNvSpPr txBox="1"/>
          <p:nvPr/>
        </p:nvSpPr>
        <p:spPr>
          <a:xfrm>
            <a:off x="4673498" y="242316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818CF8"/>
                </a:solidFill>
                <a:latin typeface="Consolas"/>
              </a:rPr>
              <a:t>02</a:t>
            </a:r>
          </a:p>
        </p:txBody>
      </p:sp>
      <p:sp>
        <p:nvSpPr>
          <p:cNvPr id="23" name="!!cardH1"/>
          <p:cNvSpPr txBox="1"/>
          <p:nvPr/>
        </p:nvSpPr>
        <p:spPr>
          <a:xfrm>
            <a:off x="4673498" y="3063240"/>
            <a:ext cx="2844698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F8FAFC"/>
                </a:solidFill>
                <a:latin typeface="Segoe UI Semibold"/>
              </a:rPr>
              <a:t>Internal</a:t>
            </a:r>
          </a:p>
        </p:txBody>
      </p:sp>
      <p:sp>
        <p:nvSpPr>
          <p:cNvPr id="24" name="!!cardD1"/>
          <p:cNvSpPr txBox="1"/>
          <p:nvPr/>
        </p:nvSpPr>
        <p:spPr>
          <a:xfrm>
            <a:off x="4673498" y="3566160"/>
            <a:ext cx="2844698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Tag &lt;style&gt; di dalam &lt;head&gt;. Berlaku untuk satu halaman.</a:t>
            </a:r>
          </a:p>
        </p:txBody>
      </p:sp>
      <p:sp>
        <p:nvSpPr>
          <p:cNvPr id="25" name="!!card2"/>
          <p:cNvSpPr/>
          <p:nvPr/>
        </p:nvSpPr>
        <p:spPr>
          <a:xfrm>
            <a:off x="8066836" y="2148840"/>
            <a:ext cx="3393338" cy="292608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!!chip2"/>
          <p:cNvSpPr/>
          <p:nvPr/>
        </p:nvSpPr>
        <p:spPr>
          <a:xfrm>
            <a:off x="8341156" y="242316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34D399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!!chipTxt2"/>
          <p:cNvSpPr txBox="1"/>
          <p:nvPr/>
        </p:nvSpPr>
        <p:spPr>
          <a:xfrm>
            <a:off x="8341156" y="242316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34D399"/>
                </a:solidFill>
                <a:latin typeface="Consolas"/>
              </a:rPr>
              <a:t>03</a:t>
            </a:r>
          </a:p>
        </p:txBody>
      </p:sp>
      <p:sp>
        <p:nvSpPr>
          <p:cNvPr id="28" name="!!cardH2"/>
          <p:cNvSpPr txBox="1"/>
          <p:nvPr/>
        </p:nvSpPr>
        <p:spPr>
          <a:xfrm>
            <a:off x="8341156" y="3063240"/>
            <a:ext cx="2844698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F8FAFC"/>
                </a:solidFill>
                <a:latin typeface="Segoe UI Semibold"/>
              </a:rPr>
              <a:t>Eksternal</a:t>
            </a:r>
          </a:p>
        </p:txBody>
      </p:sp>
      <p:sp>
        <p:nvSpPr>
          <p:cNvPr id="29" name="!!cardD2"/>
          <p:cNvSpPr txBox="1"/>
          <p:nvPr/>
        </p:nvSpPr>
        <p:spPr>
          <a:xfrm>
            <a:off x="8341156" y="3566160"/>
            <a:ext cx="2844698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File style.css ditautkan dengan &lt;link&gt;. Paling disarankan untuk proyek.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A"/>
          <p:cNvSpPr/>
          <p:nvPr/>
        </p:nvSpPr>
        <p:spPr>
          <a:xfrm>
            <a:off x="9509760" y="3108960"/>
            <a:ext cx="4754880" cy="475488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>
            <a:softEdge rad="1143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!!glowB"/>
          <p:cNvSpPr/>
          <p:nvPr/>
        </p:nvSpPr>
        <p:spPr>
          <a:xfrm>
            <a:off x="-1645920" y="-1463040"/>
            <a:ext cx="4389120" cy="4389120"/>
          </a:xfrm>
          <a:prstGeom prst="ellipse">
            <a:avLst/>
          </a:prstGeom>
          <a:solidFill>
            <a:srgbClr val="818CF8">
              <a:alpha val="18000"/>
            </a:srgbClr>
          </a:solidFill>
          <a:ln>
            <a:noFill/>
          </a:ln>
          <a:effectLst>
            <a:softEdge rad="1143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bracket"/>
          <p:cNvSpPr txBox="1"/>
          <p:nvPr/>
        </p:nvSpPr>
        <p:spPr>
          <a:xfrm>
            <a:off x="10515600" y="6217920"/>
            <a:ext cx="12801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22D3EE"/>
                </a:solidFill>
                <a:latin typeface="Consolas"/>
              </a:rPr>
              <a:t>&lt;/&gt;</a:t>
            </a:r>
          </a:p>
        </p:txBody>
      </p:sp>
      <p:sp>
        <p:nvSpPr>
          <p:cNvPr id="5" name="!!node0"/>
          <p:cNvSpPr/>
          <p:nvPr/>
        </p:nvSpPr>
        <p:spPr>
          <a:xfrm>
            <a:off x="10561320" y="228600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node1"/>
          <p:cNvSpPr/>
          <p:nvPr/>
        </p:nvSpPr>
        <p:spPr>
          <a:xfrm>
            <a:off x="11338560" y="548640"/>
            <a:ext cx="146304" cy="146304"/>
          </a:xfrm>
          <a:prstGeom prst="ellipse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!!node2"/>
          <p:cNvSpPr/>
          <p:nvPr/>
        </p:nvSpPr>
        <p:spPr>
          <a:xfrm>
            <a:off x="10881360" y="1097280"/>
            <a:ext cx="146304" cy="14630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node3"/>
          <p:cNvSpPr/>
          <p:nvPr/>
        </p:nvSpPr>
        <p:spPr>
          <a:xfrm>
            <a:off x="11704320" y="1188720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9" name="!!link0"/>
          <p:cNvCxnSpPr/>
          <p:nvPr/>
        </p:nvCxnSpPr>
        <p:spPr>
          <a:xfrm>
            <a:off x="10634472" y="301752"/>
            <a:ext cx="777240" cy="32004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!!link1"/>
          <p:cNvCxnSpPr/>
          <p:nvPr/>
        </p:nvCxnSpPr>
        <p:spPr>
          <a:xfrm>
            <a:off x="10634472" y="301752"/>
            <a:ext cx="320040" cy="86868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!!link2"/>
          <p:cNvCxnSpPr/>
          <p:nvPr/>
        </p:nvCxnSpPr>
        <p:spPr>
          <a:xfrm>
            <a:off x="11411712" y="621792"/>
            <a:ext cx="365760" cy="64008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!!link3"/>
          <p:cNvCxnSpPr/>
          <p:nvPr/>
        </p:nvCxnSpPr>
        <p:spPr>
          <a:xfrm>
            <a:off x="10954512" y="1170432"/>
            <a:ext cx="822960" cy="9144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!!kicker"/>
          <p:cNvSpPr txBox="1"/>
          <p:nvPr/>
        </p:nvSpPr>
        <p:spPr>
          <a:xfrm>
            <a:off x="731520" y="56692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Consolas"/>
              </a:rPr>
              <a:t>08 · css</a:t>
            </a:r>
          </a:p>
        </p:txBody>
      </p:sp>
      <p:sp>
        <p:nvSpPr>
          <p:cNvPr id="14" name="!!title"/>
          <p:cNvSpPr txBox="1"/>
          <p:nvPr/>
        </p:nvSpPr>
        <p:spPr>
          <a:xfrm>
            <a:off x="731520" y="9144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600" b="1">
                <a:solidFill>
                  <a:srgbClr val="F8FAFC"/>
                </a:solidFill>
                <a:latin typeface="Segoe UI Semibold"/>
              </a:rPr>
              <a:t>Properti dasar &amp; box model</a:t>
            </a:r>
          </a:p>
        </p:txBody>
      </p:sp>
      <p:sp>
        <p:nvSpPr>
          <p:cNvPr id="15" name="!!body"/>
          <p:cNvSpPr txBox="1"/>
          <p:nvPr/>
        </p:nvSpPr>
        <p:spPr>
          <a:xfrm>
            <a:off x="731520" y="2057400"/>
            <a:ext cx="6035040" cy="3840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2000" b="1">
                <a:solidFill>
                  <a:srgbClr val="22D3EE"/>
                </a:solidFill>
                <a:latin typeface="Segoe UI"/>
              </a:rPr>
              <a:t>▸  </a:t>
            </a:r>
            <a:r>
              <a:rPr sz="2000" b="0">
                <a:solidFill>
                  <a:srgbClr val="F8FAFC"/>
                </a:solidFill>
                <a:latin typeface="Segoe UI"/>
              </a:rPr>
              <a:t>color, background-color, font-family, font-size, text-align</a:t>
            </a:r>
          </a:p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2000" b="1">
                <a:solidFill>
                  <a:srgbClr val="22D3EE"/>
                </a:solidFill>
                <a:latin typeface="Segoe UI"/>
              </a:rPr>
              <a:t>▸  </a:t>
            </a:r>
            <a:r>
              <a:rPr sz="2000" b="0">
                <a:solidFill>
                  <a:srgbClr val="F8FAFC"/>
                </a:solidFill>
                <a:latin typeface="Segoe UI"/>
              </a:rPr>
              <a:t>width, height, border, border-radius</a:t>
            </a:r>
          </a:p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2000" b="1">
                <a:solidFill>
                  <a:srgbClr val="22D3EE"/>
                </a:solidFill>
                <a:latin typeface="Segoe UI"/>
              </a:rPr>
              <a:t>▸  </a:t>
            </a:r>
            <a:r>
              <a:rPr sz="2000" b="0">
                <a:solidFill>
                  <a:srgbClr val="F8FAFC"/>
                </a:solidFill>
                <a:latin typeface="Segoe UI"/>
              </a:rPr>
              <a:t>Box model: content → padding → border → margin</a:t>
            </a:r>
          </a:p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2000" b="1">
                <a:solidFill>
                  <a:srgbClr val="22D3EE"/>
                </a:solidFill>
                <a:latin typeface="Segoe UI"/>
              </a:rPr>
              <a:t>▸  </a:t>
            </a:r>
            <a:r>
              <a:rPr sz="2000" b="0">
                <a:solidFill>
                  <a:srgbClr val="F8FAFC"/>
                </a:solidFill>
                <a:latin typeface="Segoe UI"/>
              </a:rPr>
              <a:t>padding = jarak di dalam, margin = jarak di luar</a:t>
            </a:r>
          </a:p>
        </p:txBody>
      </p:sp>
      <p:sp>
        <p:nvSpPr>
          <p:cNvPr id="16" name="!!editor"/>
          <p:cNvSpPr/>
          <p:nvPr/>
        </p:nvSpPr>
        <p:spPr>
          <a:xfrm>
            <a:off x="7315200" y="1920240"/>
            <a:ext cx="4114800" cy="3566160"/>
          </a:xfrm>
          <a:prstGeom prst="roundRect">
            <a:avLst>
              <a:gd name="adj" fmla="val 4000"/>
            </a:avLst>
          </a:prstGeom>
          <a:solidFill>
            <a:srgbClr val="151F33"/>
          </a:solidFill>
          <a:ln w="15875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!!editorBar"/>
          <p:cNvSpPr/>
          <p:nvPr/>
        </p:nvSpPr>
        <p:spPr>
          <a:xfrm>
            <a:off x="7315200" y="1920240"/>
            <a:ext cx="4114800" cy="457200"/>
          </a:xfrm>
          <a:prstGeom prst="roundRect">
            <a:avLst>
              <a:gd name="adj" fmla="val 30000"/>
            </a:avLst>
          </a:prstGeom>
          <a:solidFill>
            <a:srgbClr val="1C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!!dot0"/>
          <p:cNvSpPr/>
          <p:nvPr/>
        </p:nvSpPr>
        <p:spPr>
          <a:xfrm>
            <a:off x="7543800" y="2075688"/>
            <a:ext cx="146304" cy="146304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!!dot1"/>
          <p:cNvSpPr/>
          <p:nvPr/>
        </p:nvSpPr>
        <p:spPr>
          <a:xfrm>
            <a:off x="7799831" y="2075688"/>
            <a:ext cx="146304" cy="146304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!!dot2"/>
          <p:cNvSpPr/>
          <p:nvPr/>
        </p:nvSpPr>
        <p:spPr>
          <a:xfrm>
            <a:off x="8055864" y="2075688"/>
            <a:ext cx="146304" cy="14630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!!fileName"/>
          <p:cNvSpPr txBox="1"/>
          <p:nvPr/>
        </p:nvSpPr>
        <p:spPr>
          <a:xfrm>
            <a:off x="8458200" y="202082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Consolas"/>
              </a:rPr>
              <a:t>index.html</a:t>
            </a:r>
          </a:p>
        </p:txBody>
      </p:sp>
      <p:sp>
        <p:nvSpPr>
          <p:cNvPr id="22" name="!!ln0"/>
          <p:cNvSpPr/>
          <p:nvPr/>
        </p:nvSpPr>
        <p:spPr>
          <a:xfrm>
            <a:off x="7635240" y="2697480"/>
            <a:ext cx="1760220" cy="146304"/>
          </a:xfrm>
          <a:prstGeom prst="roundRect">
            <a:avLst>
              <a:gd name="adj" fmla="val 50000"/>
            </a:avLst>
          </a:prstGeom>
          <a:solidFill>
            <a:srgbClr val="22D3EE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!!ln1"/>
          <p:cNvSpPr/>
          <p:nvPr/>
        </p:nvSpPr>
        <p:spPr>
          <a:xfrm>
            <a:off x="7635240" y="3081528"/>
            <a:ext cx="2400300" cy="146304"/>
          </a:xfrm>
          <a:prstGeom prst="roundRect">
            <a:avLst>
              <a:gd name="adj" fmla="val 50000"/>
            </a:avLst>
          </a:prstGeom>
          <a:solidFill>
            <a:srgbClr val="818CF8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!!ln2"/>
          <p:cNvSpPr/>
          <p:nvPr/>
        </p:nvSpPr>
        <p:spPr>
          <a:xfrm>
            <a:off x="7909560" y="3465576"/>
            <a:ext cx="1280160" cy="146304"/>
          </a:xfrm>
          <a:prstGeom prst="roundRect">
            <a:avLst>
              <a:gd name="adj" fmla="val 50000"/>
            </a:avLst>
          </a:prstGeom>
          <a:solidFill>
            <a:srgbClr val="34D399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!!ln3"/>
          <p:cNvSpPr/>
          <p:nvPr/>
        </p:nvSpPr>
        <p:spPr>
          <a:xfrm>
            <a:off x="7909560" y="3849624"/>
            <a:ext cx="2176272" cy="146304"/>
          </a:xfrm>
          <a:prstGeom prst="roundRect">
            <a:avLst>
              <a:gd name="adj" fmla="val 50000"/>
            </a:avLst>
          </a:prstGeom>
          <a:solidFill>
            <a:srgbClr val="22D3EE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!!ln4"/>
          <p:cNvSpPr/>
          <p:nvPr/>
        </p:nvSpPr>
        <p:spPr>
          <a:xfrm>
            <a:off x="7909560" y="4233672"/>
            <a:ext cx="1600200" cy="146304"/>
          </a:xfrm>
          <a:prstGeom prst="roundRect">
            <a:avLst>
              <a:gd name="adj" fmla="val 50000"/>
            </a:avLst>
          </a:prstGeom>
          <a:solidFill>
            <a:srgbClr val="FBBF24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!!ln5"/>
          <p:cNvSpPr/>
          <p:nvPr/>
        </p:nvSpPr>
        <p:spPr>
          <a:xfrm>
            <a:off x="7635240" y="4617720"/>
            <a:ext cx="2560320" cy="146304"/>
          </a:xfrm>
          <a:prstGeom prst="roundRect">
            <a:avLst>
              <a:gd name="adj" fmla="val 50000"/>
            </a:avLst>
          </a:prstGeom>
          <a:solidFill>
            <a:srgbClr val="818CF8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!!ln6"/>
          <p:cNvSpPr/>
          <p:nvPr/>
        </p:nvSpPr>
        <p:spPr>
          <a:xfrm>
            <a:off x="7635240" y="5001768"/>
            <a:ext cx="1120139" cy="146304"/>
          </a:xfrm>
          <a:prstGeom prst="roundRect">
            <a:avLst>
              <a:gd name="adj" fmla="val 50000"/>
            </a:avLst>
          </a:prstGeom>
          <a:solidFill>
            <a:srgbClr val="34D399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A"/>
          <p:cNvSpPr/>
          <p:nvPr/>
        </p:nvSpPr>
        <p:spPr>
          <a:xfrm>
            <a:off x="-1645920" y="3840480"/>
            <a:ext cx="4937760" cy="493776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>
            <a:softEdge rad="1143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!!glowB"/>
          <p:cNvSpPr/>
          <p:nvPr/>
        </p:nvSpPr>
        <p:spPr>
          <a:xfrm>
            <a:off x="8961120" y="-1828800"/>
            <a:ext cx="4754880" cy="4754880"/>
          </a:xfrm>
          <a:prstGeom prst="ellipse">
            <a:avLst/>
          </a:prstGeom>
          <a:solidFill>
            <a:srgbClr val="818CF8">
              <a:alpha val="18000"/>
            </a:srgbClr>
          </a:solidFill>
          <a:ln>
            <a:noFill/>
          </a:ln>
          <a:effectLst>
            <a:softEdge rad="1143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bracket"/>
          <p:cNvSpPr txBox="1"/>
          <p:nvPr/>
        </p:nvSpPr>
        <p:spPr>
          <a:xfrm>
            <a:off x="640080" y="6217920"/>
            <a:ext cx="12801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22D3EE"/>
                </a:solidFill>
                <a:latin typeface="Consolas"/>
              </a:rPr>
              <a:t>&lt;/&gt;</a:t>
            </a:r>
          </a:p>
        </p:txBody>
      </p:sp>
      <p:sp>
        <p:nvSpPr>
          <p:cNvPr id="5" name="!!node0"/>
          <p:cNvSpPr/>
          <p:nvPr/>
        </p:nvSpPr>
        <p:spPr>
          <a:xfrm>
            <a:off x="10332720" y="320040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node1"/>
          <p:cNvSpPr/>
          <p:nvPr/>
        </p:nvSpPr>
        <p:spPr>
          <a:xfrm>
            <a:off x="11109960" y="640080"/>
            <a:ext cx="146304" cy="146304"/>
          </a:xfrm>
          <a:prstGeom prst="ellipse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!!node2"/>
          <p:cNvSpPr/>
          <p:nvPr/>
        </p:nvSpPr>
        <p:spPr>
          <a:xfrm>
            <a:off x="10652760" y="1188719"/>
            <a:ext cx="146304" cy="14630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node3"/>
          <p:cNvSpPr/>
          <p:nvPr/>
        </p:nvSpPr>
        <p:spPr>
          <a:xfrm>
            <a:off x="11475720" y="1280160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9" name="!!link0"/>
          <p:cNvCxnSpPr/>
          <p:nvPr/>
        </p:nvCxnSpPr>
        <p:spPr>
          <a:xfrm>
            <a:off x="10405872" y="393192"/>
            <a:ext cx="777240" cy="320039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!!link1"/>
          <p:cNvCxnSpPr/>
          <p:nvPr/>
        </p:nvCxnSpPr>
        <p:spPr>
          <a:xfrm>
            <a:off x="10405872" y="393192"/>
            <a:ext cx="320040" cy="86868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!!link2"/>
          <p:cNvCxnSpPr/>
          <p:nvPr/>
        </p:nvCxnSpPr>
        <p:spPr>
          <a:xfrm>
            <a:off x="11183112" y="713231"/>
            <a:ext cx="365760" cy="640081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!!link3"/>
          <p:cNvCxnSpPr/>
          <p:nvPr/>
        </p:nvCxnSpPr>
        <p:spPr>
          <a:xfrm>
            <a:off x="10725912" y="1261872"/>
            <a:ext cx="822960" cy="9144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!!kicker"/>
          <p:cNvSpPr txBox="1"/>
          <p:nvPr/>
        </p:nvSpPr>
        <p:spPr>
          <a:xfrm>
            <a:off x="731520" y="56692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Consolas"/>
              </a:rPr>
              <a:t>09 · praktik</a:t>
            </a:r>
          </a:p>
        </p:txBody>
      </p:sp>
      <p:sp>
        <p:nvSpPr>
          <p:cNvPr id="14" name="!!title"/>
          <p:cNvSpPr txBox="1"/>
          <p:nvPr/>
        </p:nvSpPr>
        <p:spPr>
          <a:xfrm>
            <a:off x="731520" y="9144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600" b="1">
                <a:solidFill>
                  <a:srgbClr val="F8FAFC"/>
                </a:solidFill>
                <a:latin typeface="Segoe UI Semibold"/>
              </a:rPr>
              <a:t>Ayo praktik: LKPD 1</a:t>
            </a:r>
          </a:p>
        </p:txBody>
      </p:sp>
      <p:sp>
        <p:nvSpPr>
          <p:cNvPr id="15" name="!!card0"/>
          <p:cNvSpPr/>
          <p:nvPr/>
        </p:nvSpPr>
        <p:spPr>
          <a:xfrm>
            <a:off x="731520" y="2148840"/>
            <a:ext cx="3840480" cy="3931920"/>
          </a:xfrm>
          <a:prstGeom prst="roundRect">
            <a:avLst>
              <a:gd name="adj" fmla="val 8000"/>
            </a:avLst>
          </a:prstGeom>
          <a:solidFill>
            <a:srgbClr val="151F33"/>
          </a:solidFill>
          <a:ln w="15875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!!bigTxt"/>
          <p:cNvSpPr txBox="1"/>
          <p:nvPr/>
        </p:nvSpPr>
        <p:spPr>
          <a:xfrm>
            <a:off x="731520" y="2514600"/>
            <a:ext cx="3840480" cy="18288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6400" b="1">
                <a:solidFill>
                  <a:srgbClr val="22D3EE"/>
                </a:solidFill>
                <a:latin typeface="Segoe UI Semibold"/>
              </a:rPr>
              <a:t>25'</a:t>
            </a:r>
          </a:p>
        </p:txBody>
      </p:sp>
      <p:sp>
        <p:nvSpPr>
          <p:cNvPr id="17" name="!!bigCap"/>
          <p:cNvSpPr txBox="1"/>
          <p:nvPr/>
        </p:nvSpPr>
        <p:spPr>
          <a:xfrm>
            <a:off x="1005840" y="4434840"/>
            <a:ext cx="3291840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94A3B8"/>
                </a:solidFill>
                <a:latin typeface="Segoe UI"/>
              </a:rPr>
              <a:t>Kerjakan berpasangan</a:t>
            </a:r>
          </a:p>
        </p:txBody>
      </p:sp>
      <p:sp>
        <p:nvSpPr>
          <p:cNvPr id="18" name="!!body"/>
          <p:cNvSpPr txBox="1"/>
          <p:nvPr/>
        </p:nvSpPr>
        <p:spPr>
          <a:xfrm>
            <a:off x="5120640" y="2331720"/>
            <a:ext cx="6309360" cy="3657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1600"/>
              </a:spcAft>
            </a:pPr>
            <a:r>
              <a:rPr sz="2000" b="1">
                <a:solidFill>
                  <a:srgbClr val="22D3EE"/>
                </a:solidFill>
                <a:latin typeface="Segoe UI"/>
              </a:rPr>
              <a:t>1.  </a:t>
            </a:r>
            <a:r>
              <a:rPr sz="2000" b="0">
                <a:solidFill>
                  <a:srgbClr val="F8FAFC"/>
                </a:solidFill>
                <a:latin typeface="Segoe UI"/>
              </a:rPr>
              <a:t>Jawab 5 soal pemahaman HTML &amp; CSS</a:t>
            </a:r>
          </a:p>
          <a:p>
            <a:pPr algn="l">
              <a:lnSpc>
                <a:spcPct val="120000"/>
              </a:lnSpc>
              <a:spcAft>
                <a:spcPts val="1600"/>
              </a:spcAft>
            </a:pPr>
            <a:r>
              <a:rPr sz="2000" b="1">
                <a:solidFill>
                  <a:srgbClr val="22D3EE"/>
                </a:solidFill>
                <a:latin typeface="Segoe UI"/>
              </a:rPr>
              <a:t>2.  </a:t>
            </a:r>
            <a:r>
              <a:rPr sz="2000" b="0">
                <a:solidFill>
                  <a:srgbClr val="F8FAFC"/>
                </a:solidFill>
                <a:latin typeface="Segoe UI"/>
              </a:rPr>
              <a:t>Buat "Kartu Identitas Sekolah" dengan index.html dan style.css</a:t>
            </a:r>
          </a:p>
          <a:p>
            <a:pPr algn="l">
              <a:lnSpc>
                <a:spcPct val="120000"/>
              </a:lnSpc>
              <a:spcAft>
                <a:spcPts val="1600"/>
              </a:spcAft>
            </a:pPr>
            <a:r>
              <a:rPr sz="2000" b="1">
                <a:solidFill>
                  <a:srgbClr val="22D3EE"/>
                </a:solidFill>
                <a:latin typeface="Segoe UI"/>
              </a:rPr>
              <a:t>3.  </a:t>
            </a:r>
            <a:r>
              <a:rPr sz="2000" b="0">
                <a:solidFill>
                  <a:srgbClr val="F8FAFC"/>
                </a:solidFill>
                <a:latin typeface="Segoe UI"/>
              </a:rPr>
              <a:t>Tampilkan hasilnya lewat Live Server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A"/>
          <p:cNvSpPr/>
          <p:nvPr/>
        </p:nvSpPr>
        <p:spPr>
          <a:xfrm>
            <a:off x="8961120" y="3291840"/>
            <a:ext cx="5303520" cy="530352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>
            <a:softEdge rad="1143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!!glowB"/>
          <p:cNvSpPr/>
          <p:nvPr/>
        </p:nvSpPr>
        <p:spPr>
          <a:xfrm>
            <a:off x="-1097280" y="-2011680"/>
            <a:ext cx="4023360" cy="4023360"/>
          </a:xfrm>
          <a:prstGeom prst="ellipse">
            <a:avLst/>
          </a:prstGeom>
          <a:solidFill>
            <a:srgbClr val="818CF8">
              <a:alpha val="18000"/>
            </a:srgbClr>
          </a:solidFill>
          <a:ln>
            <a:noFill/>
          </a:ln>
          <a:effectLst>
            <a:softEdge rad="1143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bracket"/>
          <p:cNvSpPr txBox="1"/>
          <p:nvPr/>
        </p:nvSpPr>
        <p:spPr>
          <a:xfrm>
            <a:off x="10241280" y="6217920"/>
            <a:ext cx="12801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22D3EE"/>
                </a:solidFill>
                <a:latin typeface="Consolas"/>
              </a:rPr>
              <a:t>&lt;/&gt;</a:t>
            </a:r>
          </a:p>
        </p:txBody>
      </p:sp>
      <p:sp>
        <p:nvSpPr>
          <p:cNvPr id="5" name="!!node0"/>
          <p:cNvSpPr/>
          <p:nvPr/>
        </p:nvSpPr>
        <p:spPr>
          <a:xfrm>
            <a:off x="10515600" y="365760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node1"/>
          <p:cNvSpPr/>
          <p:nvPr/>
        </p:nvSpPr>
        <p:spPr>
          <a:xfrm>
            <a:off x="11292840" y="685800"/>
            <a:ext cx="146304" cy="146304"/>
          </a:xfrm>
          <a:prstGeom prst="ellipse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!!node2"/>
          <p:cNvSpPr/>
          <p:nvPr/>
        </p:nvSpPr>
        <p:spPr>
          <a:xfrm>
            <a:off x="10835640" y="1234440"/>
            <a:ext cx="146304" cy="14630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node3"/>
          <p:cNvSpPr/>
          <p:nvPr/>
        </p:nvSpPr>
        <p:spPr>
          <a:xfrm>
            <a:off x="11658600" y="1325880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9" name="!!link0"/>
          <p:cNvCxnSpPr/>
          <p:nvPr/>
        </p:nvCxnSpPr>
        <p:spPr>
          <a:xfrm>
            <a:off x="10588752" y="438912"/>
            <a:ext cx="777240" cy="32004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!!link1"/>
          <p:cNvCxnSpPr/>
          <p:nvPr/>
        </p:nvCxnSpPr>
        <p:spPr>
          <a:xfrm>
            <a:off x="10588752" y="438912"/>
            <a:ext cx="320040" cy="86868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!!link2"/>
          <p:cNvCxnSpPr/>
          <p:nvPr/>
        </p:nvCxnSpPr>
        <p:spPr>
          <a:xfrm>
            <a:off x="11365992" y="758952"/>
            <a:ext cx="365760" cy="64008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!!link3"/>
          <p:cNvCxnSpPr/>
          <p:nvPr/>
        </p:nvCxnSpPr>
        <p:spPr>
          <a:xfrm>
            <a:off x="10908792" y="1307592"/>
            <a:ext cx="822960" cy="91440"/>
          </a:xfrm>
          <a:prstGeom prst="line">
            <a:avLst/>
          </a:prstGeom>
          <a:ln w="15875">
            <a:solidFill>
              <a:srgbClr val="2A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!!kicker"/>
          <p:cNvSpPr txBox="1"/>
          <p:nvPr/>
        </p:nvSpPr>
        <p:spPr>
          <a:xfrm>
            <a:off x="731520" y="214884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22D3EE"/>
                </a:solidFill>
                <a:latin typeface="Consolas"/>
              </a:rPr>
              <a:t>// selesai</a:t>
            </a:r>
          </a:p>
        </p:txBody>
      </p:sp>
      <p:sp>
        <p:nvSpPr>
          <p:cNvPr id="14" name="!!title"/>
          <p:cNvSpPr txBox="1"/>
          <p:nvPr/>
        </p:nvSpPr>
        <p:spPr>
          <a:xfrm>
            <a:off x="731520" y="2606040"/>
            <a:ext cx="1069848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6000" b="1">
                <a:solidFill>
                  <a:srgbClr val="F8FAFC"/>
                </a:solidFill>
                <a:latin typeface="Segoe UI Semibold"/>
              </a:rPr>
              <a:t>Terima Kasih</a:t>
            </a:r>
          </a:p>
        </p:txBody>
      </p:sp>
      <p:sp>
        <p:nvSpPr>
          <p:cNvPr id="15" name="!!sub"/>
          <p:cNvSpPr txBox="1"/>
          <p:nvPr/>
        </p:nvSpPr>
        <p:spPr>
          <a:xfrm>
            <a:off x="2103120" y="3886200"/>
            <a:ext cx="7955279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94A3B8"/>
                </a:solidFill>
                <a:latin typeface="Segoe UI"/>
              </a:rPr>
              <a:t>Pertemuan berikutnya: Bootstrap, lalu Quizizz berhadiah snack!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