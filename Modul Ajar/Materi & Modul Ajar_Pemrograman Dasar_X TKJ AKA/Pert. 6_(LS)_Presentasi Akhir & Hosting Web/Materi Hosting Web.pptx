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7863840" y="-2011680"/>
            <a:ext cx="5852160" cy="585216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182880" y="3291840"/>
            <a:ext cx="4572000" cy="457200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37844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469880" y="2743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247119" y="594359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789919" y="114300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612880" y="12344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543032" y="347472"/>
            <a:ext cx="777240" cy="320039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543032" y="34747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320272" y="667511"/>
            <a:ext cx="365760" cy="640081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863072" y="121615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1417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nsolas"/>
              </a:rPr>
              <a:t>// Pemrograman Dasar · X TKJ AKA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1874519"/>
            <a:ext cx="603504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5400" b="1">
                <a:solidFill>
                  <a:srgbClr val="F8FAFC"/>
                </a:solidFill>
                <a:latin typeface="Segoe UI Semibold"/>
              </a:rPr>
              <a:t>Hosting Web</a:t>
            </a:r>
          </a:p>
        </p:txBody>
      </p:sp>
      <p:sp>
        <p:nvSpPr>
          <p:cNvPr id="15" name="!!sub"/>
          <p:cNvSpPr txBox="1"/>
          <p:nvPr/>
        </p:nvSpPr>
        <p:spPr>
          <a:xfrm>
            <a:off x="731520" y="370332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Pertemuan 6 (Lesson Study): presentasi akhir dan cara membawa web ke internet</a:t>
            </a:r>
          </a:p>
        </p:txBody>
      </p:sp>
      <p:sp>
        <p:nvSpPr>
          <p:cNvPr id="16" name="!!by"/>
          <p:cNvSpPr txBox="1"/>
          <p:nvPr/>
        </p:nvSpPr>
        <p:spPr>
          <a:xfrm>
            <a:off x="731520" y="507492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Arif Herfian Zaen Chartiko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NIM 210533616009 · Asistensi Mengajar UM</a:t>
            </a:r>
          </a:p>
        </p:txBody>
      </p:sp>
      <p:sp>
        <p:nvSpPr>
          <p:cNvPr id="17" name="!!editor"/>
          <p:cNvSpPr/>
          <p:nvPr/>
        </p:nvSpPr>
        <p:spPr>
          <a:xfrm>
            <a:off x="7086600" y="1417320"/>
            <a:ext cx="4343400" cy="384048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editorBar"/>
          <p:cNvSpPr/>
          <p:nvPr/>
        </p:nvSpPr>
        <p:spPr>
          <a:xfrm>
            <a:off x="7086600" y="1417320"/>
            <a:ext cx="434340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0"/>
          <p:cNvSpPr/>
          <p:nvPr/>
        </p:nvSpPr>
        <p:spPr>
          <a:xfrm>
            <a:off x="7315200" y="157276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dot1"/>
          <p:cNvSpPr/>
          <p:nvPr/>
        </p:nvSpPr>
        <p:spPr>
          <a:xfrm>
            <a:off x="7571231" y="157276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dot2"/>
          <p:cNvSpPr/>
          <p:nvPr/>
        </p:nvSpPr>
        <p:spPr>
          <a:xfrm>
            <a:off x="7827264" y="157276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fileName"/>
          <p:cNvSpPr txBox="1"/>
          <p:nvPr/>
        </p:nvSpPr>
        <p:spPr>
          <a:xfrm>
            <a:off x="8229600" y="1517904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index.html</a:t>
            </a:r>
          </a:p>
        </p:txBody>
      </p:sp>
      <p:sp>
        <p:nvSpPr>
          <p:cNvPr id="23" name="!!ln0"/>
          <p:cNvSpPr/>
          <p:nvPr/>
        </p:nvSpPr>
        <p:spPr>
          <a:xfrm>
            <a:off x="7406640" y="2194560"/>
            <a:ext cx="188595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ln1"/>
          <p:cNvSpPr/>
          <p:nvPr/>
        </p:nvSpPr>
        <p:spPr>
          <a:xfrm>
            <a:off x="7406640" y="2578608"/>
            <a:ext cx="257175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!!ln2"/>
          <p:cNvSpPr/>
          <p:nvPr/>
        </p:nvSpPr>
        <p:spPr>
          <a:xfrm>
            <a:off x="7680960" y="2962656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ln3"/>
          <p:cNvSpPr/>
          <p:nvPr/>
        </p:nvSpPr>
        <p:spPr>
          <a:xfrm>
            <a:off x="7680960" y="3346704"/>
            <a:ext cx="233172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ln4"/>
          <p:cNvSpPr/>
          <p:nvPr/>
        </p:nvSpPr>
        <p:spPr>
          <a:xfrm>
            <a:off x="7680960" y="3730752"/>
            <a:ext cx="1714500" cy="146304"/>
          </a:xfrm>
          <a:prstGeom prst="roundRect">
            <a:avLst>
              <a:gd name="adj" fmla="val 50000"/>
            </a:avLst>
          </a:prstGeom>
          <a:solidFill>
            <a:srgbClr val="FBBF2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ln5"/>
          <p:cNvSpPr/>
          <p:nvPr/>
        </p:nvSpPr>
        <p:spPr>
          <a:xfrm>
            <a:off x="7406640" y="4114800"/>
            <a:ext cx="274320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!!ln6"/>
          <p:cNvSpPr/>
          <p:nvPr/>
        </p:nvSpPr>
        <p:spPr>
          <a:xfrm>
            <a:off x="7406640" y="4498848"/>
            <a:ext cx="120015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280160" y="4023360"/>
            <a:ext cx="4206240" cy="420624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50292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241280" y="3657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018519" y="68580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561319" y="12344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384280" y="132588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314432" y="43891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314432" y="43891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091672" y="75895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634472" y="130759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 · masalah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Kenapa perlu hosting?</a:t>
            </a:r>
          </a:p>
        </p:txBody>
      </p:sp>
      <p:sp>
        <p:nvSpPr>
          <p:cNvPr id="15" name="!!body"/>
          <p:cNvSpPr txBox="1"/>
          <p:nvPr/>
        </p:nvSpPr>
        <p:spPr>
          <a:xfrm>
            <a:off x="731520" y="2057400"/>
            <a:ext cx="6035040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▸  </a:t>
            </a:r>
            <a:r>
              <a:rPr sz="2000" b="0">
                <a:solidFill>
                  <a:srgbClr val="F8FAFC"/>
                </a:solidFill>
                <a:latin typeface="Segoe UI"/>
              </a:rPr>
              <a:t>Sekarang web kalian hanya bisa dibuka di laptop sendiri lewat Live Server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▸  </a:t>
            </a:r>
            <a:r>
              <a:rPr sz="2000" b="0">
                <a:solidFill>
                  <a:srgbClr val="F8FAFC"/>
                </a:solidFill>
                <a:latin typeface="Segoe UI"/>
              </a:rPr>
              <a:t>Agar bisa dibuka siapa pun, file web harus disimpan di server yang selalu menyala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▸  </a:t>
            </a:r>
            <a:r>
              <a:rPr sz="2000" b="0">
                <a:solidFill>
                  <a:srgbClr val="F8FAFC"/>
                </a:solidFill>
                <a:latin typeface="Segoe UI"/>
              </a:rPr>
              <a:t>Proses inilah yang disebut hosting</a:t>
            </a:r>
          </a:p>
        </p:txBody>
      </p:sp>
      <p:sp>
        <p:nvSpPr>
          <p:cNvPr id="16" name="!!editor"/>
          <p:cNvSpPr/>
          <p:nvPr/>
        </p:nvSpPr>
        <p:spPr>
          <a:xfrm>
            <a:off x="7315200" y="1920240"/>
            <a:ext cx="4114800" cy="356616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editorBar"/>
          <p:cNvSpPr/>
          <p:nvPr/>
        </p:nvSpPr>
        <p:spPr>
          <a:xfrm>
            <a:off x="7315200" y="192024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dot0"/>
          <p:cNvSpPr/>
          <p:nvPr/>
        </p:nvSpPr>
        <p:spPr>
          <a:xfrm>
            <a:off x="7543800" y="207568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1"/>
          <p:cNvSpPr/>
          <p:nvPr/>
        </p:nvSpPr>
        <p:spPr>
          <a:xfrm>
            <a:off x="7799831" y="207568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dot2"/>
          <p:cNvSpPr/>
          <p:nvPr/>
        </p:nvSpPr>
        <p:spPr>
          <a:xfrm>
            <a:off x="8055864" y="207568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fileName"/>
          <p:cNvSpPr txBox="1"/>
          <p:nvPr/>
        </p:nvSpPr>
        <p:spPr>
          <a:xfrm>
            <a:off x="8458200" y="202082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index.html</a:t>
            </a:r>
          </a:p>
        </p:txBody>
      </p:sp>
      <p:sp>
        <p:nvSpPr>
          <p:cNvPr id="22" name="!!ln0"/>
          <p:cNvSpPr/>
          <p:nvPr/>
        </p:nvSpPr>
        <p:spPr>
          <a:xfrm>
            <a:off x="7635240" y="2697480"/>
            <a:ext cx="176022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!!ln1"/>
          <p:cNvSpPr/>
          <p:nvPr/>
        </p:nvSpPr>
        <p:spPr>
          <a:xfrm>
            <a:off x="7635240" y="3081528"/>
            <a:ext cx="240030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ln2"/>
          <p:cNvSpPr/>
          <p:nvPr/>
        </p:nvSpPr>
        <p:spPr>
          <a:xfrm>
            <a:off x="7909560" y="3465576"/>
            <a:ext cx="128016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!!ln3"/>
          <p:cNvSpPr/>
          <p:nvPr/>
        </p:nvSpPr>
        <p:spPr>
          <a:xfrm>
            <a:off x="7909560" y="3849624"/>
            <a:ext cx="2176272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ln4"/>
          <p:cNvSpPr/>
          <p:nvPr/>
        </p:nvSpPr>
        <p:spPr>
          <a:xfrm>
            <a:off x="7909560" y="4233672"/>
            <a:ext cx="1600200" cy="146304"/>
          </a:xfrm>
          <a:prstGeom prst="roundRect">
            <a:avLst>
              <a:gd name="adj" fmla="val 50000"/>
            </a:avLst>
          </a:prstGeom>
          <a:solidFill>
            <a:srgbClr val="FBBF2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ln5"/>
          <p:cNvSpPr/>
          <p:nvPr/>
        </p:nvSpPr>
        <p:spPr>
          <a:xfrm>
            <a:off x="7635240" y="4617720"/>
            <a:ext cx="256032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ln6"/>
          <p:cNvSpPr/>
          <p:nvPr/>
        </p:nvSpPr>
        <p:spPr>
          <a:xfrm>
            <a:off x="7635240" y="5001768"/>
            <a:ext cx="1120139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9509760" y="3108960"/>
            <a:ext cx="4754880" cy="47548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645920" y="-1463040"/>
            <a:ext cx="4389120" cy="438912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51560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561320" y="22860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338560" y="54864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881360" y="109728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704320" y="11887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634472" y="30175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634472" y="30175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411712" y="62179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954512" y="117043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02 · istilah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Hosting, domain, server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005840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Hosting</a:t>
            </a:r>
          </a:p>
        </p:txBody>
      </p:sp>
      <p:sp>
        <p:nvSpPr>
          <p:cNvPr id="19" name="!!cardD0"/>
          <p:cNvSpPr txBox="1"/>
          <p:nvPr/>
        </p:nvSpPr>
        <p:spPr>
          <a:xfrm>
            <a:off x="1005840" y="3566160"/>
            <a:ext cx="2844698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Tempat file website disimpan, ibarat tanah dan rumahnya.</a:t>
            </a:r>
          </a:p>
        </p:txBody>
      </p:sp>
      <p:sp>
        <p:nvSpPr>
          <p:cNvPr id="20" name="!!card1"/>
          <p:cNvSpPr/>
          <p:nvPr/>
        </p:nvSpPr>
        <p:spPr>
          <a:xfrm>
            <a:off x="4399178" y="214884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1"/>
          <p:cNvSpPr/>
          <p:nvPr/>
        </p:nvSpPr>
        <p:spPr>
          <a:xfrm>
            <a:off x="4673498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chipTxt1"/>
          <p:cNvSpPr txBox="1"/>
          <p:nvPr/>
        </p:nvSpPr>
        <p:spPr>
          <a:xfrm>
            <a:off x="4673498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3" name="!!cardH1"/>
          <p:cNvSpPr txBox="1"/>
          <p:nvPr/>
        </p:nvSpPr>
        <p:spPr>
          <a:xfrm>
            <a:off x="4673498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Domain</a:t>
            </a:r>
          </a:p>
        </p:txBody>
      </p:sp>
      <p:sp>
        <p:nvSpPr>
          <p:cNvPr id="24" name="!!cardD1"/>
          <p:cNvSpPr txBox="1"/>
          <p:nvPr/>
        </p:nvSpPr>
        <p:spPr>
          <a:xfrm>
            <a:off x="4673498" y="3566160"/>
            <a:ext cx="2844698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Alamat website, misalnya smkn3malang.sch.id, ibarat alamat rumah.</a:t>
            </a:r>
          </a:p>
        </p:txBody>
      </p:sp>
      <p:sp>
        <p:nvSpPr>
          <p:cNvPr id="25" name="!!card2"/>
          <p:cNvSpPr/>
          <p:nvPr/>
        </p:nvSpPr>
        <p:spPr>
          <a:xfrm>
            <a:off x="8066836" y="214884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chip2"/>
          <p:cNvSpPr/>
          <p:nvPr/>
        </p:nvSpPr>
        <p:spPr>
          <a:xfrm>
            <a:off x="8341156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34D39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chipTxt2"/>
          <p:cNvSpPr txBox="1"/>
          <p:nvPr/>
        </p:nvSpPr>
        <p:spPr>
          <a:xfrm>
            <a:off x="8341156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8" name="!!cardH2"/>
          <p:cNvSpPr txBox="1"/>
          <p:nvPr/>
        </p:nvSpPr>
        <p:spPr>
          <a:xfrm>
            <a:off x="8341156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Server</a:t>
            </a:r>
          </a:p>
        </p:txBody>
      </p:sp>
      <p:sp>
        <p:nvSpPr>
          <p:cNvPr id="29" name="!!cardD2"/>
          <p:cNvSpPr txBox="1"/>
          <p:nvPr/>
        </p:nvSpPr>
        <p:spPr>
          <a:xfrm>
            <a:off x="8341156" y="3566160"/>
            <a:ext cx="2844698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Komputer yang mengirim website ke pengunjung.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-1645920" y="3840480"/>
            <a:ext cx="4937760" cy="493776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8961120" y="-1828800"/>
            <a:ext cx="4754880" cy="475488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64008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332720" y="3200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109960" y="64008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652760" y="1188719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475720" y="12801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405872" y="393192"/>
            <a:ext cx="777240" cy="320039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405872" y="39319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183112" y="713231"/>
            <a:ext cx="365760" cy="640081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725912" y="126187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03 · jenis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Jenis-jenis hosting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2476423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005840" y="3063240"/>
            <a:ext cx="192778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Shared</a:t>
            </a:r>
          </a:p>
        </p:txBody>
      </p:sp>
      <p:sp>
        <p:nvSpPr>
          <p:cNvPr id="19" name="!!cardD0"/>
          <p:cNvSpPr txBox="1"/>
          <p:nvPr/>
        </p:nvSpPr>
        <p:spPr>
          <a:xfrm>
            <a:off x="1005840" y="3566160"/>
            <a:ext cx="1927783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Satu server dipakai banyak web. Murah, mudah.</a:t>
            </a:r>
          </a:p>
        </p:txBody>
      </p:sp>
      <p:sp>
        <p:nvSpPr>
          <p:cNvPr id="20" name="!!card1"/>
          <p:cNvSpPr/>
          <p:nvPr/>
        </p:nvSpPr>
        <p:spPr>
          <a:xfrm>
            <a:off x="3482263" y="2148840"/>
            <a:ext cx="2476423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1"/>
          <p:cNvSpPr/>
          <p:nvPr/>
        </p:nvSpPr>
        <p:spPr>
          <a:xfrm>
            <a:off x="3756583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chipTxt1"/>
          <p:cNvSpPr txBox="1"/>
          <p:nvPr/>
        </p:nvSpPr>
        <p:spPr>
          <a:xfrm>
            <a:off x="3756583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3" name="!!cardH1"/>
          <p:cNvSpPr txBox="1"/>
          <p:nvPr/>
        </p:nvSpPr>
        <p:spPr>
          <a:xfrm>
            <a:off x="3756583" y="3063240"/>
            <a:ext cx="192778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VPS / Dedicated</a:t>
            </a:r>
          </a:p>
        </p:txBody>
      </p:sp>
      <p:sp>
        <p:nvSpPr>
          <p:cNvPr id="24" name="!!cardD1"/>
          <p:cNvSpPr txBox="1"/>
          <p:nvPr/>
        </p:nvSpPr>
        <p:spPr>
          <a:xfrm>
            <a:off x="3756583" y="3566160"/>
            <a:ext cx="1927783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Server khusus, bisa diatur sendiri.</a:t>
            </a:r>
          </a:p>
        </p:txBody>
      </p:sp>
      <p:sp>
        <p:nvSpPr>
          <p:cNvPr id="25" name="!!card2"/>
          <p:cNvSpPr/>
          <p:nvPr/>
        </p:nvSpPr>
        <p:spPr>
          <a:xfrm>
            <a:off x="6233007" y="2148840"/>
            <a:ext cx="2476423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chip2"/>
          <p:cNvSpPr/>
          <p:nvPr/>
        </p:nvSpPr>
        <p:spPr>
          <a:xfrm>
            <a:off x="6507327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34D39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chipTxt2"/>
          <p:cNvSpPr txBox="1"/>
          <p:nvPr/>
        </p:nvSpPr>
        <p:spPr>
          <a:xfrm>
            <a:off x="6507327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8" name="!!cardH2"/>
          <p:cNvSpPr txBox="1"/>
          <p:nvPr/>
        </p:nvSpPr>
        <p:spPr>
          <a:xfrm>
            <a:off x="6507327" y="3063240"/>
            <a:ext cx="192778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Cloud</a:t>
            </a:r>
          </a:p>
        </p:txBody>
      </p:sp>
      <p:sp>
        <p:nvSpPr>
          <p:cNvPr id="29" name="!!cardD2"/>
          <p:cNvSpPr txBox="1"/>
          <p:nvPr/>
        </p:nvSpPr>
        <p:spPr>
          <a:xfrm>
            <a:off x="6507327" y="3566160"/>
            <a:ext cx="1927783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Banyak server terhubung, mudah ditambah.</a:t>
            </a:r>
          </a:p>
        </p:txBody>
      </p:sp>
      <p:sp>
        <p:nvSpPr>
          <p:cNvPr id="30" name="!!card3"/>
          <p:cNvSpPr/>
          <p:nvPr/>
        </p:nvSpPr>
        <p:spPr>
          <a:xfrm>
            <a:off x="8983751" y="2148840"/>
            <a:ext cx="2476423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!!chip3"/>
          <p:cNvSpPr/>
          <p:nvPr/>
        </p:nvSpPr>
        <p:spPr>
          <a:xfrm>
            <a:off x="9258071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BBF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!!chipTxt3"/>
          <p:cNvSpPr txBox="1"/>
          <p:nvPr/>
        </p:nvSpPr>
        <p:spPr>
          <a:xfrm>
            <a:off x="9258071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Consolas"/>
              </a:rPr>
              <a:t>04</a:t>
            </a:r>
          </a:p>
        </p:txBody>
      </p:sp>
      <p:sp>
        <p:nvSpPr>
          <p:cNvPr id="33" name="!!cardH3"/>
          <p:cNvSpPr txBox="1"/>
          <p:nvPr/>
        </p:nvSpPr>
        <p:spPr>
          <a:xfrm>
            <a:off x="9258071" y="3063240"/>
            <a:ext cx="192778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Static (gratis)</a:t>
            </a:r>
          </a:p>
        </p:txBody>
      </p:sp>
      <p:sp>
        <p:nvSpPr>
          <p:cNvPr id="34" name="!!cardD3"/>
          <p:cNvSpPr txBox="1"/>
          <p:nvPr/>
        </p:nvSpPr>
        <p:spPr>
          <a:xfrm>
            <a:off x="9258071" y="3566160"/>
            <a:ext cx="1927783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Khusus HTML, CSS, Bootstrap seperti proyek kita.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8961120" y="3291840"/>
            <a:ext cx="5303520" cy="53035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097280" y="-2011680"/>
            <a:ext cx="4023360" cy="402336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24128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515600" y="3657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292840" y="68580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835640" y="12344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658600" y="132588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588752" y="43891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588752" y="43891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365992" y="75895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908792" y="130759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04 · gratis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Hosting web statis gratis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5227167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005840" y="3063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GitHub Pages</a:t>
            </a:r>
          </a:p>
        </p:txBody>
      </p:sp>
      <p:sp>
        <p:nvSpPr>
          <p:cNvPr id="19" name="!!cardD0"/>
          <p:cNvSpPr txBox="1"/>
          <p:nvPr/>
        </p:nvSpPr>
        <p:spPr>
          <a:xfrm>
            <a:off x="1005840" y="3566160"/>
            <a:ext cx="4678527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namapengguna.github.io/nama-repo. Upload ke repository lalu aktifkan Pages.</a:t>
            </a:r>
          </a:p>
        </p:txBody>
      </p:sp>
      <p:sp>
        <p:nvSpPr>
          <p:cNvPr id="20" name="!!card1"/>
          <p:cNvSpPr/>
          <p:nvPr/>
        </p:nvSpPr>
        <p:spPr>
          <a:xfrm>
            <a:off x="6233007" y="2148840"/>
            <a:ext cx="5227167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1"/>
          <p:cNvSpPr/>
          <p:nvPr/>
        </p:nvSpPr>
        <p:spPr>
          <a:xfrm>
            <a:off x="6507327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chipTxt1"/>
          <p:cNvSpPr txBox="1"/>
          <p:nvPr/>
        </p:nvSpPr>
        <p:spPr>
          <a:xfrm>
            <a:off x="6507327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3" name="!!cardH1"/>
          <p:cNvSpPr txBox="1"/>
          <p:nvPr/>
        </p:nvSpPr>
        <p:spPr>
          <a:xfrm>
            <a:off x="6507327" y="3063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Netlify</a:t>
            </a:r>
          </a:p>
        </p:txBody>
      </p:sp>
      <p:sp>
        <p:nvSpPr>
          <p:cNvPr id="24" name="!!cardD1"/>
          <p:cNvSpPr txBox="1"/>
          <p:nvPr/>
        </p:nvSpPr>
        <p:spPr>
          <a:xfrm>
            <a:off x="6507327" y="3566160"/>
            <a:ext cx="4678527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nama-situs.netlify.app. Cukup seret folder proyek ke Netlify Drop.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7498079" y="-21945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548640" y="4206240"/>
            <a:ext cx="3840480" cy="384048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54864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287000" y="25603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064240" y="576072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607040" y="1124712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430000" y="121615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360152" y="329184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360152" y="329184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137392" y="649224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680192" y="1197864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05 · demo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Langkah Netlify Drop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3840480" cy="393192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bigTxt"/>
          <p:cNvSpPr txBox="1"/>
          <p:nvPr/>
        </p:nvSpPr>
        <p:spPr>
          <a:xfrm>
            <a:off x="731520" y="2514600"/>
            <a:ext cx="3840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400" b="1">
                <a:solidFill>
                  <a:srgbClr val="22D3EE"/>
                </a:solidFill>
                <a:latin typeface="Segoe UI Semibold"/>
              </a:rPr>
              <a:t>4</a:t>
            </a:r>
          </a:p>
        </p:txBody>
      </p:sp>
      <p:sp>
        <p:nvSpPr>
          <p:cNvPr id="17" name="!!bigCap"/>
          <p:cNvSpPr txBox="1"/>
          <p:nvPr/>
        </p:nvSpPr>
        <p:spPr>
          <a:xfrm>
            <a:off x="1005840" y="4434840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langkah</a:t>
            </a:r>
          </a:p>
        </p:txBody>
      </p:sp>
      <p:sp>
        <p:nvSpPr>
          <p:cNvPr id="18" name="!!body"/>
          <p:cNvSpPr txBox="1"/>
          <p:nvPr/>
        </p:nvSpPr>
        <p:spPr>
          <a:xfrm>
            <a:off x="5120640" y="2331720"/>
            <a:ext cx="6309360" cy="3657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1.  </a:t>
            </a:r>
            <a:r>
              <a:rPr sz="2000" b="0">
                <a:solidFill>
                  <a:srgbClr val="F8FAFC"/>
                </a:solidFill>
                <a:latin typeface="Segoe UI"/>
              </a:rPr>
              <a:t>Pastikan halaman utama bernama index.html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2.  </a:t>
            </a:r>
            <a:r>
              <a:rPr sz="2000" b="0">
                <a:solidFill>
                  <a:srgbClr val="F8FAFC"/>
                </a:solidFill>
                <a:latin typeface="Segoe UI"/>
              </a:rPr>
              <a:t>Buka app.netlify.com/drop dan login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3.  </a:t>
            </a:r>
            <a:r>
              <a:rPr sz="2000" b="0">
                <a:solidFill>
                  <a:srgbClr val="F8FAFC"/>
                </a:solidFill>
                <a:latin typeface="Segoe UI"/>
              </a:rPr>
              <a:t>Seret folder proyek ke area unggah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4.  </a:t>
            </a:r>
            <a:r>
              <a:rPr sz="2000" b="0">
                <a:solidFill>
                  <a:srgbClr val="F8FAFC"/>
                </a:solidFill>
                <a:latin typeface="Segoe UI"/>
              </a:rPr>
              <a:t>Buka alamat .netlify.app dari HP teman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7863840" y="-2011680"/>
            <a:ext cx="5852160" cy="585216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182880" y="3291840"/>
            <a:ext cx="4572000" cy="457200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37844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469880" y="2743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247119" y="594359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789919" y="114300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612880" y="12344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543032" y="347472"/>
            <a:ext cx="777240" cy="320039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543032" y="34747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320272" y="667511"/>
            <a:ext cx="365760" cy="640081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863072" y="121615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06 · cek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Sebelum upload, cek ini</a:t>
            </a:r>
          </a:p>
        </p:txBody>
      </p:sp>
      <p:sp>
        <p:nvSpPr>
          <p:cNvPr id="15" name="!!body"/>
          <p:cNvSpPr txBox="1"/>
          <p:nvPr/>
        </p:nvSpPr>
        <p:spPr>
          <a:xfrm>
            <a:off x="731520" y="2057400"/>
            <a:ext cx="6035040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▸  </a:t>
            </a:r>
            <a:r>
              <a:rPr sz="2000" b="0">
                <a:solidFill>
                  <a:srgbClr val="F8FAFC"/>
                </a:solidFill>
                <a:latin typeface="Segoe UI"/>
              </a:rPr>
              <a:t>Path gambar &amp; CSS relatif, misalnya img/logo.png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▸  </a:t>
            </a:r>
            <a:r>
              <a:rPr sz="2000" b="0">
                <a:solidFill>
                  <a:srgbClr val="F8FAFC"/>
                </a:solidFill>
                <a:latin typeface="Segoe UI"/>
              </a:rPr>
              <a:t>Huruf besar-kecil nama file harus sama persis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▸  </a:t>
            </a:r>
            <a:r>
              <a:rPr sz="2000" b="0">
                <a:solidFill>
                  <a:srgbClr val="F8FAFC"/>
                </a:solidFill>
                <a:latin typeface="Segoe UI"/>
              </a:rPr>
              <a:t>Tidak ada data pribadi atau foto tanpa izin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▸  </a:t>
            </a:r>
            <a:r>
              <a:rPr sz="2000" b="0">
                <a:solidFill>
                  <a:srgbClr val="F8FAFC"/>
                </a:solidFill>
                <a:latin typeface="Segoe UI"/>
              </a:rPr>
              <a:t>Setiap perubahan file harus diunggah ulang</a:t>
            </a:r>
          </a:p>
        </p:txBody>
      </p:sp>
      <p:sp>
        <p:nvSpPr>
          <p:cNvPr id="16" name="!!editor"/>
          <p:cNvSpPr/>
          <p:nvPr/>
        </p:nvSpPr>
        <p:spPr>
          <a:xfrm>
            <a:off x="7315200" y="1920240"/>
            <a:ext cx="4114800" cy="356616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editorBar"/>
          <p:cNvSpPr/>
          <p:nvPr/>
        </p:nvSpPr>
        <p:spPr>
          <a:xfrm>
            <a:off x="7315200" y="192024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dot0"/>
          <p:cNvSpPr/>
          <p:nvPr/>
        </p:nvSpPr>
        <p:spPr>
          <a:xfrm>
            <a:off x="7543800" y="207568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1"/>
          <p:cNvSpPr/>
          <p:nvPr/>
        </p:nvSpPr>
        <p:spPr>
          <a:xfrm>
            <a:off x="7799831" y="207568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dot2"/>
          <p:cNvSpPr/>
          <p:nvPr/>
        </p:nvSpPr>
        <p:spPr>
          <a:xfrm>
            <a:off x="8055864" y="207568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fileName"/>
          <p:cNvSpPr txBox="1"/>
          <p:nvPr/>
        </p:nvSpPr>
        <p:spPr>
          <a:xfrm>
            <a:off x="8458200" y="202082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index.html</a:t>
            </a:r>
          </a:p>
        </p:txBody>
      </p:sp>
      <p:sp>
        <p:nvSpPr>
          <p:cNvPr id="22" name="!!ln0"/>
          <p:cNvSpPr/>
          <p:nvPr/>
        </p:nvSpPr>
        <p:spPr>
          <a:xfrm>
            <a:off x="7635240" y="2697480"/>
            <a:ext cx="176022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!!ln1"/>
          <p:cNvSpPr/>
          <p:nvPr/>
        </p:nvSpPr>
        <p:spPr>
          <a:xfrm>
            <a:off x="7635240" y="3081528"/>
            <a:ext cx="240030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ln2"/>
          <p:cNvSpPr/>
          <p:nvPr/>
        </p:nvSpPr>
        <p:spPr>
          <a:xfrm>
            <a:off x="7909560" y="3465576"/>
            <a:ext cx="128016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!!ln3"/>
          <p:cNvSpPr/>
          <p:nvPr/>
        </p:nvSpPr>
        <p:spPr>
          <a:xfrm>
            <a:off x="7909560" y="3849624"/>
            <a:ext cx="2176272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ln4"/>
          <p:cNvSpPr/>
          <p:nvPr/>
        </p:nvSpPr>
        <p:spPr>
          <a:xfrm>
            <a:off x="7909560" y="4233672"/>
            <a:ext cx="1600200" cy="146304"/>
          </a:xfrm>
          <a:prstGeom prst="roundRect">
            <a:avLst>
              <a:gd name="adj" fmla="val 50000"/>
            </a:avLst>
          </a:prstGeom>
          <a:solidFill>
            <a:srgbClr val="FBBF2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ln5"/>
          <p:cNvSpPr/>
          <p:nvPr/>
        </p:nvSpPr>
        <p:spPr>
          <a:xfrm>
            <a:off x="7635240" y="4617720"/>
            <a:ext cx="256032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ln6"/>
          <p:cNvSpPr/>
          <p:nvPr/>
        </p:nvSpPr>
        <p:spPr>
          <a:xfrm>
            <a:off x="7635240" y="5001768"/>
            <a:ext cx="1120139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280160" y="4023360"/>
            <a:ext cx="4206240" cy="420624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50292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241280" y="3657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018519" y="68580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561319" y="12344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384280" y="132588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314432" y="43891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314432" y="43891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091672" y="75895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634472" y="130759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07 · presentasi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Saatnya presentasi!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3840480" cy="393192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bigTxt"/>
          <p:cNvSpPr txBox="1"/>
          <p:nvPr/>
        </p:nvSpPr>
        <p:spPr>
          <a:xfrm>
            <a:off x="731520" y="2514600"/>
            <a:ext cx="3840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400" b="1">
                <a:solidFill>
                  <a:srgbClr val="22D3EE"/>
                </a:solidFill>
                <a:latin typeface="Segoe UI Semibold"/>
              </a:rPr>
              <a:t>15'</a:t>
            </a:r>
          </a:p>
        </p:txBody>
      </p:sp>
      <p:sp>
        <p:nvSpPr>
          <p:cNvPr id="17" name="!!bigCap"/>
          <p:cNvSpPr txBox="1"/>
          <p:nvPr/>
        </p:nvSpPr>
        <p:spPr>
          <a:xfrm>
            <a:off x="1005840" y="4434840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per kelompok</a:t>
            </a:r>
          </a:p>
        </p:txBody>
      </p:sp>
      <p:sp>
        <p:nvSpPr>
          <p:cNvPr id="18" name="!!body"/>
          <p:cNvSpPr txBox="1"/>
          <p:nvPr/>
        </p:nvSpPr>
        <p:spPr>
          <a:xfrm>
            <a:off x="5120640" y="2331720"/>
            <a:ext cx="6309360" cy="3657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1.  </a:t>
            </a:r>
            <a:r>
              <a:rPr sz="2000" b="0">
                <a:solidFill>
                  <a:srgbClr val="F8FAFC"/>
                </a:solidFill>
                <a:latin typeface="Segoe UI"/>
              </a:rPr>
              <a:t>± 10 menit presentasi dan demo web, 5 menit tanya jawab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2.  </a:t>
            </a:r>
            <a:r>
              <a:rPr sz="2000" b="0">
                <a:solidFill>
                  <a:srgbClr val="F8FAFC"/>
                </a:solidFill>
                <a:latin typeface="Segoe UI"/>
              </a:rPr>
              <a:t>Jelaskan tampilan, kode–fungsi–alur, pembagian peran, dan kendala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3.  </a:t>
            </a:r>
            <a:r>
              <a:rPr sz="2000" b="0">
                <a:solidFill>
                  <a:srgbClr val="F8FAFC"/>
                </a:solidFill>
                <a:latin typeface="Segoe UI"/>
              </a:rPr>
              <a:t>Dinilai Guru Pamong &amp; Guru Mata Pelajaran (rubrik WEB 2)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9509760" y="3108960"/>
            <a:ext cx="4754880" cy="47548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645920" y="-1463040"/>
            <a:ext cx="4389120" cy="438912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51560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561320" y="22860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338560" y="54864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881360" y="109728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704320" y="11887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634472" y="30175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634472" y="30175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411712" y="62179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954512" y="117043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21488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nsolas"/>
              </a:rPr>
              <a:t>// selesai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260604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8FAFC"/>
                </a:solidFill>
                <a:latin typeface="Segoe UI Semibold"/>
              </a:rPr>
              <a:t>Terima Kasih</a:t>
            </a:r>
          </a:p>
        </p:txBody>
      </p:sp>
      <p:sp>
        <p:nvSpPr>
          <p:cNvPr id="15" name="!!sub"/>
          <p:cNvSpPr txBox="1"/>
          <p:nvPr/>
        </p:nvSpPr>
        <p:spPr>
          <a:xfrm>
            <a:off x="2103120" y="3886200"/>
            <a:ext cx="795527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Terima kasih sudah berproses bersama. Web kalian adalah portofolio pertama kalian!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