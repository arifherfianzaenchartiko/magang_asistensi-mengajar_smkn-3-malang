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7863840" y="-2011680"/>
            <a:ext cx="5852160" cy="585216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182880" y="3291840"/>
            <a:ext cx="4572000" cy="457200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37844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469880" y="27432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247119" y="594359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789919" y="114300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612880" y="123444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543032" y="347472"/>
            <a:ext cx="777240" cy="320039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543032" y="34747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320272" y="667511"/>
            <a:ext cx="365760" cy="640081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863072" y="121615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1417320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nsolas"/>
              </a:rPr>
              <a:t>// Teknologi Layanan Jaringan · XI TKJ AKA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1874519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4600" b="1">
                <a:solidFill>
                  <a:srgbClr val="F8FAFC"/>
                </a:solidFill>
                <a:latin typeface="Segoe UI Semibold"/>
              </a:rPr>
              <a:t>Instalasi Perangkat Access Point</a:t>
            </a:r>
          </a:p>
        </p:txBody>
      </p:sp>
      <p:sp>
        <p:nvSpPr>
          <p:cNvPr id="15" name="!!sub"/>
          <p:cNvSpPr txBox="1"/>
          <p:nvPr/>
        </p:nvSpPr>
        <p:spPr>
          <a:xfrm>
            <a:off x="731520" y="3794760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Segoe UI"/>
              </a:rPr>
              <a:t>Cara kerja, konfigurasi awal, dan mode access point</a:t>
            </a:r>
          </a:p>
        </p:txBody>
      </p:sp>
      <p:sp>
        <p:nvSpPr>
          <p:cNvPr id="16" name="!!by"/>
          <p:cNvSpPr txBox="1"/>
          <p:nvPr/>
        </p:nvSpPr>
        <p:spPr>
          <a:xfrm>
            <a:off x="731520" y="5074920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Arif Herfian Zaen Chartiko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NIM 210533616009 · Asistensi Mengajar UM</a:t>
            </a:r>
          </a:p>
        </p:txBody>
      </p:sp>
      <p:sp>
        <p:nvSpPr>
          <p:cNvPr id="17" name="!!editor"/>
          <p:cNvSpPr/>
          <p:nvPr/>
        </p:nvSpPr>
        <p:spPr>
          <a:xfrm>
            <a:off x="7086600" y="1417320"/>
            <a:ext cx="4343400" cy="3840480"/>
          </a:xfrm>
          <a:prstGeom prst="roundRect">
            <a:avLst>
              <a:gd name="adj" fmla="val 4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editorBar"/>
          <p:cNvSpPr/>
          <p:nvPr/>
        </p:nvSpPr>
        <p:spPr>
          <a:xfrm>
            <a:off x="7086600" y="1417320"/>
            <a:ext cx="4343400" cy="457200"/>
          </a:xfrm>
          <a:prstGeom prst="roundRect">
            <a:avLst>
              <a:gd name="adj" fmla="val 30000"/>
            </a:avLst>
          </a:prstGeom>
          <a:solidFill>
            <a:srgbClr val="1C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dot0"/>
          <p:cNvSpPr/>
          <p:nvPr/>
        </p:nvSpPr>
        <p:spPr>
          <a:xfrm>
            <a:off x="7315200" y="1572768"/>
            <a:ext cx="146304" cy="146304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dot1"/>
          <p:cNvSpPr/>
          <p:nvPr/>
        </p:nvSpPr>
        <p:spPr>
          <a:xfrm>
            <a:off x="7571231" y="1572768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dot2"/>
          <p:cNvSpPr/>
          <p:nvPr/>
        </p:nvSpPr>
        <p:spPr>
          <a:xfrm>
            <a:off x="7827264" y="157276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fileName"/>
          <p:cNvSpPr txBox="1"/>
          <p:nvPr/>
        </p:nvSpPr>
        <p:spPr>
          <a:xfrm>
            <a:off x="8229600" y="1517904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access-point.cfg</a:t>
            </a:r>
          </a:p>
        </p:txBody>
      </p:sp>
      <p:sp>
        <p:nvSpPr>
          <p:cNvPr id="23" name="!!ln0"/>
          <p:cNvSpPr/>
          <p:nvPr/>
        </p:nvSpPr>
        <p:spPr>
          <a:xfrm>
            <a:off x="7406640" y="2194560"/>
            <a:ext cx="1885950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!!ln1"/>
          <p:cNvSpPr/>
          <p:nvPr/>
        </p:nvSpPr>
        <p:spPr>
          <a:xfrm>
            <a:off x="7406640" y="2578608"/>
            <a:ext cx="257175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!!ln2"/>
          <p:cNvSpPr/>
          <p:nvPr/>
        </p:nvSpPr>
        <p:spPr>
          <a:xfrm>
            <a:off x="7680960" y="2962656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ln3"/>
          <p:cNvSpPr/>
          <p:nvPr/>
        </p:nvSpPr>
        <p:spPr>
          <a:xfrm>
            <a:off x="7680960" y="3346704"/>
            <a:ext cx="2331720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ln4"/>
          <p:cNvSpPr/>
          <p:nvPr/>
        </p:nvSpPr>
        <p:spPr>
          <a:xfrm>
            <a:off x="7680960" y="3730752"/>
            <a:ext cx="1714500" cy="146304"/>
          </a:xfrm>
          <a:prstGeom prst="roundRect">
            <a:avLst>
              <a:gd name="adj" fmla="val 50000"/>
            </a:avLst>
          </a:prstGeom>
          <a:solidFill>
            <a:srgbClr val="FBBF2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!!ln5"/>
          <p:cNvSpPr/>
          <p:nvPr/>
        </p:nvSpPr>
        <p:spPr>
          <a:xfrm>
            <a:off x="7406640" y="4114800"/>
            <a:ext cx="274320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!!ln6"/>
          <p:cNvSpPr/>
          <p:nvPr/>
        </p:nvSpPr>
        <p:spPr>
          <a:xfrm>
            <a:off x="7406640" y="4498848"/>
            <a:ext cx="1200150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280160" y="4023360"/>
            <a:ext cx="4206240" cy="420624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50292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241280" y="3657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018519" y="68580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561319" y="123444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384280" y="132588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314432" y="43891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314432" y="43891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091672" y="75895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634472" y="130759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01 · pengertian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Apa itu access point?</a:t>
            </a:r>
          </a:p>
        </p:txBody>
      </p:sp>
      <p:sp>
        <p:nvSpPr>
          <p:cNvPr id="15" name="!!body"/>
          <p:cNvSpPr txBox="1"/>
          <p:nvPr/>
        </p:nvSpPr>
        <p:spPr>
          <a:xfrm>
            <a:off x="731520" y="2057400"/>
            <a:ext cx="6035040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9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900" b="0">
                <a:solidFill>
                  <a:srgbClr val="F8FAFC"/>
                </a:solidFill>
                <a:latin typeface="Segoe UI"/>
              </a:rPr>
              <a:t>Perangkat yang memungkinkan perangkat nirkabel terhubung ke jaringan kabel menggunakan Wi-Fi atau standar nirkabel lainnya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9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900" b="0">
                <a:solidFill>
                  <a:srgbClr val="F8FAFC"/>
                </a:solidFill>
                <a:latin typeface="Segoe UI"/>
              </a:rPr>
              <a:t>Menjadi penghubung antara perangkat nirkabel (laptop, HP) dan jaringan kabel</a:t>
            </a:r>
          </a:p>
        </p:txBody>
      </p:sp>
      <p:sp>
        <p:nvSpPr>
          <p:cNvPr id="16" name="!!editor"/>
          <p:cNvSpPr/>
          <p:nvPr/>
        </p:nvSpPr>
        <p:spPr>
          <a:xfrm>
            <a:off x="7315200" y="1920240"/>
            <a:ext cx="4114800" cy="3566160"/>
          </a:xfrm>
          <a:prstGeom prst="roundRect">
            <a:avLst>
              <a:gd name="adj" fmla="val 4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editorBar"/>
          <p:cNvSpPr/>
          <p:nvPr/>
        </p:nvSpPr>
        <p:spPr>
          <a:xfrm>
            <a:off x="7315200" y="1920240"/>
            <a:ext cx="4114800" cy="457200"/>
          </a:xfrm>
          <a:prstGeom prst="roundRect">
            <a:avLst>
              <a:gd name="adj" fmla="val 30000"/>
            </a:avLst>
          </a:prstGeom>
          <a:solidFill>
            <a:srgbClr val="1C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dot0"/>
          <p:cNvSpPr/>
          <p:nvPr/>
        </p:nvSpPr>
        <p:spPr>
          <a:xfrm>
            <a:off x="7543800" y="2075688"/>
            <a:ext cx="146304" cy="146304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dot1"/>
          <p:cNvSpPr/>
          <p:nvPr/>
        </p:nvSpPr>
        <p:spPr>
          <a:xfrm>
            <a:off x="7799831" y="2075688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dot2"/>
          <p:cNvSpPr/>
          <p:nvPr/>
        </p:nvSpPr>
        <p:spPr>
          <a:xfrm>
            <a:off x="8055864" y="207568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fileName"/>
          <p:cNvSpPr txBox="1"/>
          <p:nvPr/>
        </p:nvSpPr>
        <p:spPr>
          <a:xfrm>
            <a:off x="8458200" y="202082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access-point.cfg</a:t>
            </a:r>
          </a:p>
        </p:txBody>
      </p:sp>
      <p:sp>
        <p:nvSpPr>
          <p:cNvPr id="22" name="!!ln0"/>
          <p:cNvSpPr/>
          <p:nvPr/>
        </p:nvSpPr>
        <p:spPr>
          <a:xfrm>
            <a:off x="7635240" y="2697480"/>
            <a:ext cx="1760220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!!ln1"/>
          <p:cNvSpPr/>
          <p:nvPr/>
        </p:nvSpPr>
        <p:spPr>
          <a:xfrm>
            <a:off x="7635240" y="3081528"/>
            <a:ext cx="240030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!!ln2"/>
          <p:cNvSpPr/>
          <p:nvPr/>
        </p:nvSpPr>
        <p:spPr>
          <a:xfrm>
            <a:off x="7909560" y="3465576"/>
            <a:ext cx="1280160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!!ln3"/>
          <p:cNvSpPr/>
          <p:nvPr/>
        </p:nvSpPr>
        <p:spPr>
          <a:xfrm>
            <a:off x="7909560" y="3849624"/>
            <a:ext cx="2176272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ln4"/>
          <p:cNvSpPr/>
          <p:nvPr/>
        </p:nvSpPr>
        <p:spPr>
          <a:xfrm>
            <a:off x="7909560" y="4233672"/>
            <a:ext cx="1600200" cy="146304"/>
          </a:xfrm>
          <a:prstGeom prst="roundRect">
            <a:avLst>
              <a:gd name="adj" fmla="val 50000"/>
            </a:avLst>
          </a:prstGeom>
          <a:solidFill>
            <a:srgbClr val="FBBF2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ln5"/>
          <p:cNvSpPr/>
          <p:nvPr/>
        </p:nvSpPr>
        <p:spPr>
          <a:xfrm>
            <a:off x="7635240" y="4617720"/>
            <a:ext cx="256032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!!ln6"/>
          <p:cNvSpPr/>
          <p:nvPr/>
        </p:nvSpPr>
        <p:spPr>
          <a:xfrm>
            <a:off x="7635240" y="5001768"/>
            <a:ext cx="1120139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9509760" y="3108960"/>
            <a:ext cx="4754880" cy="47548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645920" y="-1463040"/>
            <a:ext cx="4389120" cy="438912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51560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561320" y="22860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338560" y="54864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881360" y="109728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704320" y="118872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634472" y="30175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634472" y="30175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411712" y="62179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954512" y="117043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02 · cara kerja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Cara kerja access point</a:t>
            </a:r>
          </a:p>
        </p:txBody>
      </p:sp>
      <p:sp>
        <p:nvSpPr>
          <p:cNvPr id="15" name="!!card0"/>
          <p:cNvSpPr/>
          <p:nvPr/>
        </p:nvSpPr>
        <p:spPr>
          <a:xfrm>
            <a:off x="731520" y="2148840"/>
            <a:ext cx="5227167" cy="31089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ip0"/>
          <p:cNvSpPr/>
          <p:nvPr/>
        </p:nvSpPr>
        <p:spPr>
          <a:xfrm>
            <a:off x="1005840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ipTxt0"/>
          <p:cNvSpPr txBox="1"/>
          <p:nvPr/>
        </p:nvSpPr>
        <p:spPr>
          <a:xfrm>
            <a:off x="1005840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8" name="!!cardH0"/>
          <p:cNvSpPr txBox="1"/>
          <p:nvPr/>
        </p:nvSpPr>
        <p:spPr>
          <a:xfrm>
            <a:off x="1005840" y="3063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Kabel → nirkabel</a:t>
            </a:r>
          </a:p>
        </p:txBody>
      </p:sp>
      <p:sp>
        <p:nvSpPr>
          <p:cNvPr id="19" name="!!cardD0"/>
          <p:cNvSpPr txBox="1"/>
          <p:nvPr/>
        </p:nvSpPr>
        <p:spPr>
          <a:xfrm>
            <a:off x="1005840" y="3566160"/>
            <a:ext cx="4678527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94A3B8"/>
                </a:solidFill>
                <a:latin typeface="Segoe UI"/>
              </a:rPr>
              <a:t>Access point menerima data dari jaringan kabel, lalu mengirimkannya ke perangkat nirkabel melalui sinyal radio.</a:t>
            </a:r>
          </a:p>
        </p:txBody>
      </p:sp>
      <p:sp>
        <p:nvSpPr>
          <p:cNvPr id="20" name="!!card1"/>
          <p:cNvSpPr/>
          <p:nvPr/>
        </p:nvSpPr>
        <p:spPr>
          <a:xfrm>
            <a:off x="6233007" y="2148840"/>
            <a:ext cx="5227167" cy="31089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chip1"/>
          <p:cNvSpPr/>
          <p:nvPr/>
        </p:nvSpPr>
        <p:spPr>
          <a:xfrm>
            <a:off x="6507327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818CF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chipTxt1"/>
          <p:cNvSpPr txBox="1"/>
          <p:nvPr/>
        </p:nvSpPr>
        <p:spPr>
          <a:xfrm>
            <a:off x="6507327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02</a:t>
            </a:r>
          </a:p>
        </p:txBody>
      </p:sp>
      <p:sp>
        <p:nvSpPr>
          <p:cNvPr id="23" name="!!cardH1"/>
          <p:cNvSpPr txBox="1"/>
          <p:nvPr/>
        </p:nvSpPr>
        <p:spPr>
          <a:xfrm>
            <a:off x="6507327" y="3063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Nirkabel → kabel</a:t>
            </a:r>
          </a:p>
        </p:txBody>
      </p:sp>
      <p:sp>
        <p:nvSpPr>
          <p:cNvPr id="24" name="!!cardD1"/>
          <p:cNvSpPr txBox="1"/>
          <p:nvPr/>
        </p:nvSpPr>
        <p:spPr>
          <a:xfrm>
            <a:off x="6507327" y="3566160"/>
            <a:ext cx="4678527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94A3B8"/>
                </a:solidFill>
                <a:latin typeface="Segoe UI"/>
              </a:rPr>
              <a:t>Sebaliknya, access point menerima data dari perangkat nirkabel, lalu meneruskannya ke jaringan kabel.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-1645920" y="3840480"/>
            <a:ext cx="4937760" cy="493776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8961120" y="-1828800"/>
            <a:ext cx="4754880" cy="475488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64008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332720" y="32004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109960" y="64008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652760" y="1188719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475720" y="12801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405872" y="393192"/>
            <a:ext cx="777240" cy="320039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405872" y="39319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183112" y="713231"/>
            <a:ext cx="365760" cy="640081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725912" y="126187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03 · konfigurasi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Konfigurasi awal access point</a:t>
            </a:r>
          </a:p>
        </p:txBody>
      </p:sp>
      <p:sp>
        <p:nvSpPr>
          <p:cNvPr id="15" name="!!card0"/>
          <p:cNvSpPr/>
          <p:nvPr/>
        </p:nvSpPr>
        <p:spPr>
          <a:xfrm>
            <a:off x="731520" y="2148840"/>
            <a:ext cx="3840480" cy="393192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bigTxt"/>
          <p:cNvSpPr txBox="1"/>
          <p:nvPr/>
        </p:nvSpPr>
        <p:spPr>
          <a:xfrm>
            <a:off x="731520" y="2514600"/>
            <a:ext cx="3840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400" b="1">
                <a:solidFill>
                  <a:srgbClr val="22D3EE"/>
                </a:solidFill>
                <a:latin typeface="Segoe UI Semibold"/>
              </a:rPr>
              <a:t>5</a:t>
            </a:r>
          </a:p>
        </p:txBody>
      </p:sp>
      <p:sp>
        <p:nvSpPr>
          <p:cNvPr id="17" name="!!bigCap"/>
          <p:cNvSpPr txBox="1"/>
          <p:nvPr/>
        </p:nvSpPr>
        <p:spPr>
          <a:xfrm>
            <a:off x="1005840" y="4434840"/>
            <a:ext cx="329184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langkah konfigurasi pertama kali</a:t>
            </a:r>
          </a:p>
        </p:txBody>
      </p:sp>
      <p:sp>
        <p:nvSpPr>
          <p:cNvPr id="18" name="!!body"/>
          <p:cNvSpPr txBox="1"/>
          <p:nvPr/>
        </p:nvSpPr>
        <p:spPr>
          <a:xfrm>
            <a:off x="5120640" y="2331720"/>
            <a:ext cx="6309360" cy="3657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1.  </a:t>
            </a:r>
            <a:r>
              <a:rPr sz="2000" b="0">
                <a:solidFill>
                  <a:srgbClr val="F8FAFC"/>
                </a:solidFill>
                <a:latin typeface="Segoe UI"/>
              </a:rPr>
              <a:t>Hubungkan access point ke komputer dengan kabel Ethernet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2.  </a:t>
            </a:r>
            <a:r>
              <a:rPr sz="2000" b="0">
                <a:solidFill>
                  <a:srgbClr val="F8FAFC"/>
                </a:solidFill>
                <a:latin typeface="Segoe UI"/>
              </a:rPr>
              <a:t>Buka antarmuka web: ketik alamat IP default di browser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3.  </a:t>
            </a:r>
            <a:r>
              <a:rPr sz="2000" b="0">
                <a:solidFill>
                  <a:srgbClr val="F8FAFC"/>
                </a:solidFill>
                <a:latin typeface="Segoe UI"/>
              </a:rPr>
              <a:t>Atur SSID, kanal, dan keamanan (WPA2/WPA3)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4.  </a:t>
            </a:r>
            <a:r>
              <a:rPr sz="2000" b="0">
                <a:solidFill>
                  <a:srgbClr val="F8FAFC"/>
                </a:solidFill>
                <a:latin typeface="Segoe UI"/>
              </a:rPr>
              <a:t>Tentukan IP: DHCP atau statis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5.  </a:t>
            </a:r>
            <a:r>
              <a:rPr sz="2000" b="0">
                <a:solidFill>
                  <a:srgbClr val="F8FAFC"/>
                </a:solidFill>
                <a:latin typeface="Segoe UI"/>
              </a:rPr>
              <a:t>Simpan pengaturan, lalu reboot bila perlu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8961120" y="3291840"/>
            <a:ext cx="5303520" cy="530352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097280" y="-2011680"/>
            <a:ext cx="4023360" cy="402336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24128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515600" y="3657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292840" y="68580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835640" y="123444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658600" y="132588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588752" y="43891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588752" y="43891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365992" y="75895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908792" y="130759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04 · teknologi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Teknologi nirkabel pada access point</a:t>
            </a:r>
          </a:p>
        </p:txBody>
      </p:sp>
      <p:sp>
        <p:nvSpPr>
          <p:cNvPr id="15" name="!!card0"/>
          <p:cNvSpPr/>
          <p:nvPr/>
        </p:nvSpPr>
        <p:spPr>
          <a:xfrm>
            <a:off x="731520" y="2148840"/>
            <a:ext cx="5227167" cy="31089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ip0"/>
          <p:cNvSpPr/>
          <p:nvPr/>
        </p:nvSpPr>
        <p:spPr>
          <a:xfrm>
            <a:off x="1005840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ipTxt0"/>
          <p:cNvSpPr txBox="1"/>
          <p:nvPr/>
        </p:nvSpPr>
        <p:spPr>
          <a:xfrm>
            <a:off x="1005840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8" name="!!cardH0"/>
          <p:cNvSpPr txBox="1"/>
          <p:nvPr/>
        </p:nvSpPr>
        <p:spPr>
          <a:xfrm>
            <a:off x="1005840" y="3063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Wi-Fi (IEEE 802.11)</a:t>
            </a:r>
          </a:p>
        </p:txBody>
      </p:sp>
      <p:sp>
        <p:nvSpPr>
          <p:cNvPr id="19" name="!!cardD0"/>
          <p:cNvSpPr txBox="1"/>
          <p:nvPr/>
        </p:nvSpPr>
        <p:spPr>
          <a:xfrm>
            <a:off x="1005840" y="3566160"/>
            <a:ext cx="4678527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94A3B8"/>
                </a:solidFill>
                <a:latin typeface="Segoe UI"/>
              </a:rPr>
              <a:t>Teknologi paling umum pada access point, dengan standar 802.11a/b/g/n/ac/ax yang berbeda kecepatan dan kapasitasnya.</a:t>
            </a:r>
          </a:p>
        </p:txBody>
      </p:sp>
      <p:sp>
        <p:nvSpPr>
          <p:cNvPr id="20" name="!!card1"/>
          <p:cNvSpPr/>
          <p:nvPr/>
        </p:nvSpPr>
        <p:spPr>
          <a:xfrm>
            <a:off x="6233007" y="2148840"/>
            <a:ext cx="5227167" cy="31089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chip1"/>
          <p:cNvSpPr/>
          <p:nvPr/>
        </p:nvSpPr>
        <p:spPr>
          <a:xfrm>
            <a:off x="6507327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818CF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chipTxt1"/>
          <p:cNvSpPr txBox="1"/>
          <p:nvPr/>
        </p:nvSpPr>
        <p:spPr>
          <a:xfrm>
            <a:off x="6507327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02</a:t>
            </a:r>
          </a:p>
        </p:txBody>
      </p:sp>
      <p:sp>
        <p:nvSpPr>
          <p:cNvPr id="23" name="!!cardH1"/>
          <p:cNvSpPr txBox="1"/>
          <p:nvPr/>
        </p:nvSpPr>
        <p:spPr>
          <a:xfrm>
            <a:off x="6507327" y="3063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Bluetooth</a:t>
            </a:r>
          </a:p>
        </p:txBody>
      </p:sp>
      <p:sp>
        <p:nvSpPr>
          <p:cNvPr id="24" name="!!cardD1"/>
          <p:cNvSpPr txBox="1"/>
          <p:nvPr/>
        </p:nvSpPr>
        <p:spPr>
          <a:xfrm>
            <a:off x="6507327" y="3566160"/>
            <a:ext cx="4678527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94A3B8"/>
                </a:solidFill>
                <a:latin typeface="Segoe UI"/>
              </a:rPr>
              <a:t>Untuk komunikasi jarak pendek, misalnya mouse, keyboard, dan headset. Jarang dipakai pada access point, tetapi penting untuk aplikasi tertentu.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7498079" y="-2194560"/>
            <a:ext cx="54864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548640" y="4206240"/>
            <a:ext cx="3840480" cy="384048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54864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287000" y="25603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064240" y="576072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607040" y="1124712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430000" y="121615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360152" y="329184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360152" y="329184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137392" y="649224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680192" y="1197864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05 · mode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Mode access point vs mode repeater</a:t>
            </a:r>
          </a:p>
        </p:txBody>
      </p:sp>
      <p:sp>
        <p:nvSpPr>
          <p:cNvPr id="15" name="!!card0"/>
          <p:cNvSpPr/>
          <p:nvPr/>
        </p:nvSpPr>
        <p:spPr>
          <a:xfrm>
            <a:off x="731520" y="2148840"/>
            <a:ext cx="5227167" cy="31089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ip0"/>
          <p:cNvSpPr/>
          <p:nvPr/>
        </p:nvSpPr>
        <p:spPr>
          <a:xfrm>
            <a:off x="1005840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ipTxt0"/>
          <p:cNvSpPr txBox="1"/>
          <p:nvPr/>
        </p:nvSpPr>
        <p:spPr>
          <a:xfrm>
            <a:off x="1005840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8" name="!!cardH0"/>
          <p:cNvSpPr txBox="1"/>
          <p:nvPr/>
        </p:nvSpPr>
        <p:spPr>
          <a:xfrm>
            <a:off x="1005840" y="3063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Mode access point</a:t>
            </a:r>
          </a:p>
        </p:txBody>
      </p:sp>
      <p:sp>
        <p:nvSpPr>
          <p:cNvPr id="19" name="!!cardD0"/>
          <p:cNvSpPr txBox="1"/>
          <p:nvPr/>
        </p:nvSpPr>
        <p:spPr>
          <a:xfrm>
            <a:off x="1005840" y="3566160"/>
            <a:ext cx="4678527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94A3B8"/>
                </a:solidFill>
                <a:latin typeface="Segoe UI"/>
              </a:rPr>
              <a:t>Menyediakan akses langsung ke jaringan melalui koneksi kabel, sehingga kinerjanya lebih tinggi dan stabil.</a:t>
            </a:r>
          </a:p>
        </p:txBody>
      </p:sp>
      <p:sp>
        <p:nvSpPr>
          <p:cNvPr id="20" name="!!card1"/>
          <p:cNvSpPr/>
          <p:nvPr/>
        </p:nvSpPr>
        <p:spPr>
          <a:xfrm>
            <a:off x="6233007" y="2148840"/>
            <a:ext cx="5227167" cy="310896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chip1"/>
          <p:cNvSpPr/>
          <p:nvPr/>
        </p:nvSpPr>
        <p:spPr>
          <a:xfrm>
            <a:off x="6507327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818CF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chipTxt1"/>
          <p:cNvSpPr txBox="1"/>
          <p:nvPr/>
        </p:nvSpPr>
        <p:spPr>
          <a:xfrm>
            <a:off x="6507327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02</a:t>
            </a:r>
          </a:p>
        </p:txBody>
      </p:sp>
      <p:sp>
        <p:nvSpPr>
          <p:cNvPr id="23" name="!!cardH1"/>
          <p:cNvSpPr txBox="1"/>
          <p:nvPr/>
        </p:nvSpPr>
        <p:spPr>
          <a:xfrm>
            <a:off x="6507327" y="3063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Mode repeater</a:t>
            </a:r>
          </a:p>
        </p:txBody>
      </p:sp>
      <p:sp>
        <p:nvSpPr>
          <p:cNvPr id="24" name="!!cardD1"/>
          <p:cNvSpPr txBox="1"/>
          <p:nvPr/>
        </p:nvSpPr>
        <p:spPr>
          <a:xfrm>
            <a:off x="6507327" y="3566160"/>
            <a:ext cx="4678527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94A3B8"/>
                </a:solidFill>
                <a:latin typeface="Segoe UI"/>
              </a:rPr>
              <a:t>Memperluas cakupan Wi-Fi yang sudah ada tanpa kabel tambahan, tetapi kinerja bisa sedikit turun karena sinyal diterima lalu dipancarkan ulang.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7863840" y="-2011680"/>
            <a:ext cx="5852160" cy="585216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182880" y="3291840"/>
            <a:ext cx="4572000" cy="457200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37844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469880" y="27432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247119" y="594359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789919" y="114300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612880" y="123444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543032" y="347472"/>
            <a:ext cx="777240" cy="320039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543032" y="34747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320272" y="667511"/>
            <a:ext cx="365760" cy="640081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863072" y="121615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21488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nsolas"/>
              </a:rPr>
              <a:t>// selesai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2606040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8FAFC"/>
                </a:solidFill>
                <a:latin typeface="Segoe UI Semibold"/>
              </a:rPr>
              <a:t>Terima Kasih</a:t>
            </a:r>
          </a:p>
        </p:txBody>
      </p:sp>
      <p:sp>
        <p:nvSpPr>
          <p:cNvPr id="15" name="!!sub"/>
          <p:cNvSpPr txBox="1"/>
          <p:nvPr/>
        </p:nvSpPr>
        <p:spPr>
          <a:xfrm>
            <a:off x="2103120" y="3886200"/>
            <a:ext cx="795527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Segoe UI"/>
              </a:rPr>
              <a:t>Ada pertanyaan? Silakan bertanya atau konsultasi lewat grup WhatsApp kelas.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