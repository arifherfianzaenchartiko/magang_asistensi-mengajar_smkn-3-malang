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!!glowA"/>
          <p:cNvSpPr/>
          <p:nvPr/>
        </p:nvSpPr>
        <p:spPr>
          <a:xfrm>
            <a:off x="7863840" y="-2011680"/>
            <a:ext cx="5852160" cy="5852160"/>
          </a:xfrm>
          <a:prstGeom prst="ellipse">
            <a:avLst/>
          </a:prstGeom>
          <a:solidFill>
            <a:srgbClr val="22D3EE">
              <a:alpha val="16000"/>
            </a:srgbClr>
          </a:solidFill>
          <a:ln>
            <a:noFill/>
          </a:ln>
          <a:effectLst>
            <a:softEdge rad="114300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!!glowB"/>
          <p:cNvSpPr/>
          <p:nvPr/>
        </p:nvSpPr>
        <p:spPr>
          <a:xfrm>
            <a:off x="182880" y="3291840"/>
            <a:ext cx="4572000" cy="4572000"/>
          </a:xfrm>
          <a:prstGeom prst="ellipse">
            <a:avLst/>
          </a:prstGeom>
          <a:solidFill>
            <a:srgbClr val="818CF8">
              <a:alpha val="18000"/>
            </a:srgbClr>
          </a:solidFill>
          <a:ln>
            <a:noFill/>
          </a:ln>
          <a:effectLst>
            <a:softEdge rad="114300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!!bracket"/>
          <p:cNvSpPr txBox="1"/>
          <p:nvPr/>
        </p:nvSpPr>
        <p:spPr>
          <a:xfrm>
            <a:off x="10378440" y="6217920"/>
            <a:ext cx="1280160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2600" b="1">
                <a:solidFill>
                  <a:srgbClr val="22D3EE"/>
                </a:solidFill>
                <a:latin typeface="Consolas"/>
              </a:rPr>
              <a:t>&lt;/&gt;</a:t>
            </a:r>
          </a:p>
        </p:txBody>
      </p:sp>
      <p:sp>
        <p:nvSpPr>
          <p:cNvPr id="5" name="!!node0"/>
          <p:cNvSpPr/>
          <p:nvPr/>
        </p:nvSpPr>
        <p:spPr>
          <a:xfrm>
            <a:off x="10469880" y="274320"/>
            <a:ext cx="146304" cy="146304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!!node1"/>
          <p:cNvSpPr/>
          <p:nvPr/>
        </p:nvSpPr>
        <p:spPr>
          <a:xfrm>
            <a:off x="11247119" y="594359"/>
            <a:ext cx="146304" cy="146304"/>
          </a:xfrm>
          <a:prstGeom prst="ellipse">
            <a:avLst/>
          </a:prstGeom>
          <a:solidFill>
            <a:srgbClr val="818C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!!node2"/>
          <p:cNvSpPr/>
          <p:nvPr/>
        </p:nvSpPr>
        <p:spPr>
          <a:xfrm>
            <a:off x="10789919" y="1143000"/>
            <a:ext cx="146304" cy="146304"/>
          </a:xfrm>
          <a:prstGeom prst="ellipse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!!node3"/>
          <p:cNvSpPr/>
          <p:nvPr/>
        </p:nvSpPr>
        <p:spPr>
          <a:xfrm>
            <a:off x="11612880" y="1234440"/>
            <a:ext cx="146304" cy="146304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9" name="!!link0"/>
          <p:cNvCxnSpPr/>
          <p:nvPr/>
        </p:nvCxnSpPr>
        <p:spPr>
          <a:xfrm>
            <a:off x="10543032" y="347472"/>
            <a:ext cx="777240" cy="320039"/>
          </a:xfrm>
          <a:prstGeom prst="line">
            <a:avLst/>
          </a:prstGeom>
          <a:ln w="15875">
            <a:solidFill>
              <a:srgbClr val="2A3A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!!link1"/>
          <p:cNvCxnSpPr/>
          <p:nvPr/>
        </p:nvCxnSpPr>
        <p:spPr>
          <a:xfrm>
            <a:off x="10543032" y="347472"/>
            <a:ext cx="320040" cy="868680"/>
          </a:xfrm>
          <a:prstGeom prst="line">
            <a:avLst/>
          </a:prstGeom>
          <a:ln w="15875">
            <a:solidFill>
              <a:srgbClr val="2A3A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!!link2"/>
          <p:cNvCxnSpPr/>
          <p:nvPr/>
        </p:nvCxnSpPr>
        <p:spPr>
          <a:xfrm>
            <a:off x="11320272" y="667511"/>
            <a:ext cx="365760" cy="640081"/>
          </a:xfrm>
          <a:prstGeom prst="line">
            <a:avLst/>
          </a:prstGeom>
          <a:ln w="15875">
            <a:solidFill>
              <a:srgbClr val="2A3A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!!link3"/>
          <p:cNvCxnSpPr/>
          <p:nvPr/>
        </p:nvCxnSpPr>
        <p:spPr>
          <a:xfrm>
            <a:off x="10863072" y="1216152"/>
            <a:ext cx="822960" cy="91440"/>
          </a:xfrm>
          <a:prstGeom prst="line">
            <a:avLst/>
          </a:prstGeom>
          <a:ln w="15875">
            <a:solidFill>
              <a:srgbClr val="2A3A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!!kicker"/>
          <p:cNvSpPr txBox="1"/>
          <p:nvPr/>
        </p:nvSpPr>
        <p:spPr>
          <a:xfrm>
            <a:off x="731520" y="1417320"/>
            <a:ext cx="603504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00" b="1">
                <a:solidFill>
                  <a:srgbClr val="22D3EE"/>
                </a:solidFill>
                <a:latin typeface="Consolas"/>
              </a:rPr>
              <a:t>// Jaringan Dasar · X TKJ WU</a:t>
            </a:r>
          </a:p>
        </p:txBody>
      </p:sp>
      <p:sp>
        <p:nvSpPr>
          <p:cNvPr id="14" name="!!title"/>
          <p:cNvSpPr txBox="1"/>
          <p:nvPr/>
        </p:nvSpPr>
        <p:spPr>
          <a:xfrm>
            <a:off x="731520" y="1874519"/>
            <a:ext cx="6035040" cy="18288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95000"/>
              </a:lnSpc>
              <a:spcAft>
                <a:spcPts val="600"/>
              </a:spcAft>
            </a:pPr>
            <a:r>
              <a:rPr sz="4000" b="1">
                <a:solidFill>
                  <a:srgbClr val="F8FAFC"/>
                </a:solidFill>
                <a:latin typeface="Segoe UI Semibold"/>
              </a:rPr>
              <a:t>Instalasi Antivirus dan Windows Defender Firewall</a:t>
            </a:r>
          </a:p>
        </p:txBody>
      </p:sp>
      <p:sp>
        <p:nvSpPr>
          <p:cNvPr id="15" name="!!sub"/>
          <p:cNvSpPr txBox="1"/>
          <p:nvPr/>
        </p:nvSpPr>
        <p:spPr>
          <a:xfrm>
            <a:off x="731520" y="3794760"/>
            <a:ext cx="5669280" cy="8229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800" b="0">
                <a:solidFill>
                  <a:srgbClr val="94A3B8"/>
                </a:solidFill>
                <a:latin typeface="Segoe UI"/>
              </a:rPr>
              <a:t>Melindungi komputer dari malware dan serangan jaringan</a:t>
            </a:r>
          </a:p>
        </p:txBody>
      </p:sp>
      <p:sp>
        <p:nvSpPr>
          <p:cNvPr id="16" name="!!by"/>
          <p:cNvSpPr txBox="1"/>
          <p:nvPr/>
        </p:nvSpPr>
        <p:spPr>
          <a:xfrm>
            <a:off x="731520" y="5074920"/>
            <a:ext cx="5852160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300" b="1">
                <a:solidFill>
                  <a:srgbClr val="F8FAFC"/>
                </a:solidFill>
                <a:latin typeface="Segoe UI"/>
              </a:rPr>
              <a:t>Arif Herfian Zaen Chartiko</a:t>
            </a:r>
          </a:p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300" b="0">
                <a:solidFill>
                  <a:srgbClr val="94A3B8"/>
                </a:solidFill>
                <a:latin typeface="Segoe UI"/>
              </a:rPr>
              <a:t>NIM 210533616009 · Asistensi Mengajar UM</a:t>
            </a:r>
          </a:p>
        </p:txBody>
      </p:sp>
      <p:sp>
        <p:nvSpPr>
          <p:cNvPr id="17" name="!!editor"/>
          <p:cNvSpPr/>
          <p:nvPr/>
        </p:nvSpPr>
        <p:spPr>
          <a:xfrm>
            <a:off x="7086600" y="1417320"/>
            <a:ext cx="4343400" cy="3840480"/>
          </a:xfrm>
          <a:prstGeom prst="roundRect">
            <a:avLst>
              <a:gd name="adj" fmla="val 4000"/>
            </a:avLst>
          </a:prstGeom>
          <a:solidFill>
            <a:srgbClr val="151F33"/>
          </a:solidFill>
          <a:ln w="15875">
            <a:solidFill>
              <a:srgbClr val="2A3A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!!editorBar"/>
          <p:cNvSpPr/>
          <p:nvPr/>
        </p:nvSpPr>
        <p:spPr>
          <a:xfrm>
            <a:off x="7086600" y="1417320"/>
            <a:ext cx="4343400" cy="457200"/>
          </a:xfrm>
          <a:prstGeom prst="roundRect">
            <a:avLst>
              <a:gd name="adj" fmla="val 30000"/>
            </a:avLst>
          </a:prstGeom>
          <a:solidFill>
            <a:srgbClr val="1C29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!!dot0"/>
          <p:cNvSpPr/>
          <p:nvPr/>
        </p:nvSpPr>
        <p:spPr>
          <a:xfrm>
            <a:off x="7315200" y="1572768"/>
            <a:ext cx="146304" cy="146304"/>
          </a:xfrm>
          <a:prstGeom prst="ellipse">
            <a:avLst/>
          </a:prstGeom>
          <a:solidFill>
            <a:srgbClr val="FB71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!!dot1"/>
          <p:cNvSpPr/>
          <p:nvPr/>
        </p:nvSpPr>
        <p:spPr>
          <a:xfrm>
            <a:off x="7571231" y="1572768"/>
            <a:ext cx="146304" cy="146304"/>
          </a:xfrm>
          <a:prstGeom prst="ellipse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!!dot2"/>
          <p:cNvSpPr/>
          <p:nvPr/>
        </p:nvSpPr>
        <p:spPr>
          <a:xfrm>
            <a:off x="7827264" y="1572768"/>
            <a:ext cx="146304" cy="146304"/>
          </a:xfrm>
          <a:prstGeom prst="ellipse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!!fileName"/>
          <p:cNvSpPr txBox="1"/>
          <p:nvPr/>
        </p:nvSpPr>
        <p:spPr>
          <a:xfrm>
            <a:off x="8229600" y="1517904"/>
            <a:ext cx="29718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94A3B8"/>
                </a:solidFill>
                <a:latin typeface="Consolas"/>
              </a:rPr>
              <a:t>security.cfg</a:t>
            </a:r>
          </a:p>
        </p:txBody>
      </p:sp>
      <p:sp>
        <p:nvSpPr>
          <p:cNvPr id="23" name="!!ln0"/>
          <p:cNvSpPr/>
          <p:nvPr/>
        </p:nvSpPr>
        <p:spPr>
          <a:xfrm>
            <a:off x="7406640" y="2194560"/>
            <a:ext cx="1885950" cy="146304"/>
          </a:xfrm>
          <a:prstGeom prst="roundRect">
            <a:avLst>
              <a:gd name="adj" fmla="val 50000"/>
            </a:avLst>
          </a:prstGeom>
          <a:solidFill>
            <a:srgbClr val="22D3EE">
              <a:alpha val="7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!!ln1"/>
          <p:cNvSpPr/>
          <p:nvPr/>
        </p:nvSpPr>
        <p:spPr>
          <a:xfrm>
            <a:off x="7406640" y="2578608"/>
            <a:ext cx="2571750" cy="146304"/>
          </a:xfrm>
          <a:prstGeom prst="roundRect">
            <a:avLst>
              <a:gd name="adj" fmla="val 50000"/>
            </a:avLst>
          </a:prstGeom>
          <a:solidFill>
            <a:srgbClr val="818CF8">
              <a:alpha val="7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!!ln2"/>
          <p:cNvSpPr/>
          <p:nvPr/>
        </p:nvSpPr>
        <p:spPr>
          <a:xfrm>
            <a:off x="7680960" y="2962656"/>
            <a:ext cx="1371600" cy="146304"/>
          </a:xfrm>
          <a:prstGeom prst="roundRect">
            <a:avLst>
              <a:gd name="adj" fmla="val 50000"/>
            </a:avLst>
          </a:prstGeom>
          <a:solidFill>
            <a:srgbClr val="34D399">
              <a:alpha val="7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!!ln3"/>
          <p:cNvSpPr/>
          <p:nvPr/>
        </p:nvSpPr>
        <p:spPr>
          <a:xfrm>
            <a:off x="7680960" y="3346704"/>
            <a:ext cx="2331720" cy="146304"/>
          </a:xfrm>
          <a:prstGeom prst="roundRect">
            <a:avLst>
              <a:gd name="adj" fmla="val 50000"/>
            </a:avLst>
          </a:prstGeom>
          <a:solidFill>
            <a:srgbClr val="22D3EE">
              <a:alpha val="7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!!ln4"/>
          <p:cNvSpPr/>
          <p:nvPr/>
        </p:nvSpPr>
        <p:spPr>
          <a:xfrm>
            <a:off x="7680960" y="3730752"/>
            <a:ext cx="1714500" cy="146304"/>
          </a:xfrm>
          <a:prstGeom prst="roundRect">
            <a:avLst>
              <a:gd name="adj" fmla="val 50000"/>
            </a:avLst>
          </a:prstGeom>
          <a:solidFill>
            <a:srgbClr val="FBBF24">
              <a:alpha val="7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!!ln5"/>
          <p:cNvSpPr/>
          <p:nvPr/>
        </p:nvSpPr>
        <p:spPr>
          <a:xfrm>
            <a:off x="7406640" y="4114800"/>
            <a:ext cx="2743200" cy="146304"/>
          </a:xfrm>
          <a:prstGeom prst="roundRect">
            <a:avLst>
              <a:gd name="adj" fmla="val 50000"/>
            </a:avLst>
          </a:prstGeom>
          <a:solidFill>
            <a:srgbClr val="818CF8">
              <a:alpha val="7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!!ln6"/>
          <p:cNvSpPr/>
          <p:nvPr/>
        </p:nvSpPr>
        <p:spPr>
          <a:xfrm>
            <a:off x="7406640" y="4498848"/>
            <a:ext cx="1200150" cy="146304"/>
          </a:xfrm>
          <a:prstGeom prst="roundRect">
            <a:avLst>
              <a:gd name="adj" fmla="val 50000"/>
            </a:avLst>
          </a:prstGeom>
          <a:solidFill>
            <a:srgbClr val="34D399">
              <a:alpha val="7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250">
        <p159:morph option="byObject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!!glowA"/>
          <p:cNvSpPr/>
          <p:nvPr/>
        </p:nvSpPr>
        <p:spPr>
          <a:xfrm>
            <a:off x="8778240" y="-1463040"/>
            <a:ext cx="5120640" cy="5120640"/>
          </a:xfrm>
          <a:prstGeom prst="ellipse">
            <a:avLst/>
          </a:prstGeom>
          <a:solidFill>
            <a:srgbClr val="22D3EE">
              <a:alpha val="16000"/>
            </a:srgbClr>
          </a:solidFill>
          <a:ln>
            <a:noFill/>
          </a:ln>
          <a:effectLst>
            <a:softEdge rad="114300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!!glowB"/>
          <p:cNvSpPr/>
          <p:nvPr/>
        </p:nvSpPr>
        <p:spPr>
          <a:xfrm>
            <a:off x="-1280160" y="4023360"/>
            <a:ext cx="4206240" cy="4206240"/>
          </a:xfrm>
          <a:prstGeom prst="ellipse">
            <a:avLst/>
          </a:prstGeom>
          <a:solidFill>
            <a:srgbClr val="818CF8">
              <a:alpha val="18000"/>
            </a:srgbClr>
          </a:solidFill>
          <a:ln>
            <a:noFill/>
          </a:ln>
          <a:effectLst>
            <a:softEdge rad="114300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!!bracket"/>
          <p:cNvSpPr txBox="1"/>
          <p:nvPr/>
        </p:nvSpPr>
        <p:spPr>
          <a:xfrm>
            <a:off x="502920" y="6217920"/>
            <a:ext cx="1280160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2600" b="1">
                <a:solidFill>
                  <a:srgbClr val="22D3EE"/>
                </a:solidFill>
                <a:latin typeface="Consolas"/>
              </a:rPr>
              <a:t>&lt;/&gt;</a:t>
            </a:r>
          </a:p>
        </p:txBody>
      </p:sp>
      <p:sp>
        <p:nvSpPr>
          <p:cNvPr id="5" name="!!node0"/>
          <p:cNvSpPr/>
          <p:nvPr/>
        </p:nvSpPr>
        <p:spPr>
          <a:xfrm>
            <a:off x="10241280" y="365760"/>
            <a:ext cx="146304" cy="146304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!!node1"/>
          <p:cNvSpPr/>
          <p:nvPr/>
        </p:nvSpPr>
        <p:spPr>
          <a:xfrm>
            <a:off x="11018519" y="685800"/>
            <a:ext cx="146304" cy="146304"/>
          </a:xfrm>
          <a:prstGeom prst="ellipse">
            <a:avLst/>
          </a:prstGeom>
          <a:solidFill>
            <a:srgbClr val="818C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!!node2"/>
          <p:cNvSpPr/>
          <p:nvPr/>
        </p:nvSpPr>
        <p:spPr>
          <a:xfrm>
            <a:off x="10561319" y="1234440"/>
            <a:ext cx="146304" cy="146304"/>
          </a:xfrm>
          <a:prstGeom prst="ellipse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!!node3"/>
          <p:cNvSpPr/>
          <p:nvPr/>
        </p:nvSpPr>
        <p:spPr>
          <a:xfrm>
            <a:off x="11384280" y="1325880"/>
            <a:ext cx="146304" cy="146304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9" name="!!link0"/>
          <p:cNvCxnSpPr/>
          <p:nvPr/>
        </p:nvCxnSpPr>
        <p:spPr>
          <a:xfrm>
            <a:off x="10314432" y="438912"/>
            <a:ext cx="777240" cy="320040"/>
          </a:xfrm>
          <a:prstGeom prst="line">
            <a:avLst/>
          </a:prstGeom>
          <a:ln w="15875">
            <a:solidFill>
              <a:srgbClr val="2A3A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!!link1"/>
          <p:cNvCxnSpPr/>
          <p:nvPr/>
        </p:nvCxnSpPr>
        <p:spPr>
          <a:xfrm>
            <a:off x="10314432" y="438912"/>
            <a:ext cx="320040" cy="868680"/>
          </a:xfrm>
          <a:prstGeom prst="line">
            <a:avLst/>
          </a:prstGeom>
          <a:ln w="15875">
            <a:solidFill>
              <a:srgbClr val="2A3A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!!link2"/>
          <p:cNvCxnSpPr/>
          <p:nvPr/>
        </p:nvCxnSpPr>
        <p:spPr>
          <a:xfrm>
            <a:off x="11091672" y="758952"/>
            <a:ext cx="365760" cy="640080"/>
          </a:xfrm>
          <a:prstGeom prst="line">
            <a:avLst/>
          </a:prstGeom>
          <a:ln w="15875">
            <a:solidFill>
              <a:srgbClr val="2A3A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!!link3"/>
          <p:cNvCxnSpPr/>
          <p:nvPr/>
        </p:nvCxnSpPr>
        <p:spPr>
          <a:xfrm>
            <a:off x="10634472" y="1307592"/>
            <a:ext cx="822960" cy="91440"/>
          </a:xfrm>
          <a:prstGeom prst="line">
            <a:avLst/>
          </a:prstGeom>
          <a:ln w="15875">
            <a:solidFill>
              <a:srgbClr val="2A3A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!!kicker"/>
          <p:cNvSpPr txBox="1"/>
          <p:nvPr/>
        </p:nvSpPr>
        <p:spPr>
          <a:xfrm>
            <a:off x="731520" y="566928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22D3EE"/>
                </a:solidFill>
                <a:latin typeface="Consolas"/>
              </a:rPr>
              <a:t>01 · antivirus</a:t>
            </a:r>
          </a:p>
        </p:txBody>
      </p:sp>
      <p:sp>
        <p:nvSpPr>
          <p:cNvPr id="14" name="!!title"/>
          <p:cNvSpPr txBox="1"/>
          <p:nvPr/>
        </p:nvSpPr>
        <p:spPr>
          <a:xfrm>
            <a:off x="731520" y="914400"/>
            <a:ext cx="9601200" cy="8229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3600" b="1">
                <a:solidFill>
                  <a:srgbClr val="F8FAFC"/>
                </a:solidFill>
                <a:latin typeface="Segoe UI Semibold"/>
              </a:rPr>
              <a:t>Antivirus itu apa?</a:t>
            </a:r>
          </a:p>
        </p:txBody>
      </p:sp>
      <p:sp>
        <p:nvSpPr>
          <p:cNvPr id="15" name="!!body"/>
          <p:cNvSpPr txBox="1"/>
          <p:nvPr/>
        </p:nvSpPr>
        <p:spPr>
          <a:xfrm>
            <a:off x="731520" y="2057400"/>
            <a:ext cx="6035040" cy="3840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1400"/>
              </a:spcAft>
            </a:pPr>
            <a:r>
              <a:rPr sz="1900" b="1">
                <a:solidFill>
                  <a:srgbClr val="22D3EE"/>
                </a:solidFill>
                <a:latin typeface="Segoe UI"/>
              </a:rPr>
              <a:t>▸  </a:t>
            </a:r>
            <a:r>
              <a:rPr sz="1900" b="0">
                <a:solidFill>
                  <a:srgbClr val="F8FAFC"/>
                </a:solidFill>
                <a:latin typeface="Segoe UI"/>
              </a:rPr>
              <a:t>Perangkat lunak untuk mendeteksi, mencegah, dan menghapus perangkat lunak berbahaya (malware) dari komputer</a:t>
            </a:r>
          </a:p>
          <a:p>
            <a:pPr algn="l">
              <a:lnSpc>
                <a:spcPct val="120000"/>
              </a:lnSpc>
              <a:spcAft>
                <a:spcPts val="1400"/>
              </a:spcAft>
            </a:pPr>
            <a:r>
              <a:rPr sz="1900" b="1">
                <a:solidFill>
                  <a:srgbClr val="22D3EE"/>
                </a:solidFill>
                <a:latin typeface="Segoe UI"/>
              </a:rPr>
              <a:t>▸  </a:t>
            </a:r>
            <a:r>
              <a:rPr sz="1900" b="0">
                <a:solidFill>
                  <a:srgbClr val="F8FAFC"/>
                </a:solidFill>
                <a:latin typeface="Segoe UI"/>
              </a:rPr>
              <a:t>Tujuannya melindungi komputer atau jaringan dari virus, worm, trojan, spyware, adware, dan malware lain</a:t>
            </a:r>
          </a:p>
          <a:p>
            <a:pPr algn="l">
              <a:lnSpc>
                <a:spcPct val="120000"/>
              </a:lnSpc>
              <a:spcAft>
                <a:spcPts val="1400"/>
              </a:spcAft>
            </a:pPr>
            <a:r>
              <a:rPr sz="1900" b="1">
                <a:solidFill>
                  <a:srgbClr val="22D3EE"/>
                </a:solidFill>
                <a:latin typeface="Segoe UI"/>
              </a:rPr>
              <a:t>▸  </a:t>
            </a:r>
            <a:r>
              <a:rPr sz="1900" b="0">
                <a:solidFill>
                  <a:srgbClr val="F8FAFC"/>
                </a:solidFill>
                <a:latin typeface="Segoe UI"/>
              </a:rPr>
              <a:t>Malware dapat merusak atau mencuri data pengguna</a:t>
            </a:r>
          </a:p>
        </p:txBody>
      </p:sp>
      <p:sp>
        <p:nvSpPr>
          <p:cNvPr id="16" name="!!editor"/>
          <p:cNvSpPr/>
          <p:nvPr/>
        </p:nvSpPr>
        <p:spPr>
          <a:xfrm>
            <a:off x="7315200" y="1920240"/>
            <a:ext cx="4114800" cy="3566160"/>
          </a:xfrm>
          <a:prstGeom prst="roundRect">
            <a:avLst>
              <a:gd name="adj" fmla="val 4000"/>
            </a:avLst>
          </a:prstGeom>
          <a:solidFill>
            <a:srgbClr val="151F33"/>
          </a:solidFill>
          <a:ln w="15875">
            <a:solidFill>
              <a:srgbClr val="2A3A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!!editorBar"/>
          <p:cNvSpPr/>
          <p:nvPr/>
        </p:nvSpPr>
        <p:spPr>
          <a:xfrm>
            <a:off x="7315200" y="1920240"/>
            <a:ext cx="4114800" cy="457200"/>
          </a:xfrm>
          <a:prstGeom prst="roundRect">
            <a:avLst>
              <a:gd name="adj" fmla="val 30000"/>
            </a:avLst>
          </a:prstGeom>
          <a:solidFill>
            <a:srgbClr val="1C29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!!dot0"/>
          <p:cNvSpPr/>
          <p:nvPr/>
        </p:nvSpPr>
        <p:spPr>
          <a:xfrm>
            <a:off x="7543800" y="2075688"/>
            <a:ext cx="146304" cy="146304"/>
          </a:xfrm>
          <a:prstGeom prst="ellipse">
            <a:avLst/>
          </a:prstGeom>
          <a:solidFill>
            <a:srgbClr val="FB71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!!dot1"/>
          <p:cNvSpPr/>
          <p:nvPr/>
        </p:nvSpPr>
        <p:spPr>
          <a:xfrm>
            <a:off x="7799831" y="2075688"/>
            <a:ext cx="146304" cy="146304"/>
          </a:xfrm>
          <a:prstGeom prst="ellipse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!!dot2"/>
          <p:cNvSpPr/>
          <p:nvPr/>
        </p:nvSpPr>
        <p:spPr>
          <a:xfrm>
            <a:off x="8055864" y="2075688"/>
            <a:ext cx="146304" cy="146304"/>
          </a:xfrm>
          <a:prstGeom prst="ellipse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!!fileName"/>
          <p:cNvSpPr txBox="1"/>
          <p:nvPr/>
        </p:nvSpPr>
        <p:spPr>
          <a:xfrm>
            <a:off x="8458200" y="2020824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94A3B8"/>
                </a:solidFill>
                <a:latin typeface="Consolas"/>
              </a:rPr>
              <a:t>security.cfg</a:t>
            </a:r>
          </a:p>
        </p:txBody>
      </p:sp>
      <p:sp>
        <p:nvSpPr>
          <p:cNvPr id="22" name="!!ln0"/>
          <p:cNvSpPr/>
          <p:nvPr/>
        </p:nvSpPr>
        <p:spPr>
          <a:xfrm>
            <a:off x="7635240" y="2697480"/>
            <a:ext cx="1760220" cy="146304"/>
          </a:xfrm>
          <a:prstGeom prst="roundRect">
            <a:avLst>
              <a:gd name="adj" fmla="val 50000"/>
            </a:avLst>
          </a:prstGeom>
          <a:solidFill>
            <a:srgbClr val="22D3EE">
              <a:alpha val="7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!!ln1"/>
          <p:cNvSpPr/>
          <p:nvPr/>
        </p:nvSpPr>
        <p:spPr>
          <a:xfrm>
            <a:off x="7635240" y="3081528"/>
            <a:ext cx="2400300" cy="146304"/>
          </a:xfrm>
          <a:prstGeom prst="roundRect">
            <a:avLst>
              <a:gd name="adj" fmla="val 50000"/>
            </a:avLst>
          </a:prstGeom>
          <a:solidFill>
            <a:srgbClr val="818CF8">
              <a:alpha val="7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!!ln2"/>
          <p:cNvSpPr/>
          <p:nvPr/>
        </p:nvSpPr>
        <p:spPr>
          <a:xfrm>
            <a:off x="7909560" y="3465576"/>
            <a:ext cx="1280160" cy="146304"/>
          </a:xfrm>
          <a:prstGeom prst="roundRect">
            <a:avLst>
              <a:gd name="adj" fmla="val 50000"/>
            </a:avLst>
          </a:prstGeom>
          <a:solidFill>
            <a:srgbClr val="34D399">
              <a:alpha val="7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!!ln3"/>
          <p:cNvSpPr/>
          <p:nvPr/>
        </p:nvSpPr>
        <p:spPr>
          <a:xfrm>
            <a:off x="7909560" y="3849624"/>
            <a:ext cx="2176272" cy="146304"/>
          </a:xfrm>
          <a:prstGeom prst="roundRect">
            <a:avLst>
              <a:gd name="adj" fmla="val 50000"/>
            </a:avLst>
          </a:prstGeom>
          <a:solidFill>
            <a:srgbClr val="22D3EE">
              <a:alpha val="7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!!ln4"/>
          <p:cNvSpPr/>
          <p:nvPr/>
        </p:nvSpPr>
        <p:spPr>
          <a:xfrm>
            <a:off x="7909560" y="4233672"/>
            <a:ext cx="1600200" cy="146304"/>
          </a:xfrm>
          <a:prstGeom prst="roundRect">
            <a:avLst>
              <a:gd name="adj" fmla="val 50000"/>
            </a:avLst>
          </a:prstGeom>
          <a:solidFill>
            <a:srgbClr val="FBBF24">
              <a:alpha val="7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!!ln5"/>
          <p:cNvSpPr/>
          <p:nvPr/>
        </p:nvSpPr>
        <p:spPr>
          <a:xfrm>
            <a:off x="7635240" y="4617720"/>
            <a:ext cx="2560320" cy="146304"/>
          </a:xfrm>
          <a:prstGeom prst="roundRect">
            <a:avLst>
              <a:gd name="adj" fmla="val 50000"/>
            </a:avLst>
          </a:prstGeom>
          <a:solidFill>
            <a:srgbClr val="818CF8">
              <a:alpha val="7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!!ln6"/>
          <p:cNvSpPr/>
          <p:nvPr/>
        </p:nvSpPr>
        <p:spPr>
          <a:xfrm>
            <a:off x="7635240" y="5001768"/>
            <a:ext cx="1120139" cy="146304"/>
          </a:xfrm>
          <a:prstGeom prst="roundRect">
            <a:avLst>
              <a:gd name="adj" fmla="val 50000"/>
            </a:avLst>
          </a:prstGeom>
          <a:solidFill>
            <a:srgbClr val="34D399">
              <a:alpha val="7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250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!!glowA"/>
          <p:cNvSpPr/>
          <p:nvPr/>
        </p:nvSpPr>
        <p:spPr>
          <a:xfrm>
            <a:off x="9509760" y="3108960"/>
            <a:ext cx="4754880" cy="4754880"/>
          </a:xfrm>
          <a:prstGeom prst="ellipse">
            <a:avLst/>
          </a:prstGeom>
          <a:solidFill>
            <a:srgbClr val="22D3EE">
              <a:alpha val="16000"/>
            </a:srgbClr>
          </a:solidFill>
          <a:ln>
            <a:noFill/>
          </a:ln>
          <a:effectLst>
            <a:softEdge rad="114300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!!glowB"/>
          <p:cNvSpPr/>
          <p:nvPr/>
        </p:nvSpPr>
        <p:spPr>
          <a:xfrm>
            <a:off x="-1645920" y="-1463040"/>
            <a:ext cx="4389120" cy="4389120"/>
          </a:xfrm>
          <a:prstGeom prst="ellipse">
            <a:avLst/>
          </a:prstGeom>
          <a:solidFill>
            <a:srgbClr val="818CF8">
              <a:alpha val="18000"/>
            </a:srgbClr>
          </a:solidFill>
          <a:ln>
            <a:noFill/>
          </a:ln>
          <a:effectLst>
            <a:softEdge rad="114300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!!bracket"/>
          <p:cNvSpPr txBox="1"/>
          <p:nvPr/>
        </p:nvSpPr>
        <p:spPr>
          <a:xfrm>
            <a:off x="10515600" y="6217920"/>
            <a:ext cx="1280160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2600" b="1">
                <a:solidFill>
                  <a:srgbClr val="22D3EE"/>
                </a:solidFill>
                <a:latin typeface="Consolas"/>
              </a:rPr>
              <a:t>&lt;/&gt;</a:t>
            </a:r>
          </a:p>
        </p:txBody>
      </p:sp>
      <p:sp>
        <p:nvSpPr>
          <p:cNvPr id="5" name="!!node0"/>
          <p:cNvSpPr/>
          <p:nvPr/>
        </p:nvSpPr>
        <p:spPr>
          <a:xfrm>
            <a:off x="10561320" y="228600"/>
            <a:ext cx="146304" cy="146304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!!node1"/>
          <p:cNvSpPr/>
          <p:nvPr/>
        </p:nvSpPr>
        <p:spPr>
          <a:xfrm>
            <a:off x="11338560" y="548640"/>
            <a:ext cx="146304" cy="146304"/>
          </a:xfrm>
          <a:prstGeom prst="ellipse">
            <a:avLst/>
          </a:prstGeom>
          <a:solidFill>
            <a:srgbClr val="818C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!!node2"/>
          <p:cNvSpPr/>
          <p:nvPr/>
        </p:nvSpPr>
        <p:spPr>
          <a:xfrm>
            <a:off x="10881360" y="1097280"/>
            <a:ext cx="146304" cy="146304"/>
          </a:xfrm>
          <a:prstGeom prst="ellipse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!!node3"/>
          <p:cNvSpPr/>
          <p:nvPr/>
        </p:nvSpPr>
        <p:spPr>
          <a:xfrm>
            <a:off x="11704320" y="1188720"/>
            <a:ext cx="146304" cy="146304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9" name="!!link0"/>
          <p:cNvCxnSpPr/>
          <p:nvPr/>
        </p:nvCxnSpPr>
        <p:spPr>
          <a:xfrm>
            <a:off x="10634472" y="301752"/>
            <a:ext cx="777240" cy="320040"/>
          </a:xfrm>
          <a:prstGeom prst="line">
            <a:avLst/>
          </a:prstGeom>
          <a:ln w="15875">
            <a:solidFill>
              <a:srgbClr val="2A3A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!!link1"/>
          <p:cNvCxnSpPr/>
          <p:nvPr/>
        </p:nvCxnSpPr>
        <p:spPr>
          <a:xfrm>
            <a:off x="10634472" y="301752"/>
            <a:ext cx="320040" cy="868680"/>
          </a:xfrm>
          <a:prstGeom prst="line">
            <a:avLst/>
          </a:prstGeom>
          <a:ln w="15875">
            <a:solidFill>
              <a:srgbClr val="2A3A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!!link2"/>
          <p:cNvCxnSpPr/>
          <p:nvPr/>
        </p:nvCxnSpPr>
        <p:spPr>
          <a:xfrm>
            <a:off x="11411712" y="621792"/>
            <a:ext cx="365760" cy="640080"/>
          </a:xfrm>
          <a:prstGeom prst="line">
            <a:avLst/>
          </a:prstGeom>
          <a:ln w="15875">
            <a:solidFill>
              <a:srgbClr val="2A3A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!!link3"/>
          <p:cNvCxnSpPr/>
          <p:nvPr/>
        </p:nvCxnSpPr>
        <p:spPr>
          <a:xfrm>
            <a:off x="10954512" y="1170432"/>
            <a:ext cx="822960" cy="91440"/>
          </a:xfrm>
          <a:prstGeom prst="line">
            <a:avLst/>
          </a:prstGeom>
          <a:ln w="15875">
            <a:solidFill>
              <a:srgbClr val="2A3A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!!kicker"/>
          <p:cNvSpPr txBox="1"/>
          <p:nvPr/>
        </p:nvSpPr>
        <p:spPr>
          <a:xfrm>
            <a:off x="731520" y="566928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22D3EE"/>
                </a:solidFill>
                <a:latin typeface="Consolas"/>
              </a:rPr>
              <a:t>02 · firewall</a:t>
            </a:r>
          </a:p>
        </p:txBody>
      </p:sp>
      <p:sp>
        <p:nvSpPr>
          <p:cNvPr id="14" name="!!title"/>
          <p:cNvSpPr txBox="1"/>
          <p:nvPr/>
        </p:nvSpPr>
        <p:spPr>
          <a:xfrm>
            <a:off x="731520" y="914400"/>
            <a:ext cx="9601200" cy="8229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3600" b="1">
                <a:solidFill>
                  <a:srgbClr val="F8FAFC"/>
                </a:solidFill>
                <a:latin typeface="Segoe UI Semibold"/>
              </a:rPr>
              <a:t>Windows Defender Firewall</a:t>
            </a:r>
          </a:p>
        </p:txBody>
      </p:sp>
      <p:sp>
        <p:nvSpPr>
          <p:cNvPr id="15" name="!!body"/>
          <p:cNvSpPr txBox="1"/>
          <p:nvPr/>
        </p:nvSpPr>
        <p:spPr>
          <a:xfrm>
            <a:off x="731520" y="2057400"/>
            <a:ext cx="6035040" cy="3840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1400"/>
              </a:spcAft>
            </a:pPr>
            <a:r>
              <a:rPr sz="1900" b="1">
                <a:solidFill>
                  <a:srgbClr val="22D3EE"/>
                </a:solidFill>
                <a:latin typeface="Segoe UI"/>
              </a:rPr>
              <a:t>▸  </a:t>
            </a:r>
            <a:r>
              <a:rPr sz="1900" b="0">
                <a:solidFill>
                  <a:srgbClr val="F8FAFC"/>
                </a:solidFill>
                <a:latin typeface="Segoe UI"/>
              </a:rPr>
              <a:t>Bagian dari suite keamanan Windows Defender</a:t>
            </a:r>
          </a:p>
          <a:p>
            <a:pPr algn="l">
              <a:lnSpc>
                <a:spcPct val="120000"/>
              </a:lnSpc>
              <a:spcAft>
                <a:spcPts val="1400"/>
              </a:spcAft>
            </a:pPr>
            <a:r>
              <a:rPr sz="1900" b="1">
                <a:solidFill>
                  <a:srgbClr val="22D3EE"/>
                </a:solidFill>
                <a:latin typeface="Segoe UI"/>
              </a:rPr>
              <a:t>▸  </a:t>
            </a:r>
            <a:r>
              <a:rPr sz="1900" b="0">
                <a:solidFill>
                  <a:srgbClr val="F8FAFC"/>
                </a:solidFill>
                <a:latin typeface="Segoe UI"/>
              </a:rPr>
              <a:t>Melindungi komputer dari ancaman jaringan dan serangan dari luar</a:t>
            </a:r>
          </a:p>
          <a:p>
            <a:pPr algn="l">
              <a:lnSpc>
                <a:spcPct val="120000"/>
              </a:lnSpc>
              <a:spcAft>
                <a:spcPts val="1400"/>
              </a:spcAft>
            </a:pPr>
            <a:r>
              <a:rPr sz="1900" b="1">
                <a:solidFill>
                  <a:srgbClr val="22D3EE"/>
                </a:solidFill>
                <a:latin typeface="Segoe UI"/>
              </a:rPr>
              <a:t>▸  </a:t>
            </a:r>
            <a:r>
              <a:rPr sz="1900" b="0">
                <a:solidFill>
                  <a:srgbClr val="F8FAFC"/>
                </a:solidFill>
                <a:latin typeface="Segoe UI"/>
              </a:rPr>
              <a:t>Mengawasi lalu lintas jaringan dan mengelola komunikasi antara komputer dan jaringan eksternal, seperti internet</a:t>
            </a:r>
          </a:p>
        </p:txBody>
      </p:sp>
      <p:sp>
        <p:nvSpPr>
          <p:cNvPr id="16" name="!!editor"/>
          <p:cNvSpPr/>
          <p:nvPr/>
        </p:nvSpPr>
        <p:spPr>
          <a:xfrm>
            <a:off x="7315200" y="1920240"/>
            <a:ext cx="4114800" cy="3566160"/>
          </a:xfrm>
          <a:prstGeom prst="roundRect">
            <a:avLst>
              <a:gd name="adj" fmla="val 4000"/>
            </a:avLst>
          </a:prstGeom>
          <a:solidFill>
            <a:srgbClr val="151F33"/>
          </a:solidFill>
          <a:ln w="15875">
            <a:solidFill>
              <a:srgbClr val="2A3A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!!editorBar"/>
          <p:cNvSpPr/>
          <p:nvPr/>
        </p:nvSpPr>
        <p:spPr>
          <a:xfrm>
            <a:off x="7315200" y="1920240"/>
            <a:ext cx="4114800" cy="457200"/>
          </a:xfrm>
          <a:prstGeom prst="roundRect">
            <a:avLst>
              <a:gd name="adj" fmla="val 30000"/>
            </a:avLst>
          </a:prstGeom>
          <a:solidFill>
            <a:srgbClr val="1C29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!!dot0"/>
          <p:cNvSpPr/>
          <p:nvPr/>
        </p:nvSpPr>
        <p:spPr>
          <a:xfrm>
            <a:off x="7543800" y="2075688"/>
            <a:ext cx="146304" cy="146304"/>
          </a:xfrm>
          <a:prstGeom prst="ellipse">
            <a:avLst/>
          </a:prstGeom>
          <a:solidFill>
            <a:srgbClr val="FB71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!!dot1"/>
          <p:cNvSpPr/>
          <p:nvPr/>
        </p:nvSpPr>
        <p:spPr>
          <a:xfrm>
            <a:off x="7799831" y="2075688"/>
            <a:ext cx="146304" cy="146304"/>
          </a:xfrm>
          <a:prstGeom prst="ellipse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!!dot2"/>
          <p:cNvSpPr/>
          <p:nvPr/>
        </p:nvSpPr>
        <p:spPr>
          <a:xfrm>
            <a:off x="8055864" y="2075688"/>
            <a:ext cx="146304" cy="146304"/>
          </a:xfrm>
          <a:prstGeom prst="ellipse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!!fileName"/>
          <p:cNvSpPr txBox="1"/>
          <p:nvPr/>
        </p:nvSpPr>
        <p:spPr>
          <a:xfrm>
            <a:off x="8458200" y="2020824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94A3B8"/>
                </a:solidFill>
                <a:latin typeface="Consolas"/>
              </a:rPr>
              <a:t>security.cfg</a:t>
            </a:r>
          </a:p>
        </p:txBody>
      </p:sp>
      <p:sp>
        <p:nvSpPr>
          <p:cNvPr id="22" name="!!ln0"/>
          <p:cNvSpPr/>
          <p:nvPr/>
        </p:nvSpPr>
        <p:spPr>
          <a:xfrm>
            <a:off x="7635240" y="2697480"/>
            <a:ext cx="1760220" cy="146304"/>
          </a:xfrm>
          <a:prstGeom prst="roundRect">
            <a:avLst>
              <a:gd name="adj" fmla="val 50000"/>
            </a:avLst>
          </a:prstGeom>
          <a:solidFill>
            <a:srgbClr val="22D3EE">
              <a:alpha val="7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!!ln1"/>
          <p:cNvSpPr/>
          <p:nvPr/>
        </p:nvSpPr>
        <p:spPr>
          <a:xfrm>
            <a:off x="7635240" y="3081528"/>
            <a:ext cx="2400300" cy="146304"/>
          </a:xfrm>
          <a:prstGeom prst="roundRect">
            <a:avLst>
              <a:gd name="adj" fmla="val 50000"/>
            </a:avLst>
          </a:prstGeom>
          <a:solidFill>
            <a:srgbClr val="818CF8">
              <a:alpha val="7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!!ln2"/>
          <p:cNvSpPr/>
          <p:nvPr/>
        </p:nvSpPr>
        <p:spPr>
          <a:xfrm>
            <a:off x="7909560" y="3465576"/>
            <a:ext cx="1280160" cy="146304"/>
          </a:xfrm>
          <a:prstGeom prst="roundRect">
            <a:avLst>
              <a:gd name="adj" fmla="val 50000"/>
            </a:avLst>
          </a:prstGeom>
          <a:solidFill>
            <a:srgbClr val="34D399">
              <a:alpha val="7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!!ln3"/>
          <p:cNvSpPr/>
          <p:nvPr/>
        </p:nvSpPr>
        <p:spPr>
          <a:xfrm>
            <a:off x="7909560" y="3849624"/>
            <a:ext cx="2176272" cy="146304"/>
          </a:xfrm>
          <a:prstGeom prst="roundRect">
            <a:avLst>
              <a:gd name="adj" fmla="val 50000"/>
            </a:avLst>
          </a:prstGeom>
          <a:solidFill>
            <a:srgbClr val="22D3EE">
              <a:alpha val="7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!!ln4"/>
          <p:cNvSpPr/>
          <p:nvPr/>
        </p:nvSpPr>
        <p:spPr>
          <a:xfrm>
            <a:off x="7909560" y="4233672"/>
            <a:ext cx="1600200" cy="146304"/>
          </a:xfrm>
          <a:prstGeom prst="roundRect">
            <a:avLst>
              <a:gd name="adj" fmla="val 50000"/>
            </a:avLst>
          </a:prstGeom>
          <a:solidFill>
            <a:srgbClr val="FBBF24">
              <a:alpha val="7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!!ln5"/>
          <p:cNvSpPr/>
          <p:nvPr/>
        </p:nvSpPr>
        <p:spPr>
          <a:xfrm>
            <a:off x="7635240" y="4617720"/>
            <a:ext cx="2560320" cy="146304"/>
          </a:xfrm>
          <a:prstGeom prst="roundRect">
            <a:avLst>
              <a:gd name="adj" fmla="val 50000"/>
            </a:avLst>
          </a:prstGeom>
          <a:solidFill>
            <a:srgbClr val="818CF8">
              <a:alpha val="7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!!ln6"/>
          <p:cNvSpPr/>
          <p:nvPr/>
        </p:nvSpPr>
        <p:spPr>
          <a:xfrm>
            <a:off x="7635240" y="5001768"/>
            <a:ext cx="1120139" cy="146304"/>
          </a:xfrm>
          <a:prstGeom prst="roundRect">
            <a:avLst>
              <a:gd name="adj" fmla="val 50000"/>
            </a:avLst>
          </a:prstGeom>
          <a:solidFill>
            <a:srgbClr val="34D399">
              <a:alpha val="7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250">
        <p159:morph option="byObject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!!glowA"/>
          <p:cNvSpPr/>
          <p:nvPr/>
        </p:nvSpPr>
        <p:spPr>
          <a:xfrm>
            <a:off x="-1645920" y="3840480"/>
            <a:ext cx="4937760" cy="4937760"/>
          </a:xfrm>
          <a:prstGeom prst="ellipse">
            <a:avLst/>
          </a:prstGeom>
          <a:solidFill>
            <a:srgbClr val="22D3EE">
              <a:alpha val="16000"/>
            </a:srgbClr>
          </a:solidFill>
          <a:ln>
            <a:noFill/>
          </a:ln>
          <a:effectLst>
            <a:softEdge rad="114300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!!glowB"/>
          <p:cNvSpPr/>
          <p:nvPr/>
        </p:nvSpPr>
        <p:spPr>
          <a:xfrm>
            <a:off x="8961120" y="-1828800"/>
            <a:ext cx="4754880" cy="4754880"/>
          </a:xfrm>
          <a:prstGeom prst="ellipse">
            <a:avLst/>
          </a:prstGeom>
          <a:solidFill>
            <a:srgbClr val="818CF8">
              <a:alpha val="18000"/>
            </a:srgbClr>
          </a:solidFill>
          <a:ln>
            <a:noFill/>
          </a:ln>
          <a:effectLst>
            <a:softEdge rad="114300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!!bracket"/>
          <p:cNvSpPr txBox="1"/>
          <p:nvPr/>
        </p:nvSpPr>
        <p:spPr>
          <a:xfrm>
            <a:off x="640080" y="6217920"/>
            <a:ext cx="1280160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2600" b="1">
                <a:solidFill>
                  <a:srgbClr val="22D3EE"/>
                </a:solidFill>
                <a:latin typeface="Consolas"/>
              </a:rPr>
              <a:t>&lt;/&gt;</a:t>
            </a:r>
          </a:p>
        </p:txBody>
      </p:sp>
      <p:sp>
        <p:nvSpPr>
          <p:cNvPr id="5" name="!!node0"/>
          <p:cNvSpPr/>
          <p:nvPr/>
        </p:nvSpPr>
        <p:spPr>
          <a:xfrm>
            <a:off x="10332720" y="320040"/>
            <a:ext cx="146304" cy="146304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!!node1"/>
          <p:cNvSpPr/>
          <p:nvPr/>
        </p:nvSpPr>
        <p:spPr>
          <a:xfrm>
            <a:off x="11109960" y="640080"/>
            <a:ext cx="146304" cy="146304"/>
          </a:xfrm>
          <a:prstGeom prst="ellipse">
            <a:avLst/>
          </a:prstGeom>
          <a:solidFill>
            <a:srgbClr val="818C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!!node2"/>
          <p:cNvSpPr/>
          <p:nvPr/>
        </p:nvSpPr>
        <p:spPr>
          <a:xfrm>
            <a:off x="10652760" y="1188719"/>
            <a:ext cx="146304" cy="146304"/>
          </a:xfrm>
          <a:prstGeom prst="ellipse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!!node3"/>
          <p:cNvSpPr/>
          <p:nvPr/>
        </p:nvSpPr>
        <p:spPr>
          <a:xfrm>
            <a:off x="11475720" y="1280160"/>
            <a:ext cx="146304" cy="146304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9" name="!!link0"/>
          <p:cNvCxnSpPr/>
          <p:nvPr/>
        </p:nvCxnSpPr>
        <p:spPr>
          <a:xfrm>
            <a:off x="10405872" y="393192"/>
            <a:ext cx="777240" cy="320039"/>
          </a:xfrm>
          <a:prstGeom prst="line">
            <a:avLst/>
          </a:prstGeom>
          <a:ln w="15875">
            <a:solidFill>
              <a:srgbClr val="2A3A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!!link1"/>
          <p:cNvCxnSpPr/>
          <p:nvPr/>
        </p:nvCxnSpPr>
        <p:spPr>
          <a:xfrm>
            <a:off x="10405872" y="393192"/>
            <a:ext cx="320040" cy="868680"/>
          </a:xfrm>
          <a:prstGeom prst="line">
            <a:avLst/>
          </a:prstGeom>
          <a:ln w="15875">
            <a:solidFill>
              <a:srgbClr val="2A3A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!!link2"/>
          <p:cNvCxnSpPr/>
          <p:nvPr/>
        </p:nvCxnSpPr>
        <p:spPr>
          <a:xfrm>
            <a:off x="11183112" y="713231"/>
            <a:ext cx="365760" cy="640081"/>
          </a:xfrm>
          <a:prstGeom prst="line">
            <a:avLst/>
          </a:prstGeom>
          <a:ln w="15875">
            <a:solidFill>
              <a:srgbClr val="2A3A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!!link3"/>
          <p:cNvCxnSpPr/>
          <p:nvPr/>
        </p:nvCxnSpPr>
        <p:spPr>
          <a:xfrm>
            <a:off x="10725912" y="1261872"/>
            <a:ext cx="822960" cy="91440"/>
          </a:xfrm>
          <a:prstGeom prst="line">
            <a:avLst/>
          </a:prstGeom>
          <a:ln w="15875">
            <a:solidFill>
              <a:srgbClr val="2A3A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!!kicker"/>
          <p:cNvSpPr txBox="1"/>
          <p:nvPr/>
        </p:nvSpPr>
        <p:spPr>
          <a:xfrm>
            <a:off x="731520" y="566928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22D3EE"/>
                </a:solidFill>
                <a:latin typeface="Consolas"/>
              </a:rPr>
              <a:t>03 · contoh</a:t>
            </a:r>
          </a:p>
        </p:txBody>
      </p:sp>
      <p:sp>
        <p:nvSpPr>
          <p:cNvPr id="14" name="!!title"/>
          <p:cNvSpPr txBox="1"/>
          <p:nvPr/>
        </p:nvSpPr>
        <p:spPr>
          <a:xfrm>
            <a:off x="731520" y="914400"/>
            <a:ext cx="9601200" cy="8229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3600" b="1">
                <a:solidFill>
                  <a:srgbClr val="F8FAFC"/>
                </a:solidFill>
                <a:latin typeface="Segoe UI Semibold"/>
              </a:rPr>
              <a:t>Contoh antivirus</a:t>
            </a:r>
          </a:p>
        </p:txBody>
      </p:sp>
      <p:sp>
        <p:nvSpPr>
          <p:cNvPr id="15" name="!!card0"/>
          <p:cNvSpPr/>
          <p:nvPr/>
        </p:nvSpPr>
        <p:spPr>
          <a:xfrm>
            <a:off x="731520" y="2148840"/>
            <a:ext cx="3393338" cy="1051560"/>
          </a:xfrm>
          <a:prstGeom prst="roundRect">
            <a:avLst>
              <a:gd name="adj" fmla="val 8000"/>
            </a:avLst>
          </a:prstGeom>
          <a:solidFill>
            <a:srgbClr val="151F33"/>
          </a:solidFill>
          <a:ln w="15875">
            <a:solidFill>
              <a:srgbClr val="2A3A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!!chip0"/>
          <p:cNvSpPr/>
          <p:nvPr/>
        </p:nvSpPr>
        <p:spPr>
          <a:xfrm>
            <a:off x="1005840" y="2423160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22D3EE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!!chipTxt0"/>
          <p:cNvSpPr txBox="1"/>
          <p:nvPr/>
        </p:nvSpPr>
        <p:spPr>
          <a:xfrm>
            <a:off x="1005840" y="2423160"/>
            <a:ext cx="502920" cy="5029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22D3EE"/>
                </a:solidFill>
                <a:latin typeface="Consolas"/>
              </a:rPr>
              <a:t>01</a:t>
            </a:r>
          </a:p>
        </p:txBody>
      </p:sp>
      <p:sp>
        <p:nvSpPr>
          <p:cNvPr id="18" name="!!cardH0"/>
          <p:cNvSpPr txBox="1"/>
          <p:nvPr/>
        </p:nvSpPr>
        <p:spPr>
          <a:xfrm>
            <a:off x="1691640" y="2423160"/>
            <a:ext cx="2204618" cy="5029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900" b="1">
                <a:solidFill>
                  <a:srgbClr val="F8FAFC"/>
                </a:solidFill>
                <a:latin typeface="Segoe UI Semibold"/>
              </a:rPr>
              <a:t>SMADAV</a:t>
            </a:r>
          </a:p>
        </p:txBody>
      </p:sp>
      <p:sp>
        <p:nvSpPr>
          <p:cNvPr id="19" name="!!card1"/>
          <p:cNvSpPr/>
          <p:nvPr/>
        </p:nvSpPr>
        <p:spPr>
          <a:xfrm>
            <a:off x="4399178" y="2148840"/>
            <a:ext cx="3393338" cy="1051560"/>
          </a:xfrm>
          <a:prstGeom prst="roundRect">
            <a:avLst>
              <a:gd name="adj" fmla="val 8000"/>
            </a:avLst>
          </a:prstGeom>
          <a:solidFill>
            <a:srgbClr val="151F33"/>
          </a:solidFill>
          <a:ln w="15875">
            <a:solidFill>
              <a:srgbClr val="2A3A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!!chip1"/>
          <p:cNvSpPr/>
          <p:nvPr/>
        </p:nvSpPr>
        <p:spPr>
          <a:xfrm>
            <a:off x="4673498" y="2423160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818CF8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!!chipTxt1"/>
          <p:cNvSpPr txBox="1"/>
          <p:nvPr/>
        </p:nvSpPr>
        <p:spPr>
          <a:xfrm>
            <a:off x="4673498" y="2423160"/>
            <a:ext cx="502920" cy="5029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818CF8"/>
                </a:solidFill>
                <a:latin typeface="Consolas"/>
              </a:rPr>
              <a:t>02</a:t>
            </a:r>
          </a:p>
        </p:txBody>
      </p:sp>
      <p:sp>
        <p:nvSpPr>
          <p:cNvPr id="22" name="!!cardH1"/>
          <p:cNvSpPr txBox="1"/>
          <p:nvPr/>
        </p:nvSpPr>
        <p:spPr>
          <a:xfrm>
            <a:off x="5359298" y="2423160"/>
            <a:ext cx="2204618" cy="5029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900" b="1">
                <a:solidFill>
                  <a:srgbClr val="F8FAFC"/>
                </a:solidFill>
                <a:latin typeface="Segoe UI Semibold"/>
              </a:rPr>
              <a:t>Avira</a:t>
            </a:r>
          </a:p>
        </p:txBody>
      </p:sp>
      <p:sp>
        <p:nvSpPr>
          <p:cNvPr id="23" name="!!card2"/>
          <p:cNvSpPr/>
          <p:nvPr/>
        </p:nvSpPr>
        <p:spPr>
          <a:xfrm>
            <a:off x="8066836" y="2148840"/>
            <a:ext cx="3393338" cy="1051560"/>
          </a:xfrm>
          <a:prstGeom prst="roundRect">
            <a:avLst>
              <a:gd name="adj" fmla="val 8000"/>
            </a:avLst>
          </a:prstGeom>
          <a:solidFill>
            <a:srgbClr val="151F33"/>
          </a:solidFill>
          <a:ln w="15875">
            <a:solidFill>
              <a:srgbClr val="2A3A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!!chip2"/>
          <p:cNvSpPr/>
          <p:nvPr/>
        </p:nvSpPr>
        <p:spPr>
          <a:xfrm>
            <a:off x="8341156" y="2423160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34D399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!!chipTxt2"/>
          <p:cNvSpPr txBox="1"/>
          <p:nvPr/>
        </p:nvSpPr>
        <p:spPr>
          <a:xfrm>
            <a:off x="8341156" y="2423160"/>
            <a:ext cx="502920" cy="5029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34D399"/>
                </a:solidFill>
                <a:latin typeface="Consolas"/>
              </a:rPr>
              <a:t>03</a:t>
            </a:r>
          </a:p>
        </p:txBody>
      </p:sp>
      <p:sp>
        <p:nvSpPr>
          <p:cNvPr id="26" name="!!cardH2"/>
          <p:cNvSpPr txBox="1"/>
          <p:nvPr/>
        </p:nvSpPr>
        <p:spPr>
          <a:xfrm>
            <a:off x="9026956" y="2423160"/>
            <a:ext cx="2204618" cy="5029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900" b="1">
                <a:solidFill>
                  <a:srgbClr val="F8FAFC"/>
                </a:solidFill>
                <a:latin typeface="Segoe UI Semibold"/>
              </a:rPr>
              <a:t>Avast</a:t>
            </a:r>
          </a:p>
        </p:txBody>
      </p:sp>
      <p:sp>
        <p:nvSpPr>
          <p:cNvPr id="27" name="!!card3"/>
          <p:cNvSpPr/>
          <p:nvPr/>
        </p:nvSpPr>
        <p:spPr>
          <a:xfrm>
            <a:off x="731520" y="3474720"/>
            <a:ext cx="3393338" cy="1051560"/>
          </a:xfrm>
          <a:prstGeom prst="roundRect">
            <a:avLst>
              <a:gd name="adj" fmla="val 8000"/>
            </a:avLst>
          </a:prstGeom>
          <a:solidFill>
            <a:srgbClr val="151F33"/>
          </a:solidFill>
          <a:ln w="15875">
            <a:solidFill>
              <a:srgbClr val="2A3A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!!chip3"/>
          <p:cNvSpPr/>
          <p:nvPr/>
        </p:nvSpPr>
        <p:spPr>
          <a:xfrm>
            <a:off x="1005840" y="3749039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FBBF24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!!chipTxt3"/>
          <p:cNvSpPr txBox="1"/>
          <p:nvPr/>
        </p:nvSpPr>
        <p:spPr>
          <a:xfrm>
            <a:off x="1005840" y="3749039"/>
            <a:ext cx="502920" cy="5029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BBF24"/>
                </a:solidFill>
                <a:latin typeface="Consolas"/>
              </a:rPr>
              <a:t>04</a:t>
            </a:r>
          </a:p>
        </p:txBody>
      </p:sp>
      <p:sp>
        <p:nvSpPr>
          <p:cNvPr id="30" name="!!cardH3"/>
          <p:cNvSpPr txBox="1"/>
          <p:nvPr/>
        </p:nvSpPr>
        <p:spPr>
          <a:xfrm>
            <a:off x="1691640" y="3749039"/>
            <a:ext cx="2204618" cy="5029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900" b="1">
                <a:solidFill>
                  <a:srgbClr val="F8FAFC"/>
                </a:solidFill>
                <a:latin typeface="Segoe UI Semibold"/>
              </a:rPr>
              <a:t>AVG</a:t>
            </a:r>
          </a:p>
        </p:txBody>
      </p:sp>
      <p:sp>
        <p:nvSpPr>
          <p:cNvPr id="31" name="!!card4"/>
          <p:cNvSpPr/>
          <p:nvPr/>
        </p:nvSpPr>
        <p:spPr>
          <a:xfrm>
            <a:off x="4399178" y="3474720"/>
            <a:ext cx="3393338" cy="1051560"/>
          </a:xfrm>
          <a:prstGeom prst="roundRect">
            <a:avLst>
              <a:gd name="adj" fmla="val 8000"/>
            </a:avLst>
          </a:prstGeom>
          <a:solidFill>
            <a:srgbClr val="151F33"/>
          </a:solidFill>
          <a:ln w="15875">
            <a:solidFill>
              <a:srgbClr val="2A3A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!!chip4"/>
          <p:cNvSpPr/>
          <p:nvPr/>
        </p:nvSpPr>
        <p:spPr>
          <a:xfrm>
            <a:off x="4673498" y="3749039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22D3EE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!!chipTxt4"/>
          <p:cNvSpPr txBox="1"/>
          <p:nvPr/>
        </p:nvSpPr>
        <p:spPr>
          <a:xfrm>
            <a:off x="4673498" y="3749039"/>
            <a:ext cx="502920" cy="5029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22D3EE"/>
                </a:solidFill>
                <a:latin typeface="Consolas"/>
              </a:rPr>
              <a:t>05</a:t>
            </a:r>
          </a:p>
        </p:txBody>
      </p:sp>
      <p:sp>
        <p:nvSpPr>
          <p:cNvPr id="34" name="!!cardH4"/>
          <p:cNvSpPr txBox="1"/>
          <p:nvPr/>
        </p:nvSpPr>
        <p:spPr>
          <a:xfrm>
            <a:off x="5359298" y="3749039"/>
            <a:ext cx="2204618" cy="5029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900" b="1">
                <a:solidFill>
                  <a:srgbClr val="F8FAFC"/>
                </a:solidFill>
                <a:latin typeface="Segoe UI Semibold"/>
              </a:rPr>
              <a:t>Norton</a:t>
            </a:r>
          </a:p>
        </p:txBody>
      </p:sp>
      <p:sp>
        <p:nvSpPr>
          <p:cNvPr id="35" name="!!card5"/>
          <p:cNvSpPr/>
          <p:nvPr/>
        </p:nvSpPr>
        <p:spPr>
          <a:xfrm>
            <a:off x="8066836" y="3474720"/>
            <a:ext cx="3393338" cy="1051560"/>
          </a:xfrm>
          <a:prstGeom prst="roundRect">
            <a:avLst>
              <a:gd name="adj" fmla="val 8000"/>
            </a:avLst>
          </a:prstGeom>
          <a:solidFill>
            <a:srgbClr val="151F33"/>
          </a:solidFill>
          <a:ln w="15875">
            <a:solidFill>
              <a:srgbClr val="2A3A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!!chip5"/>
          <p:cNvSpPr/>
          <p:nvPr/>
        </p:nvSpPr>
        <p:spPr>
          <a:xfrm>
            <a:off x="8341156" y="3749039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818CF8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!!chipTxt5"/>
          <p:cNvSpPr txBox="1"/>
          <p:nvPr/>
        </p:nvSpPr>
        <p:spPr>
          <a:xfrm>
            <a:off x="8341156" y="3749039"/>
            <a:ext cx="502920" cy="5029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818CF8"/>
                </a:solidFill>
                <a:latin typeface="Consolas"/>
              </a:rPr>
              <a:t>06</a:t>
            </a:r>
          </a:p>
        </p:txBody>
      </p:sp>
      <p:sp>
        <p:nvSpPr>
          <p:cNvPr id="38" name="!!cardH5"/>
          <p:cNvSpPr txBox="1"/>
          <p:nvPr/>
        </p:nvSpPr>
        <p:spPr>
          <a:xfrm>
            <a:off x="9026956" y="3749039"/>
            <a:ext cx="2204618" cy="5029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900" b="1">
                <a:solidFill>
                  <a:srgbClr val="F8FAFC"/>
                </a:solidFill>
                <a:latin typeface="Segoe UI Semibold"/>
              </a:rPr>
              <a:t>McAfee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250">
        <p159:morph option="byObject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!!glowA"/>
          <p:cNvSpPr/>
          <p:nvPr/>
        </p:nvSpPr>
        <p:spPr>
          <a:xfrm>
            <a:off x="8961120" y="3291840"/>
            <a:ext cx="5303520" cy="5303520"/>
          </a:xfrm>
          <a:prstGeom prst="ellipse">
            <a:avLst/>
          </a:prstGeom>
          <a:solidFill>
            <a:srgbClr val="22D3EE">
              <a:alpha val="16000"/>
            </a:srgbClr>
          </a:solidFill>
          <a:ln>
            <a:noFill/>
          </a:ln>
          <a:effectLst>
            <a:softEdge rad="114300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!!glowB"/>
          <p:cNvSpPr/>
          <p:nvPr/>
        </p:nvSpPr>
        <p:spPr>
          <a:xfrm>
            <a:off x="-1097280" y="-2011680"/>
            <a:ext cx="4023360" cy="4023360"/>
          </a:xfrm>
          <a:prstGeom prst="ellipse">
            <a:avLst/>
          </a:prstGeom>
          <a:solidFill>
            <a:srgbClr val="818CF8">
              <a:alpha val="18000"/>
            </a:srgbClr>
          </a:solidFill>
          <a:ln>
            <a:noFill/>
          </a:ln>
          <a:effectLst>
            <a:softEdge rad="114300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!!bracket"/>
          <p:cNvSpPr txBox="1"/>
          <p:nvPr/>
        </p:nvSpPr>
        <p:spPr>
          <a:xfrm>
            <a:off x="10241280" y="6217920"/>
            <a:ext cx="1280160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2600" b="1">
                <a:solidFill>
                  <a:srgbClr val="22D3EE"/>
                </a:solidFill>
                <a:latin typeface="Consolas"/>
              </a:rPr>
              <a:t>&lt;/&gt;</a:t>
            </a:r>
          </a:p>
        </p:txBody>
      </p:sp>
      <p:sp>
        <p:nvSpPr>
          <p:cNvPr id="5" name="!!node0"/>
          <p:cNvSpPr/>
          <p:nvPr/>
        </p:nvSpPr>
        <p:spPr>
          <a:xfrm>
            <a:off x="10515600" y="365760"/>
            <a:ext cx="146304" cy="146304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!!node1"/>
          <p:cNvSpPr/>
          <p:nvPr/>
        </p:nvSpPr>
        <p:spPr>
          <a:xfrm>
            <a:off x="11292840" y="685800"/>
            <a:ext cx="146304" cy="146304"/>
          </a:xfrm>
          <a:prstGeom prst="ellipse">
            <a:avLst/>
          </a:prstGeom>
          <a:solidFill>
            <a:srgbClr val="818C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!!node2"/>
          <p:cNvSpPr/>
          <p:nvPr/>
        </p:nvSpPr>
        <p:spPr>
          <a:xfrm>
            <a:off x="10835640" y="1234440"/>
            <a:ext cx="146304" cy="146304"/>
          </a:xfrm>
          <a:prstGeom prst="ellipse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!!node3"/>
          <p:cNvSpPr/>
          <p:nvPr/>
        </p:nvSpPr>
        <p:spPr>
          <a:xfrm>
            <a:off x="11658600" y="1325880"/>
            <a:ext cx="146304" cy="146304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9" name="!!link0"/>
          <p:cNvCxnSpPr/>
          <p:nvPr/>
        </p:nvCxnSpPr>
        <p:spPr>
          <a:xfrm>
            <a:off x="10588752" y="438912"/>
            <a:ext cx="777240" cy="320040"/>
          </a:xfrm>
          <a:prstGeom prst="line">
            <a:avLst/>
          </a:prstGeom>
          <a:ln w="15875">
            <a:solidFill>
              <a:srgbClr val="2A3A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!!link1"/>
          <p:cNvCxnSpPr/>
          <p:nvPr/>
        </p:nvCxnSpPr>
        <p:spPr>
          <a:xfrm>
            <a:off x="10588752" y="438912"/>
            <a:ext cx="320040" cy="868680"/>
          </a:xfrm>
          <a:prstGeom prst="line">
            <a:avLst/>
          </a:prstGeom>
          <a:ln w="15875">
            <a:solidFill>
              <a:srgbClr val="2A3A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!!link2"/>
          <p:cNvCxnSpPr/>
          <p:nvPr/>
        </p:nvCxnSpPr>
        <p:spPr>
          <a:xfrm>
            <a:off x="11365992" y="758952"/>
            <a:ext cx="365760" cy="640080"/>
          </a:xfrm>
          <a:prstGeom prst="line">
            <a:avLst/>
          </a:prstGeom>
          <a:ln w="15875">
            <a:solidFill>
              <a:srgbClr val="2A3A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!!link3"/>
          <p:cNvCxnSpPr/>
          <p:nvPr/>
        </p:nvCxnSpPr>
        <p:spPr>
          <a:xfrm>
            <a:off x="10908792" y="1307592"/>
            <a:ext cx="822960" cy="91440"/>
          </a:xfrm>
          <a:prstGeom prst="line">
            <a:avLst/>
          </a:prstGeom>
          <a:ln w="15875">
            <a:solidFill>
              <a:srgbClr val="2A3A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!!kicker"/>
          <p:cNvSpPr txBox="1"/>
          <p:nvPr/>
        </p:nvSpPr>
        <p:spPr>
          <a:xfrm>
            <a:off x="731520" y="566928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22D3EE"/>
                </a:solidFill>
                <a:latin typeface="Consolas"/>
              </a:rPr>
              <a:t>04 · kelebihan &amp; kekurangan (1/2)</a:t>
            </a:r>
          </a:p>
        </p:txBody>
      </p:sp>
      <p:sp>
        <p:nvSpPr>
          <p:cNvPr id="14" name="!!title"/>
          <p:cNvSpPr txBox="1"/>
          <p:nvPr/>
        </p:nvSpPr>
        <p:spPr>
          <a:xfrm>
            <a:off x="731520" y="914400"/>
            <a:ext cx="9601200" cy="8229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3600" b="1">
                <a:solidFill>
                  <a:srgbClr val="F8FAFC"/>
                </a:solidFill>
                <a:latin typeface="Segoe UI Semibold"/>
              </a:rPr>
              <a:t>Kelebihan dan kekurangan antivirus</a:t>
            </a:r>
          </a:p>
        </p:txBody>
      </p:sp>
      <p:sp>
        <p:nvSpPr>
          <p:cNvPr id="15" name="!!card0"/>
          <p:cNvSpPr/>
          <p:nvPr/>
        </p:nvSpPr>
        <p:spPr>
          <a:xfrm>
            <a:off x="731520" y="2148840"/>
            <a:ext cx="3393338" cy="3749039"/>
          </a:xfrm>
          <a:prstGeom prst="roundRect">
            <a:avLst>
              <a:gd name="adj" fmla="val 8000"/>
            </a:avLst>
          </a:prstGeom>
          <a:solidFill>
            <a:srgbClr val="151F33"/>
          </a:solidFill>
          <a:ln w="15875">
            <a:solidFill>
              <a:srgbClr val="2A3A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!!chip0"/>
          <p:cNvSpPr/>
          <p:nvPr/>
        </p:nvSpPr>
        <p:spPr>
          <a:xfrm>
            <a:off x="1005840" y="2423160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22D3EE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!!chipTxt0"/>
          <p:cNvSpPr txBox="1"/>
          <p:nvPr/>
        </p:nvSpPr>
        <p:spPr>
          <a:xfrm>
            <a:off x="1005840" y="2423160"/>
            <a:ext cx="502920" cy="5029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22D3EE"/>
                </a:solidFill>
                <a:latin typeface="Consolas"/>
              </a:rPr>
              <a:t>01</a:t>
            </a:r>
          </a:p>
        </p:txBody>
      </p:sp>
      <p:sp>
        <p:nvSpPr>
          <p:cNvPr id="18" name="!!cardH0"/>
          <p:cNvSpPr txBox="1"/>
          <p:nvPr/>
        </p:nvSpPr>
        <p:spPr>
          <a:xfrm>
            <a:off x="1005840" y="3063240"/>
            <a:ext cx="2844698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900" b="1">
                <a:solidFill>
                  <a:srgbClr val="F8FAFC"/>
                </a:solidFill>
                <a:latin typeface="Segoe UI Semibold"/>
              </a:rPr>
              <a:t>SMADAV</a:t>
            </a:r>
          </a:p>
        </p:txBody>
      </p:sp>
      <p:sp>
        <p:nvSpPr>
          <p:cNvPr id="19" name="!!cardD0"/>
          <p:cNvSpPr txBox="1"/>
          <p:nvPr/>
        </p:nvSpPr>
        <p:spPr>
          <a:xfrm>
            <a:off x="1005840" y="3566160"/>
            <a:ext cx="2844698" cy="219455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400" b="1">
                <a:solidFill>
                  <a:srgbClr val="22D3EE"/>
                </a:solidFill>
                <a:latin typeface="Segoe UI"/>
              </a:rPr>
              <a:t>+ Kelebihan: </a:t>
            </a:r>
            <a:r>
              <a:rPr sz="1400" b="0">
                <a:solidFill>
                  <a:srgbClr val="94A3B8"/>
                </a:solidFill>
                <a:latin typeface="Segoe UI"/>
              </a:rPr>
              <a:t>Ringan, ampuh untuk virus lokal dan flashdisk, bisa berdampingan dengan antivirus lain.</a:t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400" b="1">
                <a:solidFill>
                  <a:srgbClr val="22D3EE"/>
                </a:solidFill>
                <a:latin typeface="Segoe UI"/>
              </a:rPr>
              <a:t>– Kekurangan: </a:t>
            </a:r>
            <a:r>
              <a:rPr sz="1400" b="0">
                <a:solidFill>
                  <a:srgbClr val="94A3B8"/>
                </a:solidFill>
                <a:latin typeface="Segoe UI"/>
              </a:rPr>
              <a:t>Database ancaman internasional terbatas; fitur lengkap hanya di versi Pro (berbayar).</a:t>
            </a:r>
          </a:p>
        </p:txBody>
      </p:sp>
      <p:sp>
        <p:nvSpPr>
          <p:cNvPr id="20" name="!!card1"/>
          <p:cNvSpPr/>
          <p:nvPr/>
        </p:nvSpPr>
        <p:spPr>
          <a:xfrm>
            <a:off x="4399178" y="2148840"/>
            <a:ext cx="3393338" cy="3749039"/>
          </a:xfrm>
          <a:prstGeom prst="roundRect">
            <a:avLst>
              <a:gd name="adj" fmla="val 8000"/>
            </a:avLst>
          </a:prstGeom>
          <a:solidFill>
            <a:srgbClr val="151F33"/>
          </a:solidFill>
          <a:ln w="15875">
            <a:solidFill>
              <a:srgbClr val="2A3A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!!chip1"/>
          <p:cNvSpPr/>
          <p:nvPr/>
        </p:nvSpPr>
        <p:spPr>
          <a:xfrm>
            <a:off x="4673498" y="2423160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818CF8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!!chipTxt1"/>
          <p:cNvSpPr txBox="1"/>
          <p:nvPr/>
        </p:nvSpPr>
        <p:spPr>
          <a:xfrm>
            <a:off x="4673498" y="2423160"/>
            <a:ext cx="502920" cy="5029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818CF8"/>
                </a:solidFill>
                <a:latin typeface="Consolas"/>
              </a:rPr>
              <a:t>02</a:t>
            </a:r>
          </a:p>
        </p:txBody>
      </p:sp>
      <p:sp>
        <p:nvSpPr>
          <p:cNvPr id="23" name="!!cardH1"/>
          <p:cNvSpPr txBox="1"/>
          <p:nvPr/>
        </p:nvSpPr>
        <p:spPr>
          <a:xfrm>
            <a:off x="4673498" y="3063240"/>
            <a:ext cx="2844698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900" b="1">
                <a:solidFill>
                  <a:srgbClr val="F8FAFC"/>
                </a:solidFill>
                <a:latin typeface="Segoe UI Semibold"/>
              </a:rPr>
              <a:t>Avira</a:t>
            </a:r>
          </a:p>
        </p:txBody>
      </p:sp>
      <p:sp>
        <p:nvSpPr>
          <p:cNvPr id="24" name="!!cardD1"/>
          <p:cNvSpPr txBox="1"/>
          <p:nvPr/>
        </p:nvSpPr>
        <p:spPr>
          <a:xfrm>
            <a:off x="4673498" y="3566160"/>
            <a:ext cx="2844698" cy="219455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400" b="1">
                <a:solidFill>
                  <a:srgbClr val="818CF8"/>
                </a:solidFill>
                <a:latin typeface="Segoe UI"/>
              </a:rPr>
              <a:t>+ Kelebihan: </a:t>
            </a:r>
            <a:r>
              <a:rPr sz="1400" b="0">
                <a:solidFill>
                  <a:srgbClr val="94A3B8"/>
                </a:solidFill>
                <a:latin typeface="Segoe UI"/>
              </a:rPr>
              <a:t>Ada versi gratis, deteksi malware baik, dan cukup ringan.</a:t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400" b="1">
                <a:solidFill>
                  <a:srgbClr val="818CF8"/>
                </a:solidFill>
                <a:latin typeface="Segoe UI"/>
              </a:rPr>
              <a:t>– Kekurangan: </a:t>
            </a:r>
            <a:r>
              <a:rPr sz="1400" b="0">
                <a:solidFill>
                  <a:srgbClr val="94A3B8"/>
                </a:solidFill>
                <a:latin typeface="Segoe UI"/>
              </a:rPr>
              <a:t>Sering muncul ajakan upgrade; beberapa fitur hanya di versi berbayar.</a:t>
            </a:r>
          </a:p>
        </p:txBody>
      </p:sp>
      <p:sp>
        <p:nvSpPr>
          <p:cNvPr id="25" name="!!card2"/>
          <p:cNvSpPr/>
          <p:nvPr/>
        </p:nvSpPr>
        <p:spPr>
          <a:xfrm>
            <a:off x="8066836" y="2148840"/>
            <a:ext cx="3393338" cy="3749039"/>
          </a:xfrm>
          <a:prstGeom prst="roundRect">
            <a:avLst>
              <a:gd name="adj" fmla="val 8000"/>
            </a:avLst>
          </a:prstGeom>
          <a:solidFill>
            <a:srgbClr val="151F33"/>
          </a:solidFill>
          <a:ln w="15875">
            <a:solidFill>
              <a:srgbClr val="2A3A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!!chip2"/>
          <p:cNvSpPr/>
          <p:nvPr/>
        </p:nvSpPr>
        <p:spPr>
          <a:xfrm>
            <a:off x="8341156" y="2423160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34D399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!!chipTxt2"/>
          <p:cNvSpPr txBox="1"/>
          <p:nvPr/>
        </p:nvSpPr>
        <p:spPr>
          <a:xfrm>
            <a:off x="8341156" y="2423160"/>
            <a:ext cx="502920" cy="5029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34D399"/>
                </a:solidFill>
                <a:latin typeface="Consolas"/>
              </a:rPr>
              <a:t>03</a:t>
            </a:r>
          </a:p>
        </p:txBody>
      </p:sp>
      <p:sp>
        <p:nvSpPr>
          <p:cNvPr id="28" name="!!cardH2"/>
          <p:cNvSpPr txBox="1"/>
          <p:nvPr/>
        </p:nvSpPr>
        <p:spPr>
          <a:xfrm>
            <a:off x="8341156" y="3063240"/>
            <a:ext cx="2844698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900" b="1">
                <a:solidFill>
                  <a:srgbClr val="F8FAFC"/>
                </a:solidFill>
                <a:latin typeface="Segoe UI Semibold"/>
              </a:rPr>
              <a:t>Avast</a:t>
            </a:r>
          </a:p>
        </p:txBody>
      </p:sp>
      <p:sp>
        <p:nvSpPr>
          <p:cNvPr id="29" name="!!cardD2"/>
          <p:cNvSpPr txBox="1"/>
          <p:nvPr/>
        </p:nvSpPr>
        <p:spPr>
          <a:xfrm>
            <a:off x="8341156" y="3566160"/>
            <a:ext cx="2844698" cy="219455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400" b="1">
                <a:solidFill>
                  <a:srgbClr val="34D399"/>
                </a:solidFill>
                <a:latin typeface="Segoe UI"/>
              </a:rPr>
              <a:t>+ Kelebihan: </a:t>
            </a:r>
            <a:r>
              <a:rPr sz="1400" b="0">
                <a:solidFill>
                  <a:srgbClr val="94A3B8"/>
                </a:solidFill>
                <a:latin typeface="Segoe UI"/>
              </a:rPr>
              <a:t>Gratis dengan banyak fitur, misalnya pemindai keamanan Wi-Fi.</a:t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400" b="1">
                <a:solidFill>
                  <a:srgbClr val="34D399"/>
                </a:solidFill>
                <a:latin typeface="Segoe UI"/>
              </a:rPr>
              <a:t>– Kekurangan: </a:t>
            </a:r>
            <a:r>
              <a:rPr sz="1400" b="0">
                <a:solidFill>
                  <a:srgbClr val="94A3B8"/>
                </a:solidFill>
                <a:latin typeface="Segoe UI"/>
              </a:rPr>
              <a:t>Cukup berat di komputer berspesifikasi rendah; banyak notifikasi penawaran.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250">
        <p159:morph option="byObject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!!glowA"/>
          <p:cNvSpPr/>
          <p:nvPr/>
        </p:nvSpPr>
        <p:spPr>
          <a:xfrm>
            <a:off x="7498079" y="-2194560"/>
            <a:ext cx="5486400" cy="5486400"/>
          </a:xfrm>
          <a:prstGeom prst="ellipse">
            <a:avLst/>
          </a:prstGeom>
          <a:solidFill>
            <a:srgbClr val="22D3EE">
              <a:alpha val="16000"/>
            </a:srgbClr>
          </a:solidFill>
          <a:ln>
            <a:noFill/>
          </a:ln>
          <a:effectLst>
            <a:softEdge rad="114300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!!glowB"/>
          <p:cNvSpPr/>
          <p:nvPr/>
        </p:nvSpPr>
        <p:spPr>
          <a:xfrm>
            <a:off x="548640" y="4206240"/>
            <a:ext cx="3840480" cy="3840480"/>
          </a:xfrm>
          <a:prstGeom prst="ellipse">
            <a:avLst/>
          </a:prstGeom>
          <a:solidFill>
            <a:srgbClr val="818CF8">
              <a:alpha val="18000"/>
            </a:srgbClr>
          </a:solidFill>
          <a:ln>
            <a:noFill/>
          </a:ln>
          <a:effectLst>
            <a:softEdge rad="114300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!!bracket"/>
          <p:cNvSpPr txBox="1"/>
          <p:nvPr/>
        </p:nvSpPr>
        <p:spPr>
          <a:xfrm>
            <a:off x="548640" y="6217920"/>
            <a:ext cx="1280160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2600" b="1">
                <a:solidFill>
                  <a:srgbClr val="22D3EE"/>
                </a:solidFill>
                <a:latin typeface="Consolas"/>
              </a:rPr>
              <a:t>&lt;/&gt;</a:t>
            </a:r>
          </a:p>
        </p:txBody>
      </p:sp>
      <p:sp>
        <p:nvSpPr>
          <p:cNvPr id="5" name="!!node0"/>
          <p:cNvSpPr/>
          <p:nvPr/>
        </p:nvSpPr>
        <p:spPr>
          <a:xfrm>
            <a:off x="10287000" y="256032"/>
            <a:ext cx="146304" cy="146304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!!node1"/>
          <p:cNvSpPr/>
          <p:nvPr/>
        </p:nvSpPr>
        <p:spPr>
          <a:xfrm>
            <a:off x="11064240" y="576072"/>
            <a:ext cx="146304" cy="146304"/>
          </a:xfrm>
          <a:prstGeom prst="ellipse">
            <a:avLst/>
          </a:prstGeom>
          <a:solidFill>
            <a:srgbClr val="818C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!!node2"/>
          <p:cNvSpPr/>
          <p:nvPr/>
        </p:nvSpPr>
        <p:spPr>
          <a:xfrm>
            <a:off x="10607040" y="1124712"/>
            <a:ext cx="146304" cy="146304"/>
          </a:xfrm>
          <a:prstGeom prst="ellipse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!!node3"/>
          <p:cNvSpPr/>
          <p:nvPr/>
        </p:nvSpPr>
        <p:spPr>
          <a:xfrm>
            <a:off x="11430000" y="1216152"/>
            <a:ext cx="146304" cy="146304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9" name="!!link0"/>
          <p:cNvCxnSpPr/>
          <p:nvPr/>
        </p:nvCxnSpPr>
        <p:spPr>
          <a:xfrm>
            <a:off x="10360152" y="329184"/>
            <a:ext cx="777240" cy="320040"/>
          </a:xfrm>
          <a:prstGeom prst="line">
            <a:avLst/>
          </a:prstGeom>
          <a:ln w="15875">
            <a:solidFill>
              <a:srgbClr val="2A3A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!!link1"/>
          <p:cNvCxnSpPr/>
          <p:nvPr/>
        </p:nvCxnSpPr>
        <p:spPr>
          <a:xfrm>
            <a:off x="10360152" y="329184"/>
            <a:ext cx="320040" cy="868680"/>
          </a:xfrm>
          <a:prstGeom prst="line">
            <a:avLst/>
          </a:prstGeom>
          <a:ln w="15875">
            <a:solidFill>
              <a:srgbClr val="2A3A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!!link2"/>
          <p:cNvCxnSpPr/>
          <p:nvPr/>
        </p:nvCxnSpPr>
        <p:spPr>
          <a:xfrm>
            <a:off x="11137392" y="649224"/>
            <a:ext cx="365760" cy="640080"/>
          </a:xfrm>
          <a:prstGeom prst="line">
            <a:avLst/>
          </a:prstGeom>
          <a:ln w="15875">
            <a:solidFill>
              <a:srgbClr val="2A3A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!!link3"/>
          <p:cNvCxnSpPr/>
          <p:nvPr/>
        </p:nvCxnSpPr>
        <p:spPr>
          <a:xfrm>
            <a:off x="10680192" y="1197864"/>
            <a:ext cx="822960" cy="91440"/>
          </a:xfrm>
          <a:prstGeom prst="line">
            <a:avLst/>
          </a:prstGeom>
          <a:ln w="15875">
            <a:solidFill>
              <a:srgbClr val="2A3A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!!kicker"/>
          <p:cNvSpPr txBox="1"/>
          <p:nvPr/>
        </p:nvSpPr>
        <p:spPr>
          <a:xfrm>
            <a:off x="731520" y="566928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22D3EE"/>
                </a:solidFill>
                <a:latin typeface="Consolas"/>
              </a:rPr>
              <a:t>04 · kelebihan &amp; kekurangan (2/2)</a:t>
            </a:r>
          </a:p>
        </p:txBody>
      </p:sp>
      <p:sp>
        <p:nvSpPr>
          <p:cNvPr id="14" name="!!title"/>
          <p:cNvSpPr txBox="1"/>
          <p:nvPr/>
        </p:nvSpPr>
        <p:spPr>
          <a:xfrm>
            <a:off x="731520" y="914400"/>
            <a:ext cx="9601200" cy="8229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3600" b="1">
                <a:solidFill>
                  <a:srgbClr val="F8FAFC"/>
                </a:solidFill>
                <a:latin typeface="Segoe UI Semibold"/>
              </a:rPr>
              <a:t>Kelebihan dan kekurangan antivirus</a:t>
            </a:r>
          </a:p>
        </p:txBody>
      </p:sp>
      <p:sp>
        <p:nvSpPr>
          <p:cNvPr id="15" name="!!card0"/>
          <p:cNvSpPr/>
          <p:nvPr/>
        </p:nvSpPr>
        <p:spPr>
          <a:xfrm>
            <a:off x="731520" y="2148840"/>
            <a:ext cx="3393338" cy="3749039"/>
          </a:xfrm>
          <a:prstGeom prst="roundRect">
            <a:avLst>
              <a:gd name="adj" fmla="val 8000"/>
            </a:avLst>
          </a:prstGeom>
          <a:solidFill>
            <a:srgbClr val="151F33"/>
          </a:solidFill>
          <a:ln w="15875">
            <a:solidFill>
              <a:srgbClr val="2A3A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!!chip0"/>
          <p:cNvSpPr/>
          <p:nvPr/>
        </p:nvSpPr>
        <p:spPr>
          <a:xfrm>
            <a:off x="1005840" y="2423160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FBBF24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!!chipTxt0"/>
          <p:cNvSpPr txBox="1"/>
          <p:nvPr/>
        </p:nvSpPr>
        <p:spPr>
          <a:xfrm>
            <a:off x="1005840" y="2423160"/>
            <a:ext cx="502920" cy="5029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BBF24"/>
                </a:solidFill>
                <a:latin typeface="Consolas"/>
              </a:rPr>
              <a:t>01</a:t>
            </a:r>
          </a:p>
        </p:txBody>
      </p:sp>
      <p:sp>
        <p:nvSpPr>
          <p:cNvPr id="18" name="!!cardH0"/>
          <p:cNvSpPr txBox="1"/>
          <p:nvPr/>
        </p:nvSpPr>
        <p:spPr>
          <a:xfrm>
            <a:off x="1005840" y="3063240"/>
            <a:ext cx="2844698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900" b="1">
                <a:solidFill>
                  <a:srgbClr val="F8FAFC"/>
                </a:solidFill>
                <a:latin typeface="Segoe UI Semibold"/>
              </a:rPr>
              <a:t>AVG</a:t>
            </a:r>
          </a:p>
        </p:txBody>
      </p:sp>
      <p:sp>
        <p:nvSpPr>
          <p:cNvPr id="19" name="!!cardD0"/>
          <p:cNvSpPr txBox="1"/>
          <p:nvPr/>
        </p:nvSpPr>
        <p:spPr>
          <a:xfrm>
            <a:off x="1005840" y="3566160"/>
            <a:ext cx="2844698" cy="219455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400" b="1">
                <a:solidFill>
                  <a:srgbClr val="FBBF24"/>
                </a:solidFill>
                <a:latin typeface="Segoe UI"/>
              </a:rPr>
              <a:t>+ Kelebihan: </a:t>
            </a:r>
            <a:r>
              <a:rPr sz="1400" b="0">
                <a:solidFill>
                  <a:srgbClr val="94A3B8"/>
                </a:solidFill>
                <a:latin typeface="Segoe UI"/>
              </a:rPr>
              <a:t>Gratis, tampilan sederhana, dan mudah digunakan.</a:t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400" b="1">
                <a:solidFill>
                  <a:srgbClr val="FBBF24"/>
                </a:solidFill>
                <a:latin typeface="Segoe UI"/>
              </a:rPr>
              <a:t>– Kekurangan: </a:t>
            </a:r>
            <a:r>
              <a:rPr sz="1400" b="0">
                <a:solidFill>
                  <a:srgbClr val="94A3B8"/>
                </a:solidFill>
                <a:latin typeface="Segoe UI"/>
              </a:rPr>
              <a:t>Pemindaian penuh cukup lama; sering menawarkan versi berbayar.</a:t>
            </a:r>
          </a:p>
        </p:txBody>
      </p:sp>
      <p:sp>
        <p:nvSpPr>
          <p:cNvPr id="20" name="!!card1"/>
          <p:cNvSpPr/>
          <p:nvPr/>
        </p:nvSpPr>
        <p:spPr>
          <a:xfrm>
            <a:off x="4399178" y="2148840"/>
            <a:ext cx="3393338" cy="3749039"/>
          </a:xfrm>
          <a:prstGeom prst="roundRect">
            <a:avLst>
              <a:gd name="adj" fmla="val 8000"/>
            </a:avLst>
          </a:prstGeom>
          <a:solidFill>
            <a:srgbClr val="151F33"/>
          </a:solidFill>
          <a:ln w="15875">
            <a:solidFill>
              <a:srgbClr val="2A3A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!!chip1"/>
          <p:cNvSpPr/>
          <p:nvPr/>
        </p:nvSpPr>
        <p:spPr>
          <a:xfrm>
            <a:off x="4673498" y="2423160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22D3EE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!!chipTxt1"/>
          <p:cNvSpPr txBox="1"/>
          <p:nvPr/>
        </p:nvSpPr>
        <p:spPr>
          <a:xfrm>
            <a:off x="4673498" y="2423160"/>
            <a:ext cx="502920" cy="5029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22D3EE"/>
                </a:solidFill>
                <a:latin typeface="Consolas"/>
              </a:rPr>
              <a:t>02</a:t>
            </a:r>
          </a:p>
        </p:txBody>
      </p:sp>
      <p:sp>
        <p:nvSpPr>
          <p:cNvPr id="23" name="!!cardH1"/>
          <p:cNvSpPr txBox="1"/>
          <p:nvPr/>
        </p:nvSpPr>
        <p:spPr>
          <a:xfrm>
            <a:off x="4673498" y="3063240"/>
            <a:ext cx="2844698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900" b="1">
                <a:solidFill>
                  <a:srgbClr val="F8FAFC"/>
                </a:solidFill>
                <a:latin typeface="Segoe UI Semibold"/>
              </a:rPr>
              <a:t>Norton</a:t>
            </a:r>
          </a:p>
        </p:txBody>
      </p:sp>
      <p:sp>
        <p:nvSpPr>
          <p:cNvPr id="24" name="!!cardD1"/>
          <p:cNvSpPr txBox="1"/>
          <p:nvPr/>
        </p:nvSpPr>
        <p:spPr>
          <a:xfrm>
            <a:off x="4673498" y="3566160"/>
            <a:ext cx="2844698" cy="219455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400" b="1">
                <a:solidFill>
                  <a:srgbClr val="22D3EE"/>
                </a:solidFill>
                <a:latin typeface="Segoe UI"/>
              </a:rPr>
              <a:t>+ Kelebihan: </a:t>
            </a:r>
            <a:r>
              <a:rPr sz="1400" b="0">
                <a:solidFill>
                  <a:srgbClr val="94A3B8"/>
                </a:solidFill>
                <a:latin typeface="Segoe UI"/>
              </a:rPr>
              <a:t>Perlindungan lengkap (firewall, VPN, pengelola kata sandi) dengan tingkat deteksi tinggi.</a:t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400" b="1">
                <a:solidFill>
                  <a:srgbClr val="22D3EE"/>
                </a:solidFill>
                <a:latin typeface="Segoe UI"/>
              </a:rPr>
              <a:t>– Kekurangan: </a:t>
            </a:r>
            <a:r>
              <a:rPr sz="1400" b="0">
                <a:solidFill>
                  <a:srgbClr val="94A3B8"/>
                </a:solidFill>
                <a:latin typeface="Segoe UI"/>
              </a:rPr>
              <a:t>Berbayar dan cukup memakan sumber daya komputer.</a:t>
            </a:r>
          </a:p>
        </p:txBody>
      </p:sp>
      <p:sp>
        <p:nvSpPr>
          <p:cNvPr id="25" name="!!card2"/>
          <p:cNvSpPr/>
          <p:nvPr/>
        </p:nvSpPr>
        <p:spPr>
          <a:xfrm>
            <a:off x="8066836" y="2148840"/>
            <a:ext cx="3393338" cy="3749039"/>
          </a:xfrm>
          <a:prstGeom prst="roundRect">
            <a:avLst>
              <a:gd name="adj" fmla="val 8000"/>
            </a:avLst>
          </a:prstGeom>
          <a:solidFill>
            <a:srgbClr val="151F33"/>
          </a:solidFill>
          <a:ln w="15875">
            <a:solidFill>
              <a:srgbClr val="2A3A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!!chip2"/>
          <p:cNvSpPr/>
          <p:nvPr/>
        </p:nvSpPr>
        <p:spPr>
          <a:xfrm>
            <a:off x="8341156" y="2423160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818CF8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!!chipTxt2"/>
          <p:cNvSpPr txBox="1"/>
          <p:nvPr/>
        </p:nvSpPr>
        <p:spPr>
          <a:xfrm>
            <a:off x="8341156" y="2423160"/>
            <a:ext cx="502920" cy="5029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818CF8"/>
                </a:solidFill>
                <a:latin typeface="Consolas"/>
              </a:rPr>
              <a:t>03</a:t>
            </a:r>
          </a:p>
        </p:txBody>
      </p:sp>
      <p:sp>
        <p:nvSpPr>
          <p:cNvPr id="28" name="!!cardH2"/>
          <p:cNvSpPr txBox="1"/>
          <p:nvPr/>
        </p:nvSpPr>
        <p:spPr>
          <a:xfrm>
            <a:off x="8341156" y="3063240"/>
            <a:ext cx="2844698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900" b="1">
                <a:solidFill>
                  <a:srgbClr val="F8FAFC"/>
                </a:solidFill>
                <a:latin typeface="Segoe UI Semibold"/>
              </a:rPr>
              <a:t>McAfee</a:t>
            </a:r>
          </a:p>
        </p:txBody>
      </p:sp>
      <p:sp>
        <p:nvSpPr>
          <p:cNvPr id="29" name="!!cardD2"/>
          <p:cNvSpPr txBox="1"/>
          <p:nvPr/>
        </p:nvSpPr>
        <p:spPr>
          <a:xfrm>
            <a:off x="8341156" y="3566160"/>
            <a:ext cx="2844698" cy="219455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400" b="1">
                <a:solidFill>
                  <a:srgbClr val="818CF8"/>
                </a:solidFill>
                <a:latin typeface="Segoe UI"/>
              </a:rPr>
              <a:t>+ Kelebihan: </a:t>
            </a:r>
            <a:r>
              <a:rPr sz="1400" b="0">
                <a:solidFill>
                  <a:srgbClr val="94A3B8"/>
                </a:solidFill>
                <a:latin typeface="Segoe UI"/>
              </a:rPr>
              <a:t>Fitur lengkap, bisa untuk banyak perangkat, sering sudah terpasang di laptop baru.</a:t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400" b="1">
                <a:solidFill>
                  <a:srgbClr val="818CF8"/>
                </a:solidFill>
                <a:latin typeface="Segoe UI"/>
              </a:rPr>
              <a:t>– Kekurangan: </a:t>
            </a:r>
            <a:r>
              <a:rPr sz="1400" b="0">
                <a:solidFill>
                  <a:srgbClr val="94A3B8"/>
                </a:solidFill>
                <a:latin typeface="Segoe UI"/>
              </a:rPr>
              <a:t>Berbayar setelah masa uji coba habis; cukup berat.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250">
        <p159:morph option="byObject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!!glowA"/>
          <p:cNvSpPr/>
          <p:nvPr/>
        </p:nvSpPr>
        <p:spPr>
          <a:xfrm>
            <a:off x="7863840" y="-2011680"/>
            <a:ext cx="5852160" cy="5852160"/>
          </a:xfrm>
          <a:prstGeom prst="ellipse">
            <a:avLst/>
          </a:prstGeom>
          <a:solidFill>
            <a:srgbClr val="22D3EE">
              <a:alpha val="16000"/>
            </a:srgbClr>
          </a:solidFill>
          <a:ln>
            <a:noFill/>
          </a:ln>
          <a:effectLst>
            <a:softEdge rad="114300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!!glowB"/>
          <p:cNvSpPr/>
          <p:nvPr/>
        </p:nvSpPr>
        <p:spPr>
          <a:xfrm>
            <a:off x="182880" y="3291840"/>
            <a:ext cx="4572000" cy="4572000"/>
          </a:xfrm>
          <a:prstGeom prst="ellipse">
            <a:avLst/>
          </a:prstGeom>
          <a:solidFill>
            <a:srgbClr val="818CF8">
              <a:alpha val="18000"/>
            </a:srgbClr>
          </a:solidFill>
          <a:ln>
            <a:noFill/>
          </a:ln>
          <a:effectLst>
            <a:softEdge rad="114300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!!bracket"/>
          <p:cNvSpPr txBox="1"/>
          <p:nvPr/>
        </p:nvSpPr>
        <p:spPr>
          <a:xfrm>
            <a:off x="10378440" y="6217920"/>
            <a:ext cx="1280160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2600" b="1">
                <a:solidFill>
                  <a:srgbClr val="22D3EE"/>
                </a:solidFill>
                <a:latin typeface="Consolas"/>
              </a:rPr>
              <a:t>&lt;/&gt;</a:t>
            </a:r>
          </a:p>
        </p:txBody>
      </p:sp>
      <p:sp>
        <p:nvSpPr>
          <p:cNvPr id="5" name="!!node0"/>
          <p:cNvSpPr/>
          <p:nvPr/>
        </p:nvSpPr>
        <p:spPr>
          <a:xfrm>
            <a:off x="10469880" y="274320"/>
            <a:ext cx="146304" cy="146304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!!node1"/>
          <p:cNvSpPr/>
          <p:nvPr/>
        </p:nvSpPr>
        <p:spPr>
          <a:xfrm>
            <a:off x="11247119" y="594359"/>
            <a:ext cx="146304" cy="146304"/>
          </a:xfrm>
          <a:prstGeom prst="ellipse">
            <a:avLst/>
          </a:prstGeom>
          <a:solidFill>
            <a:srgbClr val="818C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!!node2"/>
          <p:cNvSpPr/>
          <p:nvPr/>
        </p:nvSpPr>
        <p:spPr>
          <a:xfrm>
            <a:off x="10789919" y="1143000"/>
            <a:ext cx="146304" cy="146304"/>
          </a:xfrm>
          <a:prstGeom prst="ellipse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!!node3"/>
          <p:cNvSpPr/>
          <p:nvPr/>
        </p:nvSpPr>
        <p:spPr>
          <a:xfrm>
            <a:off x="11612880" y="1234440"/>
            <a:ext cx="146304" cy="146304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9" name="!!link0"/>
          <p:cNvCxnSpPr/>
          <p:nvPr/>
        </p:nvCxnSpPr>
        <p:spPr>
          <a:xfrm>
            <a:off x="10543032" y="347472"/>
            <a:ext cx="777240" cy="320039"/>
          </a:xfrm>
          <a:prstGeom prst="line">
            <a:avLst/>
          </a:prstGeom>
          <a:ln w="15875">
            <a:solidFill>
              <a:srgbClr val="2A3A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!!link1"/>
          <p:cNvCxnSpPr/>
          <p:nvPr/>
        </p:nvCxnSpPr>
        <p:spPr>
          <a:xfrm>
            <a:off x="10543032" y="347472"/>
            <a:ext cx="320040" cy="868680"/>
          </a:xfrm>
          <a:prstGeom prst="line">
            <a:avLst/>
          </a:prstGeom>
          <a:ln w="15875">
            <a:solidFill>
              <a:srgbClr val="2A3A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!!link2"/>
          <p:cNvCxnSpPr/>
          <p:nvPr/>
        </p:nvCxnSpPr>
        <p:spPr>
          <a:xfrm>
            <a:off x="11320272" y="667511"/>
            <a:ext cx="365760" cy="640081"/>
          </a:xfrm>
          <a:prstGeom prst="line">
            <a:avLst/>
          </a:prstGeom>
          <a:ln w="15875">
            <a:solidFill>
              <a:srgbClr val="2A3A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!!link3"/>
          <p:cNvCxnSpPr/>
          <p:nvPr/>
        </p:nvCxnSpPr>
        <p:spPr>
          <a:xfrm>
            <a:off x="10863072" y="1216152"/>
            <a:ext cx="822960" cy="91440"/>
          </a:xfrm>
          <a:prstGeom prst="line">
            <a:avLst/>
          </a:prstGeom>
          <a:ln w="15875">
            <a:solidFill>
              <a:srgbClr val="2A3A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!!kicker"/>
          <p:cNvSpPr txBox="1"/>
          <p:nvPr/>
        </p:nvSpPr>
        <p:spPr>
          <a:xfrm>
            <a:off x="731520" y="566928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22D3EE"/>
                </a:solidFill>
                <a:latin typeface="Consolas"/>
              </a:rPr>
              <a:t>05 · perbedaan</a:t>
            </a:r>
          </a:p>
        </p:txBody>
      </p:sp>
      <p:sp>
        <p:nvSpPr>
          <p:cNvPr id="14" name="!!title"/>
          <p:cNvSpPr txBox="1"/>
          <p:nvPr/>
        </p:nvSpPr>
        <p:spPr>
          <a:xfrm>
            <a:off x="731520" y="914400"/>
            <a:ext cx="9601200" cy="8229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3600" b="1">
                <a:solidFill>
                  <a:srgbClr val="F8FAFC"/>
                </a:solidFill>
                <a:latin typeface="Segoe UI Semibold"/>
              </a:rPr>
              <a:t>Perbedaan utama</a:t>
            </a:r>
          </a:p>
        </p:txBody>
      </p:sp>
      <p:sp>
        <p:nvSpPr>
          <p:cNvPr id="15" name="!!card0"/>
          <p:cNvSpPr/>
          <p:nvPr/>
        </p:nvSpPr>
        <p:spPr>
          <a:xfrm>
            <a:off x="731520" y="2148840"/>
            <a:ext cx="5227167" cy="3566160"/>
          </a:xfrm>
          <a:prstGeom prst="roundRect">
            <a:avLst>
              <a:gd name="adj" fmla="val 8000"/>
            </a:avLst>
          </a:prstGeom>
          <a:solidFill>
            <a:srgbClr val="151F33"/>
          </a:solidFill>
          <a:ln w="15875">
            <a:solidFill>
              <a:srgbClr val="2A3A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!!chip0"/>
          <p:cNvSpPr/>
          <p:nvPr/>
        </p:nvSpPr>
        <p:spPr>
          <a:xfrm>
            <a:off x="1005840" y="2423160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22D3EE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!!chipTxt0"/>
          <p:cNvSpPr txBox="1"/>
          <p:nvPr/>
        </p:nvSpPr>
        <p:spPr>
          <a:xfrm>
            <a:off x="1005840" y="2423160"/>
            <a:ext cx="502920" cy="5029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22D3EE"/>
                </a:solidFill>
                <a:latin typeface="Consolas"/>
              </a:rPr>
              <a:t>01</a:t>
            </a:r>
          </a:p>
        </p:txBody>
      </p:sp>
      <p:sp>
        <p:nvSpPr>
          <p:cNvPr id="18" name="!!cardH0"/>
          <p:cNvSpPr txBox="1"/>
          <p:nvPr/>
        </p:nvSpPr>
        <p:spPr>
          <a:xfrm>
            <a:off x="1005840" y="3063240"/>
            <a:ext cx="4678527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900" b="1">
                <a:solidFill>
                  <a:srgbClr val="F8FAFC"/>
                </a:solidFill>
                <a:latin typeface="Segoe UI Semibold"/>
              </a:rPr>
              <a:t>Antivirus</a:t>
            </a:r>
          </a:p>
        </p:txBody>
      </p:sp>
      <p:sp>
        <p:nvSpPr>
          <p:cNvPr id="19" name="!!cardD0"/>
          <p:cNvSpPr txBox="1"/>
          <p:nvPr/>
        </p:nvSpPr>
        <p:spPr>
          <a:xfrm>
            <a:off x="1005840" y="3566160"/>
            <a:ext cx="4678527" cy="20116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600" b="0">
                <a:solidFill>
                  <a:srgbClr val="94A3B8"/>
                </a:solidFill>
                <a:latin typeface="Segoe UI"/>
              </a:rPr>
              <a:t>Melindungi komputer dari perangkat lunak berbahaya, seperti virus, worm, trojan, spyware, dan jenis malware lainnya. Antivirus memindai file, program, dan aktivitas sistem untuk mendeteksi dan menghapus ancaman.</a:t>
            </a:r>
          </a:p>
        </p:txBody>
      </p:sp>
      <p:sp>
        <p:nvSpPr>
          <p:cNvPr id="20" name="!!card1"/>
          <p:cNvSpPr/>
          <p:nvPr/>
        </p:nvSpPr>
        <p:spPr>
          <a:xfrm>
            <a:off x="6233007" y="2148840"/>
            <a:ext cx="5227167" cy="3566160"/>
          </a:xfrm>
          <a:prstGeom prst="roundRect">
            <a:avLst>
              <a:gd name="adj" fmla="val 8000"/>
            </a:avLst>
          </a:prstGeom>
          <a:solidFill>
            <a:srgbClr val="151F33"/>
          </a:solidFill>
          <a:ln w="15875">
            <a:solidFill>
              <a:srgbClr val="2A3A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!!chip1"/>
          <p:cNvSpPr/>
          <p:nvPr/>
        </p:nvSpPr>
        <p:spPr>
          <a:xfrm>
            <a:off x="6507327" y="2423160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818CF8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!!chipTxt1"/>
          <p:cNvSpPr txBox="1"/>
          <p:nvPr/>
        </p:nvSpPr>
        <p:spPr>
          <a:xfrm>
            <a:off x="6507327" y="2423160"/>
            <a:ext cx="502920" cy="5029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818CF8"/>
                </a:solidFill>
                <a:latin typeface="Consolas"/>
              </a:rPr>
              <a:t>02</a:t>
            </a:r>
          </a:p>
        </p:txBody>
      </p:sp>
      <p:sp>
        <p:nvSpPr>
          <p:cNvPr id="23" name="!!cardH1"/>
          <p:cNvSpPr txBox="1"/>
          <p:nvPr/>
        </p:nvSpPr>
        <p:spPr>
          <a:xfrm>
            <a:off x="6507327" y="3063240"/>
            <a:ext cx="4678527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900" b="1">
                <a:solidFill>
                  <a:srgbClr val="F8FAFC"/>
                </a:solidFill>
                <a:latin typeface="Segoe UI Semibold"/>
              </a:rPr>
              <a:t>Windows Defender Firewall</a:t>
            </a:r>
          </a:p>
        </p:txBody>
      </p:sp>
      <p:sp>
        <p:nvSpPr>
          <p:cNvPr id="24" name="!!cardD1"/>
          <p:cNvSpPr txBox="1"/>
          <p:nvPr/>
        </p:nvSpPr>
        <p:spPr>
          <a:xfrm>
            <a:off x="6507327" y="3566160"/>
            <a:ext cx="4678527" cy="20116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600" b="0">
                <a:solidFill>
                  <a:srgbClr val="94A3B8"/>
                </a:solidFill>
                <a:latin typeface="Segoe UI"/>
              </a:rPr>
              <a:t>Melindungi komputer dari ancaman jaringan dengan mengontrol lalu lintas data yang masuk dan keluar. Firewall memantau dan mengatur koneksi jaringan, memastikan hanya koneksi yang diizinkan yang dapat berkomunikasi dengan komputer.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250">
        <p159:morph option="byObject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!!glowA"/>
          <p:cNvSpPr/>
          <p:nvPr/>
        </p:nvSpPr>
        <p:spPr>
          <a:xfrm>
            <a:off x="8778240" y="-1463040"/>
            <a:ext cx="5120640" cy="5120640"/>
          </a:xfrm>
          <a:prstGeom prst="ellipse">
            <a:avLst/>
          </a:prstGeom>
          <a:solidFill>
            <a:srgbClr val="22D3EE">
              <a:alpha val="16000"/>
            </a:srgbClr>
          </a:solidFill>
          <a:ln>
            <a:noFill/>
          </a:ln>
          <a:effectLst>
            <a:softEdge rad="114300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!!glowB"/>
          <p:cNvSpPr/>
          <p:nvPr/>
        </p:nvSpPr>
        <p:spPr>
          <a:xfrm>
            <a:off x="-1280160" y="4023360"/>
            <a:ext cx="4206240" cy="4206240"/>
          </a:xfrm>
          <a:prstGeom prst="ellipse">
            <a:avLst/>
          </a:prstGeom>
          <a:solidFill>
            <a:srgbClr val="818CF8">
              <a:alpha val="18000"/>
            </a:srgbClr>
          </a:solidFill>
          <a:ln>
            <a:noFill/>
          </a:ln>
          <a:effectLst>
            <a:softEdge rad="114300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!!bracket"/>
          <p:cNvSpPr txBox="1"/>
          <p:nvPr/>
        </p:nvSpPr>
        <p:spPr>
          <a:xfrm>
            <a:off x="502920" y="6217920"/>
            <a:ext cx="1280160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2600" b="1">
                <a:solidFill>
                  <a:srgbClr val="22D3EE"/>
                </a:solidFill>
                <a:latin typeface="Consolas"/>
              </a:rPr>
              <a:t>&lt;/&gt;</a:t>
            </a:r>
          </a:p>
        </p:txBody>
      </p:sp>
      <p:sp>
        <p:nvSpPr>
          <p:cNvPr id="5" name="!!node0"/>
          <p:cNvSpPr/>
          <p:nvPr/>
        </p:nvSpPr>
        <p:spPr>
          <a:xfrm>
            <a:off x="10241280" y="365760"/>
            <a:ext cx="146304" cy="146304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!!node1"/>
          <p:cNvSpPr/>
          <p:nvPr/>
        </p:nvSpPr>
        <p:spPr>
          <a:xfrm>
            <a:off x="11018519" y="685800"/>
            <a:ext cx="146304" cy="146304"/>
          </a:xfrm>
          <a:prstGeom prst="ellipse">
            <a:avLst/>
          </a:prstGeom>
          <a:solidFill>
            <a:srgbClr val="818C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!!node2"/>
          <p:cNvSpPr/>
          <p:nvPr/>
        </p:nvSpPr>
        <p:spPr>
          <a:xfrm>
            <a:off x="10561319" y="1234440"/>
            <a:ext cx="146304" cy="146304"/>
          </a:xfrm>
          <a:prstGeom prst="ellipse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!!node3"/>
          <p:cNvSpPr/>
          <p:nvPr/>
        </p:nvSpPr>
        <p:spPr>
          <a:xfrm>
            <a:off x="11384280" y="1325880"/>
            <a:ext cx="146304" cy="146304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9" name="!!link0"/>
          <p:cNvCxnSpPr/>
          <p:nvPr/>
        </p:nvCxnSpPr>
        <p:spPr>
          <a:xfrm>
            <a:off x="10314432" y="438912"/>
            <a:ext cx="777240" cy="320040"/>
          </a:xfrm>
          <a:prstGeom prst="line">
            <a:avLst/>
          </a:prstGeom>
          <a:ln w="15875">
            <a:solidFill>
              <a:srgbClr val="2A3A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!!link1"/>
          <p:cNvCxnSpPr/>
          <p:nvPr/>
        </p:nvCxnSpPr>
        <p:spPr>
          <a:xfrm>
            <a:off x="10314432" y="438912"/>
            <a:ext cx="320040" cy="868680"/>
          </a:xfrm>
          <a:prstGeom prst="line">
            <a:avLst/>
          </a:prstGeom>
          <a:ln w="15875">
            <a:solidFill>
              <a:srgbClr val="2A3A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!!link2"/>
          <p:cNvCxnSpPr/>
          <p:nvPr/>
        </p:nvCxnSpPr>
        <p:spPr>
          <a:xfrm>
            <a:off x="11091672" y="758952"/>
            <a:ext cx="365760" cy="640080"/>
          </a:xfrm>
          <a:prstGeom prst="line">
            <a:avLst/>
          </a:prstGeom>
          <a:ln w="15875">
            <a:solidFill>
              <a:srgbClr val="2A3A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!!link3"/>
          <p:cNvCxnSpPr/>
          <p:nvPr/>
        </p:nvCxnSpPr>
        <p:spPr>
          <a:xfrm>
            <a:off x="10634472" y="1307592"/>
            <a:ext cx="822960" cy="91440"/>
          </a:xfrm>
          <a:prstGeom prst="line">
            <a:avLst/>
          </a:prstGeom>
          <a:ln w="15875">
            <a:solidFill>
              <a:srgbClr val="2A3A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!!kicker"/>
          <p:cNvSpPr txBox="1"/>
          <p:nvPr/>
        </p:nvSpPr>
        <p:spPr>
          <a:xfrm>
            <a:off x="731520" y="566928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22D3EE"/>
                </a:solidFill>
                <a:latin typeface="Consolas"/>
              </a:rPr>
              <a:t>06 · contoh</a:t>
            </a:r>
          </a:p>
        </p:txBody>
      </p:sp>
      <p:sp>
        <p:nvSpPr>
          <p:cNvPr id="14" name="!!title"/>
          <p:cNvSpPr txBox="1"/>
          <p:nvPr/>
        </p:nvSpPr>
        <p:spPr>
          <a:xfrm>
            <a:off x="731520" y="914400"/>
            <a:ext cx="9601200" cy="8229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3600" b="1">
                <a:solidFill>
                  <a:srgbClr val="F8FAFC"/>
                </a:solidFill>
                <a:latin typeface="Segoe UI Semibold"/>
              </a:rPr>
              <a:t>Contoh: koneksi yang diblokir</a:t>
            </a:r>
          </a:p>
        </p:txBody>
      </p:sp>
      <p:sp>
        <p:nvSpPr>
          <p:cNvPr id="15" name="!!editor"/>
          <p:cNvSpPr/>
          <p:nvPr/>
        </p:nvSpPr>
        <p:spPr>
          <a:xfrm>
            <a:off x="731520" y="1965960"/>
            <a:ext cx="7680960" cy="4160520"/>
          </a:xfrm>
          <a:prstGeom prst="roundRect">
            <a:avLst>
              <a:gd name="adj" fmla="val 3000"/>
            </a:avLst>
          </a:prstGeom>
          <a:solidFill>
            <a:srgbClr val="151F33"/>
          </a:solidFill>
          <a:ln w="15875">
            <a:solidFill>
              <a:srgbClr val="2A3A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!!editorBar"/>
          <p:cNvSpPr/>
          <p:nvPr/>
        </p:nvSpPr>
        <p:spPr>
          <a:xfrm>
            <a:off x="731520" y="1965960"/>
            <a:ext cx="7680960" cy="457200"/>
          </a:xfrm>
          <a:prstGeom prst="roundRect">
            <a:avLst>
              <a:gd name="adj" fmla="val 30000"/>
            </a:avLst>
          </a:prstGeom>
          <a:solidFill>
            <a:srgbClr val="1C29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!!dot0"/>
          <p:cNvSpPr/>
          <p:nvPr/>
        </p:nvSpPr>
        <p:spPr>
          <a:xfrm>
            <a:off x="960120" y="2121408"/>
            <a:ext cx="146304" cy="146304"/>
          </a:xfrm>
          <a:prstGeom prst="ellipse">
            <a:avLst/>
          </a:prstGeom>
          <a:solidFill>
            <a:srgbClr val="FB71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!!dot1"/>
          <p:cNvSpPr/>
          <p:nvPr/>
        </p:nvSpPr>
        <p:spPr>
          <a:xfrm>
            <a:off x="1216152" y="2121408"/>
            <a:ext cx="146304" cy="146304"/>
          </a:xfrm>
          <a:prstGeom prst="ellipse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!!dot2"/>
          <p:cNvSpPr/>
          <p:nvPr/>
        </p:nvSpPr>
        <p:spPr>
          <a:xfrm>
            <a:off x="1472184" y="2121408"/>
            <a:ext cx="146304" cy="146304"/>
          </a:xfrm>
          <a:prstGeom prst="ellipse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!!fileName"/>
          <p:cNvSpPr txBox="1"/>
          <p:nvPr/>
        </p:nvSpPr>
        <p:spPr>
          <a:xfrm>
            <a:off x="1874519" y="2066543"/>
            <a:ext cx="630936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94A3B8"/>
                </a:solidFill>
                <a:latin typeface="Consolas"/>
              </a:rPr>
              <a:t>browser · this site can't be reached</a:t>
            </a:r>
          </a:p>
        </p:txBody>
      </p:sp>
      <p:pic>
        <p:nvPicPr>
          <p:cNvPr id="21" name="!!pic" descr="jd_s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77518" y="2560320"/>
            <a:ext cx="5188963" cy="3383279"/>
          </a:xfrm>
          <a:prstGeom prst="rect">
            <a:avLst/>
          </a:prstGeom>
        </p:spPr>
      </p:pic>
      <p:sp>
        <p:nvSpPr>
          <p:cNvPr id="22" name="!!body"/>
          <p:cNvSpPr txBox="1"/>
          <p:nvPr/>
        </p:nvSpPr>
        <p:spPr>
          <a:xfrm>
            <a:off x="8778240" y="2148840"/>
            <a:ext cx="2743200" cy="3840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1200"/>
              </a:spcAft>
            </a:pPr>
            <a:r>
              <a:rPr sz="1600" b="0">
                <a:solidFill>
                  <a:srgbClr val="F8FAFC"/>
                </a:solidFill>
                <a:latin typeface="Segoe UI"/>
              </a:rPr>
              <a:t>Peramban tidak dapat membuka situs.</a:t>
            </a:r>
          </a:p>
          <a:p>
            <a:pPr algn="l">
              <a:lnSpc>
                <a:spcPct val="120000"/>
              </a:lnSpc>
              <a:spcAft>
                <a:spcPts val="1200"/>
              </a:spcAft>
            </a:pPr>
            <a:r>
              <a:rPr sz="1600" b="0">
                <a:solidFill>
                  <a:srgbClr val="F8FAFC"/>
                </a:solidFill>
                <a:latin typeface="Segoe UI"/>
              </a:rPr>
              <a:t>Salah satu penyebab yang disarankan: periksa proxy dan firewall.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250">
        <p159:morph option="byObject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!!glowA"/>
          <p:cNvSpPr/>
          <p:nvPr/>
        </p:nvSpPr>
        <p:spPr>
          <a:xfrm>
            <a:off x="9509760" y="3108960"/>
            <a:ext cx="4754880" cy="4754880"/>
          </a:xfrm>
          <a:prstGeom prst="ellipse">
            <a:avLst/>
          </a:prstGeom>
          <a:solidFill>
            <a:srgbClr val="22D3EE">
              <a:alpha val="16000"/>
            </a:srgbClr>
          </a:solidFill>
          <a:ln>
            <a:noFill/>
          </a:ln>
          <a:effectLst>
            <a:softEdge rad="114300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!!glowB"/>
          <p:cNvSpPr/>
          <p:nvPr/>
        </p:nvSpPr>
        <p:spPr>
          <a:xfrm>
            <a:off x="-1645920" y="-1463040"/>
            <a:ext cx="4389120" cy="4389120"/>
          </a:xfrm>
          <a:prstGeom prst="ellipse">
            <a:avLst/>
          </a:prstGeom>
          <a:solidFill>
            <a:srgbClr val="818CF8">
              <a:alpha val="18000"/>
            </a:srgbClr>
          </a:solidFill>
          <a:ln>
            <a:noFill/>
          </a:ln>
          <a:effectLst>
            <a:softEdge rad="114300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!!bracket"/>
          <p:cNvSpPr txBox="1"/>
          <p:nvPr/>
        </p:nvSpPr>
        <p:spPr>
          <a:xfrm>
            <a:off x="10515600" y="6217920"/>
            <a:ext cx="1280160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2600" b="1">
                <a:solidFill>
                  <a:srgbClr val="22D3EE"/>
                </a:solidFill>
                <a:latin typeface="Consolas"/>
              </a:rPr>
              <a:t>&lt;/&gt;</a:t>
            </a:r>
          </a:p>
        </p:txBody>
      </p:sp>
      <p:sp>
        <p:nvSpPr>
          <p:cNvPr id="5" name="!!node0"/>
          <p:cNvSpPr/>
          <p:nvPr/>
        </p:nvSpPr>
        <p:spPr>
          <a:xfrm>
            <a:off x="10561320" y="228600"/>
            <a:ext cx="146304" cy="146304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!!node1"/>
          <p:cNvSpPr/>
          <p:nvPr/>
        </p:nvSpPr>
        <p:spPr>
          <a:xfrm>
            <a:off x="11338560" y="548640"/>
            <a:ext cx="146304" cy="146304"/>
          </a:xfrm>
          <a:prstGeom prst="ellipse">
            <a:avLst/>
          </a:prstGeom>
          <a:solidFill>
            <a:srgbClr val="818C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!!node2"/>
          <p:cNvSpPr/>
          <p:nvPr/>
        </p:nvSpPr>
        <p:spPr>
          <a:xfrm>
            <a:off x="10881360" y="1097280"/>
            <a:ext cx="146304" cy="146304"/>
          </a:xfrm>
          <a:prstGeom prst="ellipse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!!node3"/>
          <p:cNvSpPr/>
          <p:nvPr/>
        </p:nvSpPr>
        <p:spPr>
          <a:xfrm>
            <a:off x="11704320" y="1188720"/>
            <a:ext cx="146304" cy="146304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9" name="!!link0"/>
          <p:cNvCxnSpPr/>
          <p:nvPr/>
        </p:nvCxnSpPr>
        <p:spPr>
          <a:xfrm>
            <a:off x="10634472" y="301752"/>
            <a:ext cx="777240" cy="320040"/>
          </a:xfrm>
          <a:prstGeom prst="line">
            <a:avLst/>
          </a:prstGeom>
          <a:ln w="15875">
            <a:solidFill>
              <a:srgbClr val="2A3A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!!link1"/>
          <p:cNvCxnSpPr/>
          <p:nvPr/>
        </p:nvCxnSpPr>
        <p:spPr>
          <a:xfrm>
            <a:off x="10634472" y="301752"/>
            <a:ext cx="320040" cy="868680"/>
          </a:xfrm>
          <a:prstGeom prst="line">
            <a:avLst/>
          </a:prstGeom>
          <a:ln w="15875">
            <a:solidFill>
              <a:srgbClr val="2A3A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!!link2"/>
          <p:cNvCxnSpPr/>
          <p:nvPr/>
        </p:nvCxnSpPr>
        <p:spPr>
          <a:xfrm>
            <a:off x="11411712" y="621792"/>
            <a:ext cx="365760" cy="640080"/>
          </a:xfrm>
          <a:prstGeom prst="line">
            <a:avLst/>
          </a:prstGeom>
          <a:ln w="15875">
            <a:solidFill>
              <a:srgbClr val="2A3A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!!link3"/>
          <p:cNvCxnSpPr/>
          <p:nvPr/>
        </p:nvCxnSpPr>
        <p:spPr>
          <a:xfrm>
            <a:off x="10954512" y="1170432"/>
            <a:ext cx="822960" cy="91440"/>
          </a:xfrm>
          <a:prstGeom prst="line">
            <a:avLst/>
          </a:prstGeom>
          <a:ln w="15875">
            <a:solidFill>
              <a:srgbClr val="2A3A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!!kicker"/>
          <p:cNvSpPr txBox="1"/>
          <p:nvPr/>
        </p:nvSpPr>
        <p:spPr>
          <a:xfrm>
            <a:off x="731520" y="2148840"/>
            <a:ext cx="1069848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400" b="1">
                <a:solidFill>
                  <a:srgbClr val="22D3EE"/>
                </a:solidFill>
                <a:latin typeface="Consolas"/>
              </a:rPr>
              <a:t>// selesai</a:t>
            </a:r>
          </a:p>
        </p:txBody>
      </p:sp>
      <p:sp>
        <p:nvSpPr>
          <p:cNvPr id="14" name="!!title"/>
          <p:cNvSpPr txBox="1"/>
          <p:nvPr/>
        </p:nvSpPr>
        <p:spPr>
          <a:xfrm>
            <a:off x="731520" y="2606040"/>
            <a:ext cx="10698480" cy="11887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6000" b="1">
                <a:solidFill>
                  <a:srgbClr val="F8FAFC"/>
                </a:solidFill>
                <a:latin typeface="Segoe UI Semibold"/>
              </a:rPr>
              <a:t>Terima Kasih</a:t>
            </a:r>
          </a:p>
        </p:txBody>
      </p:sp>
      <p:sp>
        <p:nvSpPr>
          <p:cNvPr id="15" name="!!sub"/>
          <p:cNvSpPr txBox="1"/>
          <p:nvPr/>
        </p:nvSpPr>
        <p:spPr>
          <a:xfrm>
            <a:off x="2103120" y="3886200"/>
            <a:ext cx="7955279" cy="7315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800" b="0">
                <a:solidFill>
                  <a:srgbClr val="94A3B8"/>
                </a:solidFill>
                <a:latin typeface="Segoe UI"/>
              </a:rPr>
              <a:t>Ada pertanyaan? Silakan bertanya atau konsultasi lewat grup WhatsApp kelas.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250">
        <p159:morph option="byObject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